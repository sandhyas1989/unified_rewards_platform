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147479184" r:id="rId2"/>
    <p:sldId id="257" r:id="rId3"/>
    <p:sldId id="258" r:id="rId4"/>
    <p:sldId id="283" r:id="rId5"/>
    <p:sldId id="260" r:id="rId6"/>
    <p:sldId id="284"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810032-CC24-4AC7-8F15-424EECD7A48F}" v="4" dt="2026-05-26T19:38:03.9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0" d="100"/>
          <a:sy n="60" d="100"/>
        </p:scale>
        <p:origin x="888"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Sandhya (Cognizant)" userId="abbf04e7-6f7b-4091-ac51-078bfbae0c56" providerId="ADAL" clId="{6BBBC88D-DF33-4E14-92CB-13A36E3CC1CC}"/>
    <pc:docChg chg="undo custSel addSld delSld modSld">
      <pc:chgData name="S, Sandhya (Cognizant)" userId="abbf04e7-6f7b-4091-ac51-078bfbae0c56" providerId="ADAL" clId="{6BBBC88D-DF33-4E14-92CB-13A36E3CC1CC}" dt="2026-05-26T19:43:54.408" v="27" actId="20577"/>
      <pc:docMkLst>
        <pc:docMk/>
      </pc:docMkLst>
      <pc:sldChg chg="del">
        <pc:chgData name="S, Sandhya (Cognizant)" userId="abbf04e7-6f7b-4091-ac51-078bfbae0c56" providerId="ADAL" clId="{6BBBC88D-DF33-4E14-92CB-13A36E3CC1CC}" dt="2026-05-26T19:36:46.957" v="11"/>
        <pc:sldMkLst>
          <pc:docMk/>
          <pc:sldMk cId="0" sldId="259"/>
        </pc:sldMkLst>
      </pc:sldChg>
      <pc:sldChg chg="addSp delSp modSp mod">
        <pc:chgData name="S, Sandhya (Cognizant)" userId="abbf04e7-6f7b-4091-ac51-078bfbae0c56" providerId="ADAL" clId="{6BBBC88D-DF33-4E14-92CB-13A36E3CC1CC}" dt="2026-05-26T16:42:33.046" v="9" actId="14100"/>
        <pc:sldMkLst>
          <pc:docMk/>
          <pc:sldMk cId="0" sldId="269"/>
        </pc:sldMkLst>
        <pc:picChg chg="del">
          <ac:chgData name="S, Sandhya (Cognizant)" userId="abbf04e7-6f7b-4091-ac51-078bfbae0c56" providerId="ADAL" clId="{6BBBC88D-DF33-4E14-92CB-13A36E3CC1CC}" dt="2026-05-26T16:36:06.053" v="2" actId="478"/>
          <ac:picMkLst>
            <pc:docMk/>
            <pc:sldMk cId="0" sldId="269"/>
            <ac:picMk id="7" creationId="{00000000-0000-0000-0000-000000000000}"/>
          </ac:picMkLst>
        </pc:picChg>
        <pc:picChg chg="add del">
          <ac:chgData name="S, Sandhya (Cognizant)" userId="abbf04e7-6f7b-4091-ac51-078bfbae0c56" providerId="ADAL" clId="{6BBBC88D-DF33-4E14-92CB-13A36E3CC1CC}" dt="2026-05-26T16:36:04.384" v="1" actId="22"/>
          <ac:picMkLst>
            <pc:docMk/>
            <pc:sldMk cId="0" sldId="269"/>
            <ac:picMk id="11" creationId="{39C86748-53B2-C0E3-B1CC-3F2A4EC64FA7}"/>
          </ac:picMkLst>
        </pc:picChg>
        <pc:picChg chg="add mod">
          <ac:chgData name="S, Sandhya (Cognizant)" userId="abbf04e7-6f7b-4091-ac51-078bfbae0c56" providerId="ADAL" clId="{6BBBC88D-DF33-4E14-92CB-13A36E3CC1CC}" dt="2026-05-26T16:42:33.046" v="9" actId="14100"/>
          <ac:picMkLst>
            <pc:docMk/>
            <pc:sldMk cId="0" sldId="269"/>
            <ac:picMk id="13" creationId="{B8A11436-3431-9666-E964-BA545E055D80}"/>
          </ac:picMkLst>
        </pc:picChg>
      </pc:sldChg>
      <pc:sldChg chg="add modNotesTx">
        <pc:chgData name="S, Sandhya (Cognizant)" userId="abbf04e7-6f7b-4091-ac51-078bfbae0c56" providerId="ADAL" clId="{6BBBC88D-DF33-4E14-92CB-13A36E3CC1CC}" dt="2026-05-26T19:43:54.408" v="27" actId="20577"/>
        <pc:sldMkLst>
          <pc:docMk/>
          <pc:sldMk cId="3326260967"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B34022-2BF7-4979-87B6-5A7C50B0A666}" type="datetimeFigureOut">
              <a:rPr lang="en-IN" smtClean="0"/>
              <a:t>27-05-2026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DA0EC2-EFC4-461B-B358-228F68A5441D}" type="slidenum">
              <a:rPr lang="en-IN" smtClean="0"/>
              <a:t>‹#›</a:t>
            </a:fld>
            <a:endParaRPr lang="en-IN"/>
          </a:p>
        </p:txBody>
      </p:sp>
    </p:spTree>
    <p:extLst>
      <p:ext uri="{BB962C8B-B14F-4D97-AF65-F5344CB8AC3E}">
        <p14:creationId xmlns:p14="http://schemas.microsoft.com/office/powerpoint/2010/main" val="2530008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a:t>
            </a:r>
          </a:p>
          <a:p>
            <a:r>
              <a:rPr lang="en-US" dirty="0"/>
              <a:t>This slide lays out the use case we're solving for — on the left, the problem we were given, and on the right, the solution we're proposing to address it.</a:t>
            </a:r>
          </a:p>
          <a:p>
            <a:endParaRPr lang="en-US" dirty="0"/>
          </a:p>
          <a:p>
            <a:r>
              <a:rPr lang="en-US" dirty="0"/>
              <a:t>Problem Statement (left panel):</a:t>
            </a:r>
          </a:p>
          <a:p>
            <a:r>
              <a:rPr lang="en-US" dirty="0"/>
              <a:t>the requirement is to build a configurable platform that lets large enterprises manage employee benefits, reimbursements, bonuses, and flexible compensation structures — all in one place.</a:t>
            </a:r>
          </a:p>
          <a:p>
            <a:endParaRPr lang="en-US" dirty="0"/>
          </a:p>
          <a:p>
            <a:r>
              <a:rPr lang="en-US" dirty="0"/>
              <a:t>In terms of business context, this sits in the HR Tech and Enterprise SaaS domain, it's designed for large enterprise scale, and we've chosen Microsoft Azure as the cloud platform</a:t>
            </a:r>
          </a:p>
          <a:p>
            <a:endParaRPr lang="en-US" dirty="0"/>
          </a:p>
          <a:p>
            <a:r>
              <a:rPr lang="en-US" dirty="0"/>
              <a:t>The platform needs to deliver five key capabilities: a benefits catalogue covering things like insurance, leave travel allowance, and food cards; flexible pay and compensation configuration; a reimbursement workflow that handles claims and approvals end-to-end; integration with the payroll system; and analytics and compliance reporting.</a:t>
            </a:r>
          </a:p>
          <a:p>
            <a:endParaRPr lang="en-US" dirty="0"/>
          </a:p>
          <a:p>
            <a:r>
              <a:rPr lang="en-US" dirty="0"/>
              <a:t>Proposed Solution (right panel):</a:t>
            </a:r>
          </a:p>
          <a:p>
            <a:r>
              <a:rPr lang="en-US" dirty="0"/>
              <a:t>To deliver this, our architecture is broken into two layers — backend services and frontend portals — and the counts here are mandated directly by the requirement document.</a:t>
            </a:r>
          </a:p>
          <a:p>
            <a:endParaRPr lang="en-US" dirty="0"/>
          </a:p>
          <a:p>
            <a:r>
              <a:rPr lang="en-US" dirty="0"/>
              <a:t>On the backend, we have seven microservices, each owning a clear slice of the domain: an Employee Profile Service for workforce data, a Benefits Catalogue Service for the available benefit options, a Compensation Rules Engine for the flexible pay logic, a Reimbursement Workflow Service to manage claims and approvals, a Document and Receipt Processing Service for handling supporting paperwork, a Payroll Integration Service that connects to the downstream payroll system, and a Reporting and Compliance Service for analytics and audit needs.</a:t>
            </a:r>
          </a:p>
          <a:p>
            <a:endParaRPr lang="en-US" dirty="0"/>
          </a:p>
          <a:p>
            <a:r>
              <a:rPr lang="en-US" dirty="0"/>
              <a:t>On the frontend, we have four micro-frontend portals, each tailored to a different user persona: an Employee Self-Service Portal where staff submit claims and view benefits, a Manager Approval Portal for sign-offs, an HR Admin Console for configuration and administration, and a Finance and Audit Dashboard for the finance team and auditors.</a:t>
            </a:r>
          </a:p>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you're looking at is a C4 Level 0 System Context diagram for the Unified Rewards Platform. At this level, we treat the platform itself as a single black box. We're not showing what's inside it yet; we're only showing who uses it and what external systems it talks to. The point of this slide is to agree on the boundary of the system before we go deeper."</a:t>
            </a:r>
          </a:p>
          <a:p>
            <a:endParaRPr lang="en-GB" dirty="0"/>
          </a:p>
          <a:p>
            <a:r>
              <a:rPr lang="en-GB" dirty="0"/>
              <a:t>The actors are in the top row (40 seconds)</a:t>
            </a:r>
          </a:p>
          <a:p>
            <a:endParaRPr lang="en-GB" dirty="0"/>
          </a:p>
          <a:p>
            <a:r>
              <a:rPr lang="en-GB" dirty="0"/>
              <a:t>"Across the top we have the four human actor types — the people who interact with the platform. All four are internal users, meaning employees of the organization, not customers.</a:t>
            </a:r>
          </a:p>
          <a:p>
            <a:endParaRPr lang="en-GB" dirty="0"/>
          </a:p>
          <a:p>
            <a:r>
              <a:rPr lang="en-GB" dirty="0"/>
              <a:t>Employee — the everyday user. They view their benefits, submit claims, and download payslips.</a:t>
            </a:r>
          </a:p>
          <a:p>
            <a:r>
              <a:rPr lang="en-GB" dirty="0"/>
              <a:t>Manager — has elevated permissions. They approve claims their reports submit and nominate people for promotions.</a:t>
            </a:r>
          </a:p>
          <a:p>
            <a:r>
              <a:rPr lang="en-GB" dirty="0"/>
              <a:t>HR Admin — the operational backbone. They configure the benefit plans, set the business rules, and run the promotion cycles.</a:t>
            </a:r>
          </a:p>
          <a:p>
            <a:r>
              <a:rPr lang="en-GB" dirty="0"/>
              <a:t>Finance / Audit User — read-only oversight. They pull reports and review the audit trail to confirm everything is compliant.</a:t>
            </a:r>
          </a:p>
          <a:p>
            <a:r>
              <a:rPr lang="en-GB" dirty="0"/>
              <a:t>Each arrow from an actor into the platform is </a:t>
            </a:r>
            <a:r>
              <a:rPr lang="en-GB" dirty="0" err="1"/>
              <a:t>labeled</a:t>
            </a:r>
            <a:r>
              <a:rPr lang="en-GB" dirty="0"/>
              <a:t> with what that actor does — that's the use case in plain English."</a:t>
            </a:r>
          </a:p>
          <a:p>
            <a:endParaRPr lang="en-GB" dirty="0"/>
          </a:p>
          <a:p>
            <a:r>
              <a:rPr lang="en-GB" dirty="0"/>
              <a:t>The system itself is in the </a:t>
            </a:r>
            <a:r>
              <a:rPr lang="en-GB" dirty="0" err="1"/>
              <a:t>center</a:t>
            </a:r>
            <a:r>
              <a:rPr lang="en-GB" dirty="0"/>
              <a:t> (15 seconds)</a:t>
            </a:r>
          </a:p>
          <a:p>
            <a:endParaRPr lang="en-GB" dirty="0"/>
          </a:p>
          <a:p>
            <a:r>
              <a:rPr lang="en-GB" dirty="0"/>
              <a:t>"In the middle is the platform itself.  ASP.NET Core 8, React 18, Azure are the tech stack. "</a:t>
            </a:r>
          </a:p>
          <a:p>
            <a:endParaRPr lang="en-GB" dirty="0"/>
          </a:p>
          <a:p>
            <a:r>
              <a:rPr lang="en-GB" dirty="0"/>
              <a:t>External systems are in the bottom row (45 seconds)</a:t>
            </a:r>
          </a:p>
          <a:p>
            <a:endParaRPr lang="en-GB" dirty="0"/>
          </a:p>
          <a:p>
            <a:r>
              <a:rPr lang="en-GB" dirty="0"/>
              <a:t>"bottom are the three external systems that the platform integrates with. </a:t>
            </a:r>
          </a:p>
          <a:p>
            <a:endParaRPr lang="en-GB" dirty="0"/>
          </a:p>
          <a:p>
            <a:r>
              <a:rPr lang="en-GB" dirty="0"/>
              <a:t>Payroll System (SAP / ADP / Workday) — once a claim is approved and a payout is finalized, we push that data to payroll over REST, with retry logic so nothing is lost if payroll is temporarily down.</a:t>
            </a:r>
          </a:p>
          <a:p>
            <a:r>
              <a:rPr lang="en-GB" dirty="0"/>
              <a:t>Azure AD / Entra ID — this is our identity provider. Users don't log in to our platform directly with a password; they authenticate against Azure AD using OIDC and OAuth 2.0, and we receive a JWT token. Multi-factor authentication is enforced there, not by us.</a:t>
            </a:r>
          </a:p>
          <a:p>
            <a:r>
              <a:rPr lang="en-GB" dirty="0"/>
              <a:t>Azure Communication Services — handles all outbound email — claim status updates, payslip notifications, promotion announcements. We don't run our own mail server.</a:t>
            </a:r>
          </a:p>
          <a:p>
            <a:endParaRPr lang="en-GB" dirty="0"/>
          </a:p>
          <a:p>
            <a:r>
              <a:rPr lang="en-GB" dirty="0"/>
              <a:t>The direction of the arrow matters: arrows pointing out of the platform mean we initiate the call. Arrows would point in if the external system called us — at this level, none do."</a:t>
            </a:r>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5</a:t>
            </a:fld>
            <a:endParaRPr lang="en-IN"/>
          </a:p>
        </p:txBody>
      </p:sp>
    </p:spTree>
    <p:extLst>
      <p:ext uri="{BB962C8B-B14F-4D97-AF65-F5344CB8AC3E}">
        <p14:creationId xmlns:p14="http://schemas.microsoft.com/office/powerpoint/2010/main" val="2644127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the Module-by-module breakdown of key use cases and their actors . there are Module — a logical area of the system; its Key Use Cases — what users can actually do there; and the Actors — who is involved, including external systems shown as (System). There are seven modules; let me walk through them quickly along with the use cases"</a:t>
            </a:r>
          </a:p>
          <a:p>
            <a:endParaRPr lang="en-GB" dirty="0"/>
          </a:p>
          <a:p>
            <a:r>
              <a:rPr lang="en-GB" dirty="0"/>
              <a:t>The modules (60 sec — one line each)</a:t>
            </a:r>
          </a:p>
          <a:p>
            <a:endParaRPr lang="en-GB" dirty="0"/>
          </a:p>
          <a:p>
            <a:r>
              <a:rPr lang="en-GB" dirty="0"/>
              <a:t>User Management — how people get into the platform. Single sign-on via Azure AD with MFA, role assignment, and JWT-based authorization. The identity provider itself is external.</a:t>
            </a:r>
          </a:p>
          <a:p>
            <a:endParaRPr lang="en-GB" dirty="0"/>
          </a:p>
          <a:p>
            <a:r>
              <a:rPr lang="en-GB" dirty="0"/>
              <a:t>Benefits Management — employees </a:t>
            </a:r>
            <a:r>
              <a:rPr lang="en-GB" dirty="0" err="1"/>
              <a:t>enroll</a:t>
            </a:r>
            <a:r>
              <a:rPr lang="en-GB" dirty="0"/>
              <a:t> in or opt out of benefit plans; HR Admin configures the plans and eligibility rules; approved </a:t>
            </a:r>
            <a:r>
              <a:rPr lang="en-GB" dirty="0" err="1"/>
              <a:t>enrollments</a:t>
            </a:r>
            <a:r>
              <a:rPr lang="en-GB" dirty="0"/>
              <a:t> trigger a payroll deduction.</a:t>
            </a:r>
          </a:p>
          <a:p>
            <a:endParaRPr lang="en-GB" dirty="0"/>
          </a:p>
          <a:p>
            <a:r>
              <a:rPr lang="en-GB" dirty="0"/>
              <a:t>Claims &amp; Documents — employees submit receipts which an OCR engine reads; claims flow through a state machine from draft to settled with a 7-day SLA; low-confidence OCR results fall back to manual review.</a:t>
            </a:r>
          </a:p>
          <a:p>
            <a:endParaRPr lang="en-GB" dirty="0"/>
          </a:p>
          <a:p>
            <a:r>
              <a:rPr lang="en-GB" dirty="0"/>
              <a:t>Compensation Management — calculates total cost-to-company at runtime using a rules engine (</a:t>
            </a:r>
            <a:r>
              <a:rPr lang="en-GB" dirty="0" err="1"/>
              <a:t>NRules</a:t>
            </a:r>
            <a:r>
              <a:rPr lang="en-GB" dirty="0"/>
              <a:t>), with compiled rules cached in Redis for performance.</a:t>
            </a:r>
          </a:p>
          <a:p>
            <a:endParaRPr lang="en-GB" dirty="0"/>
          </a:p>
          <a:p>
            <a:r>
              <a:rPr lang="en-GB" dirty="0"/>
              <a:t>Payroll Management — generates payslips as PDFs, triggers settlement asynchronously over a service bus, and pushes results to the external payroll system (SAP / ADP / Workday) with a 3-attempt retry plus dead-letter queue for failures.</a:t>
            </a:r>
          </a:p>
          <a:p>
            <a:endParaRPr lang="en-GB" dirty="0"/>
          </a:p>
          <a:p>
            <a:r>
              <a:rPr lang="en-GB" dirty="0"/>
              <a:t>Promotions Management — managers nominate, HR configures the cycle and eligibility bands, approvals flow through, and on approval the compensation values are automatically updated.</a:t>
            </a:r>
          </a:p>
          <a:p>
            <a:endParaRPr lang="en-GB" dirty="0"/>
          </a:p>
          <a:p>
            <a:r>
              <a:rPr lang="en-GB" dirty="0"/>
              <a:t>Reporting &amp; Audit — read-only views: compliance reports, audit trail export, dashboards, and a 7-year retention pipeline through Azure Event Hub into SQL."</a:t>
            </a: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6</a:t>
            </a:fld>
            <a:endParaRPr lang="en-IN"/>
          </a:p>
        </p:txBody>
      </p:sp>
    </p:spTree>
    <p:extLst>
      <p:ext uri="{BB962C8B-B14F-4D97-AF65-F5344CB8AC3E}">
        <p14:creationId xmlns:p14="http://schemas.microsoft.com/office/powerpoint/2010/main" val="2885061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scope definition slide — it locks down what the project will and will not deliver. In scope is what we're building. Out of scope is what we're explicitly not building. </a:t>
            </a:r>
          </a:p>
          <a:p>
            <a:endParaRPr lang="en-GB" dirty="0"/>
          </a:p>
          <a:p>
            <a:r>
              <a:rPr lang="en-GB" dirty="0"/>
              <a:t>Under In-scope,</a:t>
            </a:r>
          </a:p>
          <a:p>
            <a:r>
              <a:rPr lang="en-GB" dirty="0"/>
              <a:t>seven backend microservices and four micro-frontend portals are the structural ones are mandated by the requirement doc. </a:t>
            </a:r>
          </a:p>
          <a:p>
            <a:r>
              <a:rPr lang="en-GB" dirty="0"/>
              <a:t>The functional pieces cover the core flows: benefits catalogue, claims, approvals, compensation, payroll integration with SAP / ADP / Workday, and analytics. Access is governed by RBAC with four roles — the same four actors from the context diagram. Multi-country compliance is in scope, meaning the rules engine handles jurisdictional variations. Everything will run cloud-native on Azure, and Claude Code is the Gen AI code companion that is used."</a:t>
            </a:r>
          </a:p>
          <a:p>
            <a:endParaRPr lang="en-GB" dirty="0"/>
          </a:p>
          <a:p>
            <a:r>
              <a:rPr lang="en-GB" dirty="0"/>
              <a:t>Out of Scope functionalities are </a:t>
            </a:r>
          </a:p>
          <a:p>
            <a:r>
              <a:rPr lang="en-GB" dirty="0"/>
              <a:t>No native mobile apps — web only. No on-premises or hybrid deployment — pure cloud. We integrate with payroll systems but we don't touch their internal logic. No legacy data migration, no multi-tenancy — this is single-tenant. And no custom hardware or budget constraints were specified, so we're not designing around either."</a:t>
            </a:r>
          </a:p>
          <a:p>
            <a:endParaRPr lang="en-GB" dirty="0"/>
          </a:p>
          <a:p>
            <a:r>
              <a:rPr lang="en-GB" dirty="0"/>
              <a:t>The constraint callouts are,</a:t>
            </a:r>
          </a:p>
          <a:p>
            <a:r>
              <a:rPr lang="en-GB" dirty="0"/>
              <a:t>compensation logic must use a rules engine — explicitly not hardcoded, which is why </a:t>
            </a:r>
            <a:r>
              <a:rPr lang="en-GB" dirty="0" err="1"/>
              <a:t>NRules</a:t>
            </a:r>
            <a:r>
              <a:rPr lang="en-GB" dirty="0"/>
              <a:t> is in the architecture — and Gen AI tooling must be used throughout delivery. These aren't preferences, they're contractual."</a:t>
            </a:r>
          </a:p>
          <a:p>
            <a:endParaRPr lang="en-GB" dirty="0"/>
          </a:p>
          <a:p>
            <a:r>
              <a:rPr lang="en-GB" dirty="0"/>
              <a:t>If asked:</a:t>
            </a:r>
          </a:p>
          <a:p>
            <a:endParaRPr lang="en-GB" dirty="0"/>
          </a:p>
          <a:p>
            <a:r>
              <a:rPr lang="en-GB" dirty="0"/>
              <a:t>"Why no mobile?" → Not in the requirement; web portals were specified. Mobile would be a Phase 2 conversation.</a:t>
            </a:r>
          </a:p>
          <a:p>
            <a:r>
              <a:rPr lang="en-GB" dirty="0"/>
              <a:t>"Why single-tenant?" → Each customer gets an isolated deployment per the requirement — likely driven by data residency for multi-country compliance.</a:t>
            </a:r>
          </a:p>
          <a:p>
            <a:r>
              <a:rPr lang="en-GB" dirty="0"/>
              <a:t>"What if scope changes mid-delivery?" → Any addition needs a change request against Section 6 of the requirement doc.</a:t>
            </a:r>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7</a:t>
            </a:fld>
            <a:endParaRPr lang="en-IN"/>
          </a:p>
        </p:txBody>
      </p:sp>
    </p:spTree>
    <p:extLst>
      <p:ext uri="{BB962C8B-B14F-4D97-AF65-F5344CB8AC3E}">
        <p14:creationId xmlns:p14="http://schemas.microsoft.com/office/powerpoint/2010/main" val="1469244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 me walk thru the assumptions</a:t>
            </a:r>
          </a:p>
          <a:p>
            <a:endParaRPr lang="en-GB" dirty="0"/>
          </a:p>
          <a:p>
            <a:r>
              <a:rPr lang="en-GB" dirty="0"/>
              <a:t>Cloud Platform — The requirement allowed AWS or Azure. We chose Azure for tighter integration with Entra ID and Communication Services.</a:t>
            </a:r>
          </a:p>
          <a:p>
            <a:r>
              <a:rPr lang="en-GB" dirty="0"/>
              <a:t>Authentication — Azure AD / Entra ID with OIDC, OAuth 2.0, and MFA enforced for all users.</a:t>
            </a:r>
          </a:p>
          <a:p>
            <a:r>
              <a:rPr lang="en-GB" dirty="0"/>
              <a:t>Security — TLS 1.3 in transit, AES-256 at rest, JWT RS256 signing, and the workloads sit in a private </a:t>
            </a:r>
            <a:r>
              <a:rPr lang="en-GB" dirty="0" err="1"/>
              <a:t>VNet</a:t>
            </a:r>
            <a:r>
              <a:rPr lang="en-GB" dirty="0"/>
              <a:t>.</a:t>
            </a:r>
          </a:p>
          <a:p>
            <a:r>
              <a:rPr lang="en-GB" dirty="0"/>
              <a:t>Availability — Targeting 99.9%+ uptime, achieved by spreading workloads across three Azure Availability Zones in the primary region.</a:t>
            </a:r>
          </a:p>
          <a:p>
            <a:r>
              <a:rPr lang="en-GB" dirty="0"/>
              <a:t>Disaster Recovery — Active-passive between East US 2 and West US 2, with a recovery time objective under 30 minutes.</a:t>
            </a:r>
          </a:p>
          <a:p>
            <a:r>
              <a:rPr lang="en-GB" dirty="0"/>
              <a:t>Performance — Concrete latency budgets: API P95 under 500ms, OCR under 5 seconds, rules-engine CTC calculation under 100ms.</a:t>
            </a:r>
          </a:p>
          <a:p>
            <a:r>
              <a:rPr lang="en-GB" dirty="0"/>
              <a:t>Compliance — 7-year audit retention, GDPR-ready, and PII masked in audit logs.</a:t>
            </a:r>
          </a:p>
          <a:p>
            <a:r>
              <a:rPr lang="en-GB" dirty="0"/>
              <a:t>Microservices — Strict rule: no shared databases. Each service owns its own data domain. This is what makes them independently deployable.</a:t>
            </a:r>
          </a:p>
          <a:p>
            <a:r>
              <a:rPr lang="en-GB" dirty="0"/>
              <a:t>CI/CD — GitHub Actions with per-service pipelines, Docker containers, and Helm charts deploying onto AKS (Azure Kubernetes Service)."</a:t>
            </a:r>
          </a:p>
          <a:p>
            <a:r>
              <a:rPr lang="en-GB" dirty="0"/>
              <a:t>Closing (15 sec)</a:t>
            </a:r>
          </a:p>
          <a:p>
            <a:endParaRPr lang="en-GB" dirty="0"/>
          </a:p>
          <a:p>
            <a:r>
              <a:rPr lang="en-GB" dirty="0"/>
              <a:t>"Every one of these is a decision we made — not one we were given. If the reviewer disagrees with any number, any protocol, or any region pairing, this is the slide to push back on. Anything that survives this review becomes a binding constraint for the rest of the design."</a:t>
            </a:r>
          </a:p>
          <a:p>
            <a:endParaRPr lang="en-GB" dirty="0"/>
          </a:p>
          <a:p>
            <a:r>
              <a:rPr lang="en-GB" dirty="0"/>
              <a:t>Likely questions:</a:t>
            </a:r>
          </a:p>
          <a:p>
            <a:endParaRPr lang="en-GB" dirty="0"/>
          </a:p>
          <a:p>
            <a:r>
              <a:rPr lang="en-GB" dirty="0"/>
              <a:t>"Why 99.9% and not 99.99%?" → Three nines is achievable in a single region with AZ redundancy; four nines requires active-active multi-region, which would increase cost significantly. Happy to revisit if the SLA is firmed up.</a:t>
            </a:r>
          </a:p>
          <a:p>
            <a:r>
              <a:rPr lang="en-GB" dirty="0"/>
              <a:t>"Why active-passive instead of active-active for DR?" → Cost and complexity. Active-passive meets a 30-minute RTO at a fraction of the cost, and the requirement doesn't demand zero-downtime failover.</a:t>
            </a:r>
          </a:p>
          <a:p>
            <a:r>
              <a:rPr lang="en-GB" dirty="0"/>
              <a:t>"Why East US 2 / West US 2 specifically?" → Both are paired Azure regions with full service parity, geographically separated for fault isolation.</a:t>
            </a:r>
          </a:p>
          <a:p>
            <a:r>
              <a:rPr lang="en-GB" dirty="0"/>
              <a:t>Cloud Platform — Azure → Our identity, email, and messaging dependencies are all native Azure services; staying on Azure avoids cross-cloud latency and credentials.</a:t>
            </a:r>
          </a:p>
          <a:p>
            <a:endParaRPr lang="en-GB" dirty="0"/>
          </a:p>
          <a:p>
            <a:r>
              <a:rPr lang="en-GB" dirty="0"/>
              <a:t>Authentication — Entra ID + OIDC/OAuth 2.0 + MFA → We don't store passwords ourselves; Entra ID owns the credentials and we just verify the signed tokens it issues.</a:t>
            </a:r>
          </a:p>
          <a:p>
            <a:endParaRPr lang="en-GB" dirty="0"/>
          </a:p>
          <a:p>
            <a:r>
              <a:rPr lang="en-GB" dirty="0"/>
              <a:t>Security — TLS 1.3, AES-256, JWT RS256, Private </a:t>
            </a:r>
            <a:r>
              <a:rPr lang="en-GB" dirty="0" err="1"/>
              <a:t>VNet</a:t>
            </a:r>
            <a:r>
              <a:rPr lang="en-GB" dirty="0"/>
              <a:t> → Current encryption standards in transit and at rest, signed tokens that can't be forged, and backend services with no public internet exposure.</a:t>
            </a:r>
          </a:p>
          <a:p>
            <a:endParaRPr lang="en-GB" dirty="0"/>
          </a:p>
          <a:p>
            <a:r>
              <a:rPr lang="en-GB" dirty="0"/>
              <a:t>Availability — 99.9%+, 3 AZs → Three nines (~43 min/month downtime) is achievable with three Availability Zones in one region; four nines would need active-active multi-region and double the cost.</a:t>
            </a:r>
          </a:p>
          <a:p>
            <a:endParaRPr lang="en-GB" dirty="0"/>
          </a:p>
          <a:p>
            <a:r>
              <a:rPr lang="en-GB" dirty="0"/>
              <a:t>DR — Active-Passive, RTO &lt; 30 min → Warm standby in West US 2 fails over within 30 minutes if East US 2 goes down — much cheaper than active-active and meets a realistic recovery target.</a:t>
            </a:r>
          </a:p>
          <a:p>
            <a:endParaRPr lang="en-GB" dirty="0"/>
          </a:p>
          <a:p>
            <a:r>
              <a:rPr lang="en-GB" dirty="0"/>
              <a:t>Performance — API P95 &lt; 500ms, OCR &lt; 5s, Rules &lt; 100ms → Concrete SLOs we'll measure in production; P95 (not average) so tail latency can't hide.</a:t>
            </a:r>
          </a:p>
          <a:p>
            <a:endParaRPr lang="en-GB" dirty="0"/>
          </a:p>
          <a:p>
            <a:r>
              <a:rPr lang="en-GB" dirty="0"/>
              <a:t>Compliance — 7-yr retention, GDPR-ready, PII masked → 7 years covers the strictest payroll/tax regulations; GDPR rights are </a:t>
            </a:r>
            <a:r>
              <a:rPr lang="en-GB" dirty="0" err="1"/>
              <a:t>honored</a:t>
            </a:r>
            <a:r>
              <a:rPr lang="en-GB" dirty="0"/>
              <a:t>; logs never contain raw PII.</a:t>
            </a:r>
          </a:p>
          <a:p>
            <a:endParaRPr lang="en-GB" dirty="0"/>
          </a:p>
          <a:p>
            <a:r>
              <a:rPr lang="en-GB" dirty="0"/>
              <a:t>Microservices — No shared databases → Each service owns its data and talks via APIs or events — the rule that keeps microservices independent instead of turning into a distributed monolith.</a:t>
            </a:r>
          </a:p>
          <a:p>
            <a:endParaRPr lang="en-GB" dirty="0"/>
          </a:p>
          <a:p>
            <a:r>
              <a:rPr lang="en-GB" dirty="0"/>
              <a:t>CI/CD — GitHub Actions + Docker + Helm + AKS → Every commit auto-builds a container and deploys via Helm to managed Kubernetes; any single service ships to prod in under 15 minutes.</a:t>
            </a:r>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8</a:t>
            </a:fld>
            <a:endParaRPr lang="en-IN"/>
          </a:p>
        </p:txBody>
      </p:sp>
    </p:spTree>
    <p:extLst>
      <p:ext uri="{BB962C8B-B14F-4D97-AF65-F5344CB8AC3E}">
        <p14:creationId xmlns:p14="http://schemas.microsoft.com/office/powerpoint/2010/main" val="29644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defines end-to-end business functionality of the platform.</a:t>
            </a:r>
          </a:p>
          <a:p>
            <a:endParaRPr lang="en-GB" dirty="0"/>
          </a:p>
          <a:p>
            <a:r>
              <a:rPr lang="en-GB" dirty="0"/>
              <a:t>Employee self-service (FR-01 to FR-03) — view benefits, submit claims, track status in real time.</a:t>
            </a:r>
          </a:p>
          <a:p>
            <a:r>
              <a:rPr lang="en-GB" dirty="0"/>
              <a:t>Approvals (FR-04, FR-08) — managers approve or reject claims through a multi-step workflow: Submit → Review → Approve/Reject → Settle.</a:t>
            </a:r>
          </a:p>
          <a:p>
            <a:r>
              <a:rPr lang="en-GB" dirty="0"/>
              <a:t>HR configuration (FR-05, FR-06) — HR Admin sets up the benefit plans and promotion schemes that everything else operates on.</a:t>
            </a:r>
          </a:p>
          <a:p>
            <a:r>
              <a:rPr lang="en-GB" dirty="0"/>
              <a:t>Compensation &amp; Payroll (FR-07, FR-09) — a rules-based engine calculates total CTC, and approved claims integrate with external payroll for settlement.</a:t>
            </a:r>
          </a:p>
          <a:p>
            <a:r>
              <a:rPr lang="en-GB" dirty="0"/>
              <a:t>Documents (FR-10) — receipts are processed, validated, and stored — this is where OCR plugs in.</a:t>
            </a:r>
          </a:p>
          <a:p>
            <a:r>
              <a:rPr lang="en-GB" dirty="0"/>
              <a:t>Reporting &amp; Compliance (FR-11, FR-12, FR-13) — analytics and audit reporting for Finance, role-based access across the four user types, and country-specific compliance rules."</a:t>
            </a:r>
          </a:p>
          <a:p>
            <a:r>
              <a:rPr lang="en-GB" dirty="0"/>
              <a:t>Closing — point at the flow bar (15 sec)</a:t>
            </a:r>
          </a:p>
          <a:p>
            <a:endParaRPr lang="en-GB" dirty="0"/>
          </a:p>
          <a:p>
            <a:r>
              <a:rPr lang="en-GB" dirty="0"/>
              <a:t>"The bottom strip ties it all together with one concrete scenario: employee logs in, views benefits, submits a claim, the workflow service receives it, documents are validated, claim moves to In Review, manager is notified, approves it — payroll settles. If rejected, the employee is notified and audit trail is updated. That single path touches roughly half the FRs on this slide, which is why we use it as the reference scenario for design."</a:t>
            </a:r>
          </a:p>
          <a:p>
            <a:endParaRPr lang="en-GB" dirty="0"/>
          </a:p>
          <a:p>
            <a:r>
              <a:rPr lang="en-GB" dirty="0"/>
              <a:t>If asked:</a:t>
            </a:r>
          </a:p>
          <a:p>
            <a:endParaRPr lang="en-GB" dirty="0"/>
          </a:p>
          <a:p>
            <a:r>
              <a:rPr lang="en-GB" dirty="0"/>
              <a:t>"Are any of these out of scope?" → No — all 13 are in scope. Out-of-scope items are on slide 7.</a:t>
            </a:r>
          </a:p>
          <a:p>
            <a:r>
              <a:rPr lang="en-GB" dirty="0"/>
              <a:t>"Why call out FR-12 separately?" → RBAC is cross-cutting; every other requirement depends on it working correctly.</a:t>
            </a:r>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9</a:t>
            </a:fld>
            <a:endParaRPr lang="en-IN"/>
          </a:p>
        </p:txBody>
      </p:sp>
    </p:spTree>
    <p:extLst>
      <p:ext uri="{BB962C8B-B14F-4D97-AF65-F5344CB8AC3E}">
        <p14:creationId xmlns:p14="http://schemas.microsoft.com/office/powerpoint/2010/main" val="2953358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NFRs define how well the system works. These define the system quality and performance expectations.</a:t>
            </a:r>
          </a:p>
          <a:p>
            <a:endParaRPr lang="en-GB" dirty="0"/>
          </a:p>
          <a:p>
            <a:r>
              <a:rPr lang="en-GB" dirty="0"/>
              <a:t>Key points:</a:t>
            </a:r>
          </a:p>
          <a:p>
            <a:endParaRPr lang="en-GB" dirty="0"/>
          </a:p>
          <a:p>
            <a:r>
              <a:rPr lang="en-GB" dirty="0"/>
              <a:t>Performance: APIs &lt; 500ms, OCR &lt; 5s</a:t>
            </a:r>
          </a:p>
          <a:p>
            <a:r>
              <a:rPr lang="en-GB" dirty="0"/>
              <a:t>Scalability: supports 10,000+ users</a:t>
            </a:r>
          </a:p>
          <a:p>
            <a:r>
              <a:rPr lang="en-GB" dirty="0"/>
              <a:t>Security: RBAC + encryption + MFA</a:t>
            </a:r>
          </a:p>
          <a:p>
            <a:r>
              <a:rPr lang="en-GB" dirty="0"/>
              <a:t>Availability: 99.9% uptime</a:t>
            </a:r>
          </a:p>
          <a:p>
            <a:r>
              <a:rPr lang="en-GB" dirty="0"/>
              <a:t>DR: recovery within 30 min</a:t>
            </a:r>
          </a:p>
          <a:p>
            <a:r>
              <a:rPr lang="en-GB" dirty="0"/>
              <a:t>Compliance: 7-year data retention</a:t>
            </a:r>
          </a:p>
          <a:p>
            <a:endParaRPr lang="en-GB" dirty="0"/>
          </a:p>
          <a:p>
            <a:r>
              <a:rPr lang="en-GB" dirty="0"/>
              <a:t>These ensure the system is fast, secure, scalable, and reliable.</a:t>
            </a:r>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10</a:t>
            </a:fld>
            <a:endParaRPr lang="en-IN"/>
          </a:p>
        </p:txBody>
      </p:sp>
    </p:spTree>
    <p:extLst>
      <p:ext uri="{BB962C8B-B14F-4D97-AF65-F5344CB8AC3E}">
        <p14:creationId xmlns:p14="http://schemas.microsoft.com/office/powerpoint/2010/main" val="3965173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This slide shows the overall architecture divided into five layers to separate responsibilities.</a:t>
            </a:r>
          </a:p>
          <a:p>
            <a:pPr fontAlgn="t"/>
            <a:r>
              <a:rPr lang="en-GB" sz="1200" b="0" i="0" kern="1200" dirty="0">
                <a:solidFill>
                  <a:schemeClr val="tx1"/>
                </a:solidFill>
                <a:effectLst/>
                <a:latin typeface="+mn-lt"/>
                <a:ea typeface="+mn-ea"/>
                <a:cs typeface="+mn-cs"/>
              </a:rPr>
              <a:t>The edge layer handles security, routing, and protects against external threats using tools like Azure Front Door and WAF.</a:t>
            </a:r>
          </a:p>
          <a:p>
            <a:pPr fontAlgn="t"/>
            <a:r>
              <a:rPr lang="en-GB" sz="1200" b="0" i="0" kern="1200" dirty="0">
                <a:solidFill>
                  <a:schemeClr val="tx1"/>
                </a:solidFill>
                <a:effectLst/>
                <a:latin typeface="+mn-lt"/>
                <a:ea typeface="+mn-ea"/>
                <a:cs typeface="+mn-cs"/>
              </a:rPr>
              <a:t>The frontend layer consists of micro-frontend portals built using React, which provide user-specific interfaces.</a:t>
            </a:r>
          </a:p>
          <a:p>
            <a:pPr fontAlgn="t"/>
            <a:r>
              <a:rPr lang="en-GB" sz="1200" b="0" i="0" kern="1200" dirty="0">
                <a:solidFill>
                  <a:schemeClr val="tx1"/>
                </a:solidFill>
                <a:effectLst/>
                <a:latin typeface="+mn-lt"/>
                <a:ea typeface="+mn-ea"/>
                <a:cs typeface="+mn-cs"/>
              </a:rPr>
              <a:t>The API gateway acts as a single entry point for all requests and handles tasks like authentication validation, rate limiting, and routing.</a:t>
            </a:r>
          </a:p>
          <a:p>
            <a:pPr fontAlgn="t"/>
            <a:r>
              <a:rPr lang="en-GB" sz="1200" b="0" i="0" kern="1200" dirty="0">
                <a:solidFill>
                  <a:schemeClr val="tx1"/>
                </a:solidFill>
                <a:effectLst/>
                <a:latin typeface="+mn-lt"/>
                <a:ea typeface="+mn-ea"/>
                <a:cs typeface="+mn-cs"/>
              </a:rPr>
              <a:t>The application layer contains microservices where all business logic is implemented.</a:t>
            </a:r>
          </a:p>
          <a:p>
            <a:pPr fontAlgn="t"/>
            <a:r>
              <a:rPr lang="en-GB" sz="1200" b="0" i="0" kern="1200" dirty="0">
                <a:solidFill>
                  <a:schemeClr val="tx1"/>
                </a:solidFill>
                <a:effectLst/>
                <a:latin typeface="+mn-lt"/>
                <a:ea typeface="+mn-ea"/>
                <a:cs typeface="+mn-cs"/>
              </a:rPr>
              <a:t>The data layer stores information using different storage technologies optimized for various use cases.</a:t>
            </a:r>
          </a:p>
          <a:p>
            <a:pPr fontAlgn="t"/>
            <a:r>
              <a:rPr lang="en-GB" sz="1200" b="0" i="0" kern="1200" dirty="0">
                <a:solidFill>
                  <a:schemeClr val="tx1"/>
                </a:solidFill>
                <a:effectLst/>
                <a:latin typeface="+mn-lt"/>
                <a:ea typeface="+mn-ea"/>
                <a:cs typeface="+mn-cs"/>
              </a:rPr>
              <a:t>Additionally, background processing is handled through event-driven components like Service Bus and Event Hub.</a:t>
            </a:r>
          </a:p>
          <a:p>
            <a:pPr fontAlgn="t"/>
            <a:r>
              <a:rPr lang="en-GB" sz="1200" b="0" i="0" kern="1200" dirty="0">
                <a:solidFill>
                  <a:schemeClr val="tx1"/>
                </a:solidFill>
                <a:effectLst/>
                <a:latin typeface="+mn-lt"/>
                <a:ea typeface="+mn-ea"/>
                <a:cs typeface="+mn-cs"/>
              </a:rPr>
              <a:t>This layered architecture improves scalability, security, and maintainability.”</a:t>
            </a: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12</a:t>
            </a:fld>
            <a:endParaRPr lang="en-IN"/>
          </a:p>
        </p:txBody>
      </p:sp>
    </p:spTree>
    <p:extLst>
      <p:ext uri="{BB962C8B-B14F-4D97-AF65-F5344CB8AC3E}">
        <p14:creationId xmlns:p14="http://schemas.microsoft.com/office/powerpoint/2010/main" val="641135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This diagram shows the complete end-to-end flow of the system.</a:t>
            </a:r>
          </a:p>
          <a:p>
            <a:pPr fontAlgn="t"/>
            <a:r>
              <a:rPr lang="en-GB" sz="1200" b="0" i="0" kern="1200" dirty="0">
                <a:solidFill>
                  <a:schemeClr val="tx1"/>
                </a:solidFill>
                <a:effectLst/>
                <a:latin typeface="+mn-lt"/>
                <a:ea typeface="+mn-ea"/>
                <a:cs typeface="+mn-cs"/>
              </a:rPr>
              <a:t>Users such as employees, managers, and admins interact with the system through frontend portals.</a:t>
            </a:r>
          </a:p>
          <a:p>
            <a:pPr fontAlgn="t"/>
            <a:r>
              <a:rPr lang="en-GB" sz="1200" b="0" i="0" kern="1200" dirty="0">
                <a:solidFill>
                  <a:schemeClr val="tx1"/>
                </a:solidFill>
                <a:effectLst/>
                <a:latin typeface="+mn-lt"/>
                <a:ea typeface="+mn-ea"/>
                <a:cs typeface="+mn-cs"/>
              </a:rPr>
              <a:t>Requests from the frontend go to the API gateway, which validates and routes them to the appropriate microservices.</a:t>
            </a:r>
          </a:p>
          <a:p>
            <a:pPr fontAlgn="t"/>
            <a:r>
              <a:rPr lang="en-GB" sz="1200" b="0" i="0" kern="1200" dirty="0">
                <a:solidFill>
                  <a:schemeClr val="tx1"/>
                </a:solidFill>
                <a:effectLst/>
                <a:latin typeface="+mn-lt"/>
                <a:ea typeface="+mn-ea"/>
                <a:cs typeface="+mn-cs"/>
              </a:rPr>
              <a:t>These microservices handle business logic such as claims processing, compensation calculation, and reporting.</a:t>
            </a:r>
          </a:p>
          <a:p>
            <a:pPr fontAlgn="t"/>
            <a:r>
              <a:rPr lang="en-GB" sz="1200" b="0" i="0" kern="1200" dirty="0">
                <a:solidFill>
                  <a:schemeClr val="tx1"/>
                </a:solidFill>
                <a:effectLst/>
                <a:latin typeface="+mn-lt"/>
                <a:ea typeface="+mn-ea"/>
                <a:cs typeface="+mn-cs"/>
              </a:rPr>
              <a:t>The system also interacts with external systems like Azure AD for authentication, payroll services for settlement, and communication services for notifications.</a:t>
            </a:r>
          </a:p>
          <a:p>
            <a:pPr fontAlgn="t"/>
            <a:r>
              <a:rPr lang="en-GB" sz="1200" b="0" i="0" kern="1200" dirty="0">
                <a:solidFill>
                  <a:schemeClr val="tx1"/>
                </a:solidFill>
                <a:effectLst/>
                <a:latin typeface="+mn-lt"/>
                <a:ea typeface="+mn-ea"/>
                <a:cs typeface="+mn-cs"/>
              </a:rPr>
              <a:t>All arrows in the diagram show how data flows between components, starting from user interaction to backend processing and external integrations.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We use SQL for structured transactional data and Cosmos DB for unstructured, scalable and flexible data. This improves performance and scalability.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tx1"/>
                </a:solidFill>
                <a:effectLst/>
                <a:latin typeface="+mn-lt"/>
                <a:ea typeface="+mn-ea"/>
                <a:cs typeface="+mn-cs"/>
              </a:rPr>
              <a:t>Why not only SQL? - </a:t>
            </a:r>
            <a:r>
              <a:rPr lang="en-GB" sz="1200" b="0" i="0" kern="1200" dirty="0">
                <a:solidFill>
                  <a:schemeClr val="tx1"/>
                </a:solidFill>
                <a:effectLst/>
                <a:latin typeface="+mn-lt"/>
                <a:ea typeface="+mn-ea"/>
                <a:cs typeface="+mn-cs"/>
              </a:rPr>
              <a:t>Using only SQL would limit scalability and flexibility for high-volume or schema-less data, which Cosmos DB handles better.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0" i="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13</a:t>
            </a:fld>
            <a:endParaRPr lang="en-IN"/>
          </a:p>
        </p:txBody>
      </p:sp>
    </p:spTree>
    <p:extLst>
      <p:ext uri="{BB962C8B-B14F-4D97-AF65-F5344CB8AC3E}">
        <p14:creationId xmlns:p14="http://schemas.microsoft.com/office/powerpoint/2010/main" val="2456361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This slide focuses on the internal structure of backend services.</a:t>
            </a:r>
          </a:p>
          <a:p>
            <a:pPr fontAlgn="t"/>
            <a:r>
              <a:rPr lang="en-GB" sz="1200" b="0" i="0" kern="1200" dirty="0">
                <a:solidFill>
                  <a:schemeClr val="tx1"/>
                </a:solidFill>
                <a:effectLst/>
                <a:latin typeface="+mn-lt"/>
                <a:ea typeface="+mn-ea"/>
                <a:cs typeface="+mn-cs"/>
              </a:rPr>
              <a:t>The system is divided into seven microservices, each responsible for a specific business function, such as claims, payroll, or reporting.</a:t>
            </a:r>
          </a:p>
          <a:p>
            <a:pPr fontAlgn="t"/>
            <a:r>
              <a:rPr lang="en-GB" sz="1200" b="0" i="0" kern="1200" dirty="0">
                <a:solidFill>
                  <a:schemeClr val="tx1"/>
                </a:solidFill>
                <a:effectLst/>
                <a:latin typeface="+mn-lt"/>
                <a:ea typeface="+mn-ea"/>
                <a:cs typeface="+mn-cs"/>
              </a:rPr>
              <a:t>Common functionalities like authentication, logging, and validation are shared across all services to maintain consistency.</a:t>
            </a:r>
          </a:p>
          <a:p>
            <a:pPr fontAlgn="t"/>
            <a:r>
              <a:rPr lang="en-GB" sz="1200" b="0" i="0" kern="1200" dirty="0">
                <a:solidFill>
                  <a:schemeClr val="tx1"/>
                </a:solidFill>
                <a:effectLst/>
                <a:latin typeface="+mn-lt"/>
                <a:ea typeface="+mn-ea"/>
                <a:cs typeface="+mn-cs"/>
              </a:rPr>
              <a:t>The architecture follows the CQRS pattern, separating read and write operations, which improves performance and scalability.</a:t>
            </a:r>
          </a:p>
          <a:p>
            <a:pPr fontAlgn="t"/>
            <a:r>
              <a:rPr lang="en-GB" sz="1200" b="0" i="0" kern="1200" dirty="0">
                <a:solidFill>
                  <a:schemeClr val="tx1"/>
                </a:solidFill>
                <a:effectLst/>
                <a:latin typeface="+mn-lt"/>
                <a:ea typeface="+mn-ea"/>
                <a:cs typeface="+mn-cs"/>
              </a:rPr>
              <a:t>Services communicate using both REST APIs and asynchronous messaging through Service Bus, which enables loose coupling and better fault tolerance.</a:t>
            </a:r>
          </a:p>
          <a:p>
            <a:pPr fontAlgn="t"/>
            <a:r>
              <a:rPr lang="en-GB" sz="1200" b="0" i="0" kern="1200" dirty="0">
                <a:solidFill>
                  <a:schemeClr val="tx1"/>
                </a:solidFill>
                <a:effectLst/>
                <a:latin typeface="+mn-lt"/>
                <a:ea typeface="+mn-ea"/>
                <a:cs typeface="+mn-cs"/>
              </a:rPr>
              <a:t>This design ensures that each service can scale independently and reduces system dependencies.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Inside each microservice, the architecture follows a standard layered pattern, where each component handles a specific responsibility such as request handling, business logic, caching, and data access.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We use controllers to separate API handling from business logic, which makes the system more maintainable and easier to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The command and query layer implements the CQRS pattern, where commands are used for operations that modify data, such as creating or updating a claim, and queries are used for read-only operations, such as fetching claim details.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The memory cache is used to temporarily store frequently accessed data, so that the system does not need to repeatedly fetch it from the database. This significantly reduces response time and improves performance.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The repository layer is responsible for interacting with the database. It handles all data access operations such as saving, updating, and retrieving data</a:t>
            </a: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14</a:t>
            </a:fld>
            <a:endParaRPr lang="en-IN"/>
          </a:p>
        </p:txBody>
      </p:sp>
    </p:spTree>
    <p:extLst>
      <p:ext uri="{BB962C8B-B14F-4D97-AF65-F5344CB8AC3E}">
        <p14:creationId xmlns:p14="http://schemas.microsoft.com/office/powerpoint/2010/main" val="865019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This slide explains the data architecture of the system, where we use different types of storage technologies to handle different kinds of data efficiently. This approach is called polyglot persistence.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tx1"/>
                </a:solidFill>
                <a:effectLst/>
                <a:latin typeface="+mn-lt"/>
                <a:ea typeface="+mn-ea"/>
                <a:cs typeface="+mn-cs"/>
              </a:rPr>
              <a:t>What is Polyglot Persistence - </a:t>
            </a:r>
            <a:r>
              <a:rPr lang="en-GB" sz="1200" b="0" i="0" kern="1200" dirty="0">
                <a:solidFill>
                  <a:schemeClr val="tx1"/>
                </a:solidFill>
                <a:effectLst/>
                <a:latin typeface="+mn-lt"/>
                <a:ea typeface="+mn-ea"/>
                <a:cs typeface="+mn-cs"/>
              </a:rPr>
              <a:t>Instead of using a single database for all data, we use multiple databases, each chosen based on the type of data and its usage. This improves performance, scalability, and flexibility of the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Azure SQL is used to store structured and transactional data such as employee details, claims, approvals, and payroll data. This type of data requires strong consistency and relationships between tables.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Zone-redundant means the database is replicated across multiple physical data </a:t>
            </a:r>
            <a:r>
              <a:rPr lang="en-GB" sz="1200" b="0" i="0" kern="1200" dirty="0" err="1">
                <a:solidFill>
                  <a:schemeClr val="tx1"/>
                </a:solidFill>
                <a:effectLst/>
                <a:latin typeface="+mn-lt"/>
                <a:ea typeface="+mn-ea"/>
                <a:cs typeface="+mn-cs"/>
              </a:rPr>
              <a:t>centers</a:t>
            </a:r>
            <a:r>
              <a:rPr lang="en-GB" sz="1200" b="0" i="0" kern="1200" dirty="0">
                <a:solidFill>
                  <a:schemeClr val="tx1"/>
                </a:solidFill>
                <a:effectLst/>
                <a:latin typeface="+mn-lt"/>
                <a:ea typeface="+mn-ea"/>
                <a:cs typeface="+mn-cs"/>
              </a:rPr>
              <a:t>, called availability zones, within the same region. If one zone fails, the data is still available from another zone. This improves availability and fault tolerance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Azure Cosmos DB is used for storing flexible and high-volume data where the structure may vary, such as audit logs, configuration data, and event-based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It also supports schema flexibility, which allows storing unstructured or semi-structured data without rigid table structures.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Azure Redis Cache is used to store frequently accessed data in memory so that it can be retrieved quickly without querying the database every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ex-:- For example, configuration data or frequently accessed employee details can be cached for faster access.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Azure Blob Storage is used to store large unstructured data like files, such as receipts, documents, and reports uploaded by users.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Ex:- claim receipts uploaded by employees are stored in blob storage.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Azure Key Vault is used to securely store sensitive information such as encryption keys, secrets, and certificates.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How these components work together :- When a user submits a claim, the structured claim data is stored in Azure SQL, the uploaded receipt is stored in Blob storage, and any frequently accessed data is cached in Redis for faster retrieval. Audit logs or event data may be stored in Cosmos DB. All sensitive credentials used in these operations are securely managed in Azure Key Vault.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tx1"/>
                </a:solidFill>
                <a:effectLst/>
                <a:latin typeface="+mn-lt"/>
                <a:ea typeface="+mn-ea"/>
                <a:cs typeface="+mn-cs"/>
              </a:rPr>
              <a:t>Zone-Redundant - </a:t>
            </a:r>
            <a:r>
              <a:rPr lang="en-GB" sz="1200" b="0" i="0" kern="1200" dirty="0">
                <a:solidFill>
                  <a:schemeClr val="tx1"/>
                </a:solidFill>
                <a:effectLst/>
                <a:latin typeface="+mn-lt"/>
                <a:ea typeface="+mn-ea"/>
                <a:cs typeface="+mn-cs"/>
              </a:rPr>
              <a:t>Data is replicated across multiple availability zones to ensure high availability.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Why not use only SQL - SQL cannot efficiently handle high-volume or flexible data, so Cosmos DB is used for scalability.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tx1"/>
                </a:solidFill>
                <a:effectLst/>
                <a:latin typeface="+mn-lt"/>
                <a:ea typeface="+mn-ea"/>
                <a:cs typeface="+mn-cs"/>
              </a:rPr>
              <a:t>Why Redis? - </a:t>
            </a:r>
            <a:r>
              <a:rPr lang="en-GB" sz="1200" b="0" i="0" kern="1200" dirty="0">
                <a:solidFill>
                  <a:schemeClr val="tx1"/>
                </a:solidFill>
                <a:effectLst/>
                <a:latin typeface="+mn-lt"/>
                <a:ea typeface="+mn-ea"/>
                <a:cs typeface="+mn-cs"/>
              </a:rPr>
              <a:t>To improve performance by caching frequently used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tx1"/>
                </a:solidFill>
                <a:effectLst/>
                <a:latin typeface="+mn-lt"/>
                <a:ea typeface="+mn-ea"/>
                <a:cs typeface="+mn-cs"/>
              </a:rPr>
              <a:t>Why Blob Storage? - </a:t>
            </a:r>
            <a:r>
              <a:rPr lang="en-GB" sz="1200" b="0" i="0" kern="1200" dirty="0">
                <a:solidFill>
                  <a:schemeClr val="tx1"/>
                </a:solidFill>
                <a:effectLst/>
                <a:latin typeface="+mn-lt"/>
                <a:ea typeface="+mn-ea"/>
                <a:cs typeface="+mn-cs"/>
              </a:rPr>
              <a:t>To store large files like receipts efficiently.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tx1"/>
                </a:solidFill>
                <a:effectLst/>
                <a:latin typeface="+mn-lt"/>
                <a:ea typeface="+mn-ea"/>
                <a:cs typeface="+mn-cs"/>
              </a:rPr>
              <a:t>Geo-Redundant - </a:t>
            </a:r>
            <a:r>
              <a:rPr lang="en-GB" sz="1200" b="0" i="0" kern="1200" dirty="0">
                <a:solidFill>
                  <a:schemeClr val="tx1"/>
                </a:solidFill>
                <a:effectLst/>
                <a:latin typeface="+mn-lt"/>
                <a:ea typeface="+mn-ea"/>
                <a:cs typeface="+mn-cs"/>
              </a:rPr>
              <a:t>Data is replicated across </a:t>
            </a:r>
            <a:r>
              <a:rPr lang="en-GB" sz="1200" b="1" i="0" kern="1200" dirty="0">
                <a:solidFill>
                  <a:schemeClr val="tx1"/>
                </a:solidFill>
                <a:effectLst/>
                <a:latin typeface="+mn-lt"/>
                <a:ea typeface="+mn-ea"/>
                <a:cs typeface="+mn-cs"/>
              </a:rPr>
              <a:t>different regions (different locations/cities/countries)</a:t>
            </a:r>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tx1"/>
                </a:solidFill>
                <a:effectLst/>
                <a:latin typeface="+mn-lt"/>
                <a:ea typeface="+mn-ea"/>
                <a:cs typeface="+mn-cs"/>
              </a:rPr>
              <a:t>Multi-Region Write - </a:t>
            </a:r>
            <a:r>
              <a:rPr lang="en-GB" sz="1200" b="0" i="0" kern="1200" dirty="0">
                <a:solidFill>
                  <a:schemeClr val="tx1"/>
                </a:solidFill>
                <a:effectLst/>
                <a:latin typeface="+mn-lt"/>
                <a:ea typeface="+mn-ea"/>
                <a:cs typeface="+mn-cs"/>
              </a:rPr>
              <a:t>Multi-region write means data can be written (updated/inserted) from multiple regions at the same time, not just one primary region.</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tx1"/>
                </a:solidFill>
                <a:effectLst/>
                <a:latin typeface="+mn-lt"/>
                <a:ea typeface="+mn-ea"/>
                <a:cs typeface="+mn-cs"/>
              </a:rPr>
              <a:t>Improves availability, Supports global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0" i="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15</a:t>
            </a:fld>
            <a:endParaRPr lang="en-IN"/>
          </a:p>
        </p:txBody>
      </p:sp>
    </p:spTree>
    <p:extLst>
      <p:ext uri="{BB962C8B-B14F-4D97-AF65-F5344CB8AC3E}">
        <p14:creationId xmlns:p14="http://schemas.microsoft.com/office/powerpoint/2010/main" val="3135090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the physical deployment architecture of the system across multiple regions, including the global entry layer, the primary region where the system actively runs, and the disaster recovery region which acts as backup.</a:t>
            </a:r>
          </a:p>
          <a:p>
            <a:r>
              <a:rPr lang="en-GB" dirty="0"/>
              <a:t>When a user accesses the system, the request first goes to Azure Front Door, which routes it to the primary region. The frontend communicates with backend services through API Management, and all processing happens within the AKS cluster. Data is stored in SQL, Cosmos DB, and Blob storage. At the same time, all data is replicated to the disaster recovery region. If the primary region fails, traffic is automatically redirected to the DR region, where the standby system becomes active.</a:t>
            </a:r>
          </a:p>
          <a:p>
            <a:endParaRPr lang="en-GB" dirty="0"/>
          </a:p>
          <a:p>
            <a:r>
              <a:rPr lang="en-GB" dirty="0"/>
              <a:t>top layer is the GLOBAL LAYER, where Azure Front Door acts as the global entry point for all user requests. It routes traffic to the nearest and healthiest backend region.</a:t>
            </a:r>
          </a:p>
          <a:p>
            <a:r>
              <a:rPr lang="en-GB" dirty="0"/>
              <a:t>Azure AD is used for authentication and identity management. All users log in through this service using OIDC and OAuth protocols</a:t>
            </a:r>
          </a:p>
          <a:p>
            <a:r>
              <a:rPr lang="en-GB" dirty="0"/>
              <a:t>Primary region is East US 2 and DR Region is West US 2). The system is deployed in a primary region, East US 2, and a disaster recovery region, West US 2. If the primary region becomes unavailable due to a failure, the system can switch to the secondary region. This ensures business continuity and avoids downtime in case of regional failures.</a:t>
            </a:r>
          </a:p>
          <a:p>
            <a:endParaRPr lang="en-GB" dirty="0"/>
          </a:p>
          <a:p>
            <a:r>
              <a:rPr lang="en-GB" dirty="0"/>
              <a:t>Azure Static Web Apps (Frontend Layer) - The frontend applications are hosted using Azure Static Web Apps, which include the main shell and four portals built using React.</a:t>
            </a:r>
          </a:p>
          <a:p>
            <a:r>
              <a:rPr lang="en-GB" dirty="0"/>
              <a:t>CDN distributed → served globally for speed</a:t>
            </a:r>
          </a:p>
          <a:p>
            <a:r>
              <a:rPr lang="en-GB" dirty="0"/>
              <a:t>Zone-redundant → deployed across multiple zones</a:t>
            </a:r>
          </a:p>
          <a:p>
            <a:r>
              <a:rPr lang="en-GB" dirty="0"/>
              <a:t>Why:</a:t>
            </a:r>
          </a:p>
          <a:p>
            <a:r>
              <a:rPr lang="en-GB" dirty="0"/>
              <a:t>“This ensures fast loading for users and high availability even if one zone fails.”</a:t>
            </a:r>
          </a:p>
          <a:p>
            <a:endParaRPr lang="en-GB" dirty="0"/>
          </a:p>
          <a:p>
            <a:r>
              <a:rPr lang="en-GB" dirty="0"/>
              <a:t>Azure API Management acts as the API gateway, which receives all frontend calls and routes them to backend services.</a:t>
            </a:r>
          </a:p>
          <a:p>
            <a:r>
              <a:rPr lang="en-GB" dirty="0"/>
              <a:t>AKS Application Layer (Microservices) - The backend microservices are deployed on Azure Kubernetes Service, where each service handles a specific business function.</a:t>
            </a:r>
          </a:p>
          <a:p>
            <a:endParaRPr lang="en-GB" dirty="0"/>
          </a:p>
          <a:p>
            <a:r>
              <a:rPr lang="en-GB" dirty="0"/>
              <a:t>Availability Zones - Within the primary region, the system is deployed across three availability zones, which are separate physical data </a:t>
            </a:r>
            <a:r>
              <a:rPr lang="en-GB" dirty="0" err="1"/>
              <a:t>centers</a:t>
            </a:r>
            <a:r>
              <a:rPr lang="en-GB" dirty="0"/>
              <a:t>.</a:t>
            </a:r>
          </a:p>
          <a:p>
            <a:endParaRPr lang="en-GB" dirty="0"/>
          </a:p>
          <a:p>
            <a:r>
              <a:rPr lang="en-GB" dirty="0"/>
              <a:t>PRIMARY DATA LAYER - Azure SQL stores structured transactional data such as claims, employee records, and payroll details.</a:t>
            </a:r>
          </a:p>
          <a:p>
            <a:r>
              <a:rPr lang="en-GB" dirty="0"/>
              <a:t>Zone-redundant → replicated across zones</a:t>
            </a:r>
          </a:p>
          <a:p>
            <a:r>
              <a:rPr lang="en-GB" dirty="0"/>
              <a:t>Cosmos DB is used for high-volume and flexible data, and this region acts as the write region where data is actively written</a:t>
            </a:r>
          </a:p>
          <a:p>
            <a:r>
              <a:rPr lang="en-GB" dirty="0"/>
              <a:t>Redis is used for caching frequently accessed data, Blob storage is used for storing files like receipts, and Key Vault securely stores secrets and encryption keys</a:t>
            </a:r>
          </a:p>
          <a:p>
            <a:endParaRPr lang="en-GB" dirty="0"/>
          </a:p>
          <a:p>
            <a:r>
              <a:rPr lang="en-GB" dirty="0"/>
              <a:t>Redis → performance</a:t>
            </a:r>
          </a:p>
          <a:p>
            <a:r>
              <a:rPr lang="en-GB" dirty="0"/>
              <a:t>Blob → cost-effective file storage</a:t>
            </a:r>
          </a:p>
          <a:p>
            <a:r>
              <a:rPr lang="en-GB" dirty="0"/>
              <a:t>Key Vault → security</a:t>
            </a:r>
          </a:p>
          <a:p>
            <a:endParaRPr lang="en-GB" dirty="0"/>
          </a:p>
          <a:p>
            <a:r>
              <a:rPr lang="en-GB" dirty="0"/>
              <a:t>DR REGION – WEST US 2 (Backup System)</a:t>
            </a:r>
          </a:p>
          <a:p>
            <a:r>
              <a:rPr lang="en-GB" dirty="0"/>
              <a:t>A standby AKS cluster is maintained in the disaster recovery region, with minimal resources running</a:t>
            </a:r>
          </a:p>
          <a:p>
            <a:r>
              <a:rPr lang="en-GB" dirty="0"/>
              <a:t>Azure SQL data is replicated to this region as a read-only geo-replica.. RPO &lt; 5 min → max data loss. RTO &lt; 30 sec → recovery time</a:t>
            </a:r>
          </a:p>
          <a:p>
            <a:r>
              <a:rPr lang="en-GB" dirty="0"/>
              <a:t>Cosmos DB automatically replicates data to this region and can act as a read region or failover write region.</a:t>
            </a:r>
          </a:p>
          <a:p>
            <a:r>
              <a:rPr lang="en-GB" dirty="0"/>
              <a:t>Blob storage uses geo-redundant storage, meaning data is replicated to another region automatically.</a:t>
            </a:r>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16</a:t>
            </a:fld>
            <a:endParaRPr lang="en-IN"/>
          </a:p>
        </p:txBody>
      </p:sp>
    </p:spTree>
    <p:extLst>
      <p:ext uri="{BB962C8B-B14F-4D97-AF65-F5344CB8AC3E}">
        <p14:creationId xmlns:p14="http://schemas.microsoft.com/office/powerpoint/2010/main" val="3407182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This diagram represents the data model of the system.</a:t>
            </a:r>
          </a:p>
          <a:p>
            <a:pPr fontAlgn="t"/>
            <a:r>
              <a:rPr lang="en-GB" sz="1200" b="0" i="0" kern="1200" dirty="0">
                <a:solidFill>
                  <a:schemeClr val="tx1"/>
                </a:solidFill>
                <a:effectLst/>
                <a:latin typeface="+mn-lt"/>
                <a:ea typeface="+mn-ea"/>
                <a:cs typeface="+mn-cs"/>
              </a:rPr>
              <a:t>It shows all key entities such as employees, claims, benefits, payroll, and their relationships.</a:t>
            </a:r>
          </a:p>
          <a:p>
            <a:pPr fontAlgn="t"/>
            <a:r>
              <a:rPr lang="en-GB" sz="1200" b="0" i="0" kern="1200" dirty="0">
                <a:solidFill>
                  <a:schemeClr val="tx1"/>
                </a:solidFill>
                <a:effectLst/>
                <a:latin typeface="+mn-lt"/>
                <a:ea typeface="+mn-ea"/>
                <a:cs typeface="+mn-cs"/>
              </a:rPr>
              <a:t>For example, an employee can have multiple claims, and each claim is linked to documents and approvals.</a:t>
            </a:r>
          </a:p>
          <a:p>
            <a:pPr fontAlgn="t"/>
            <a:r>
              <a:rPr lang="en-GB" sz="1200" b="0" i="0" kern="1200" dirty="0">
                <a:solidFill>
                  <a:schemeClr val="tx1"/>
                </a:solidFill>
                <a:effectLst/>
                <a:latin typeface="+mn-lt"/>
                <a:ea typeface="+mn-ea"/>
                <a:cs typeface="+mn-cs"/>
              </a:rPr>
              <a:t>This diagram helps in understanding how data is structured and how different parts of the system are connected.</a:t>
            </a:r>
          </a:p>
          <a:p>
            <a:pPr fontAlgn="t"/>
            <a:r>
              <a:rPr lang="en-GB" sz="1200" b="0" i="0" kern="1200" dirty="0">
                <a:solidFill>
                  <a:schemeClr val="tx1"/>
                </a:solidFill>
                <a:effectLst/>
                <a:latin typeface="+mn-lt"/>
                <a:ea typeface="+mn-ea"/>
                <a:cs typeface="+mn-cs"/>
              </a:rPr>
              <a:t>It is used for designing databases and ensuring data consistency.</a:t>
            </a: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17</a:t>
            </a:fld>
            <a:endParaRPr lang="en-IN"/>
          </a:p>
        </p:txBody>
      </p:sp>
    </p:spTree>
    <p:extLst>
      <p:ext uri="{BB962C8B-B14F-4D97-AF65-F5344CB8AC3E}">
        <p14:creationId xmlns:p14="http://schemas.microsoft.com/office/powerpoint/2010/main" val="1542548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This slide shows the complete technology stack used to build the system. On the frontend, we use React with TypeScript for building modular and scalable UI components. On the backend, we use ASP.NET Core with microservices architecture for handling business logic. Azure services like AKS, SQL, Cosmos DB, and Service Bus are used for cloud infrastructure, ensuring scalability and reliability. DevOps tools like GitHub Actions, Docker, and monitoring tools are used for deployment and observability.</a:t>
            </a: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19</a:t>
            </a:fld>
            <a:endParaRPr lang="en-IN"/>
          </a:p>
        </p:txBody>
      </p:sp>
    </p:spTree>
    <p:extLst>
      <p:ext uri="{BB962C8B-B14F-4D97-AF65-F5344CB8AC3E}">
        <p14:creationId xmlns:p14="http://schemas.microsoft.com/office/powerpoint/2010/main" val="42444343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This slide explains how AI is used both during development and within the product. During development, tools like Copilot and Claude help generate code, documentation, and tests, improving productivity. Inside the product, AI is used for OCR to extract data from receipts, rules engine optimization, and anomaly detection for monitoring. Overall, AI reduces manual effort and speeds up delivery by around 38%.</a:t>
            </a: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20</a:t>
            </a:fld>
            <a:endParaRPr lang="en-IN"/>
          </a:p>
        </p:txBody>
      </p:sp>
    </p:spTree>
    <p:extLst>
      <p:ext uri="{BB962C8B-B14F-4D97-AF65-F5344CB8AC3E}">
        <p14:creationId xmlns:p14="http://schemas.microsoft.com/office/powerpoint/2010/main" val="26319246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This slide highlights the key benefits of the architecture. Microservices allow independent scaling of each component based on load. The rules engine enables dynamic business logic without code changes. Event-driven communication improves system reliability and fault tolerance. Security is strengthened using managed identities and zero credential storage. Overall, the design improves scalability, flexibility, and delivery speed</a:t>
            </a: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21</a:t>
            </a:fld>
            <a:endParaRPr lang="en-IN"/>
          </a:p>
        </p:txBody>
      </p:sp>
    </p:spTree>
    <p:extLst>
      <p:ext uri="{BB962C8B-B14F-4D97-AF65-F5344CB8AC3E}">
        <p14:creationId xmlns:p14="http://schemas.microsoft.com/office/powerpoint/2010/main" val="8506396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This slide describes the phased implementation approach. Phase 1 focuses on infrastructure setup and core services. Phase 2 covers claims and document processing workflow. Phase 3 includes compensation and payroll integration. Phase 4 focuses on reporting, testing, and go-live. Using AI tools significantly reduces the total delivery time from 34 weeks to 21 weeks.</a:t>
            </a: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22</a:t>
            </a:fld>
            <a:endParaRPr lang="en-IN"/>
          </a:p>
        </p:txBody>
      </p:sp>
    </p:spTree>
    <p:extLst>
      <p:ext uri="{BB962C8B-B14F-4D97-AF65-F5344CB8AC3E}">
        <p14:creationId xmlns:p14="http://schemas.microsoft.com/office/powerpoint/2010/main" val="2813092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This slide visually compares the delivery timeline with and without AI. It clearly shows that each phase is completed faster when AI tools are used, resulting in overall reduced project duration and improved efficiency.</a:t>
            </a: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23</a:t>
            </a:fld>
            <a:endParaRPr lang="en-IN"/>
          </a:p>
        </p:txBody>
      </p:sp>
    </p:spTree>
    <p:extLst>
      <p:ext uri="{BB962C8B-B14F-4D97-AF65-F5344CB8AC3E}">
        <p14:creationId xmlns:p14="http://schemas.microsoft.com/office/powerpoint/2010/main" val="756068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This slide identifies key risks such as failures in external payroll integration, OCR inaccuracies, and performance issues in rules processing. Each risk is addressed with mitigation strategies like retry mechanisms, dead letter queues, fallback processing, and caching. This ensures system reliability and stability.</a:t>
            </a: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24</a:t>
            </a:fld>
            <a:endParaRPr lang="en-IN"/>
          </a:p>
        </p:txBody>
      </p:sp>
    </p:spTree>
    <p:extLst>
      <p:ext uri="{BB962C8B-B14F-4D97-AF65-F5344CB8AC3E}">
        <p14:creationId xmlns:p14="http://schemas.microsoft.com/office/powerpoint/2010/main" val="24066932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This slide provides references to detailed design documents. The HLD explains the overall architecture and design decisions, while the LLD contains detailed implementation-level specifications such as configurations and database design. The API specification defines all endpoints and integration details for the system.</a:t>
            </a: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25</a:t>
            </a:fld>
            <a:endParaRPr lang="en-IN"/>
          </a:p>
        </p:txBody>
      </p:sp>
    </p:spTree>
    <p:extLst>
      <p:ext uri="{BB962C8B-B14F-4D97-AF65-F5344CB8AC3E}">
        <p14:creationId xmlns:p14="http://schemas.microsoft.com/office/powerpoint/2010/main" val="29193154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This slide presents real-world case studies where similar architectures and technologies have been successfully implemented. It demonstrates that the chosen design patterns such as microservices, OCR processing, payroll integration, and multi-region deployment are already proven in enterprise environments.</a:t>
            </a:r>
          </a:p>
          <a:p>
            <a:endParaRPr lang="en-IN" dirty="0"/>
          </a:p>
        </p:txBody>
      </p:sp>
      <p:sp>
        <p:nvSpPr>
          <p:cNvPr id="4" name="Slide Number Placeholder 3"/>
          <p:cNvSpPr>
            <a:spLocks noGrp="1"/>
          </p:cNvSpPr>
          <p:nvPr>
            <p:ph type="sldNum" sz="quarter" idx="5"/>
          </p:nvPr>
        </p:nvSpPr>
        <p:spPr/>
        <p:txBody>
          <a:bodyPr/>
          <a:lstStyle/>
          <a:p>
            <a:fld id="{FEDA0EC2-EFC4-461B-B358-228F68A5441D}" type="slidenum">
              <a:rPr lang="en-IN" smtClean="0"/>
              <a:t>26</a:t>
            </a:fld>
            <a:endParaRPr lang="en-IN"/>
          </a:p>
        </p:txBody>
      </p:sp>
    </p:spTree>
    <p:extLst>
      <p:ext uri="{BB962C8B-B14F-4D97-AF65-F5344CB8AC3E}">
        <p14:creationId xmlns:p14="http://schemas.microsoft.com/office/powerpoint/2010/main" val="3149878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577" y="2936367"/>
            <a:ext cx="4022312" cy="997196"/>
          </a:xfrm>
        </p:spPr>
        <p:txBody>
          <a:bodyPr anchor="b"/>
          <a:lstStyle>
            <a:lvl1pPr algn="l">
              <a:defRPr sz="3599"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577" y="4187953"/>
            <a:ext cx="4022312" cy="424603"/>
          </a:xfrm>
        </p:spPr>
        <p:txBody>
          <a:bodyPr>
            <a:spAutoFit/>
          </a:bodyPr>
          <a:lstStyle>
            <a:lvl1pPr marL="0" indent="0" algn="l">
              <a:lnSpc>
                <a:spcPct val="90000"/>
              </a:lnSpc>
              <a:buNone/>
              <a:defRPr sz="2399">
                <a:solidFill>
                  <a:schemeClr val="accent3"/>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578" y="5221924"/>
            <a:ext cx="4022312" cy="27699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6978" y="534665"/>
            <a:ext cx="1782616"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5/26/2026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578" y="6400800"/>
            <a:ext cx="1371243"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3">
            <a:alphaModFix/>
          </a:blip>
          <a:srcRect l="-2" r="-9" b="23"/>
          <a:stretch/>
        </p:blipFill>
        <p:spPr>
          <a:xfrm>
            <a:off x="5220600" y="-2"/>
            <a:ext cx="6968225" cy="6858002"/>
          </a:xfrm>
          <a:prstGeom prst="rect">
            <a:avLst/>
          </a:prstGeom>
        </p:spPr>
      </p:pic>
    </p:spTree>
    <p:extLst>
      <p:ext uri="{BB962C8B-B14F-4D97-AF65-F5344CB8AC3E}">
        <p14:creationId xmlns:p14="http://schemas.microsoft.com/office/powerpoint/2010/main" val="156554151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_comp_00.sv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_comp_02.sv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_data.sv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cognizantonline.sharepoint.com/:w:/r/sites/ADM2021LearningGoalsSettingCognizant/Shared%20Documents/General/2026/U2A/Interim%20check%20Doc/266319/Cognizant-UnifiedRewardsPlatform-HLD%20v1.0.docx?d=w8aa7da398b6d49bfbdeb49ae5888be3a&amp;csf=1&amp;web=1&amp;e=wxY4tW"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hyperlink" Target="https://cognizantonline.sharepoint.com/:w:/r/sites/ADM2021LearningGoalsSettingCognizant/Shared%20Documents/General/2026/U2A/Interim%20check%20Doc/266319/Cognizant-UnifiedRewardsPlatform-LLD%20v1.0.docx?d=we0200399275c4d42bdbf20f4e8ab4f31&amp;csf=1&amp;web=1&amp;e=MdOA6f" TargetMode="External"/><Relationship Id="rId4" Type="http://schemas.openxmlformats.org/officeDocument/2006/relationships/hyperlink" Target="https://cognizantonline.sharepoint.com/:w:/r/sites/ADM2021LearningGoalsSettingCognizant/Shared%20Documents/General/2026/U2A/Interim%20check%20Doc/266319/Cognizant-UnifiedRewardsPlatform-API%20Specification%20v1.0.docx?d=w568c5b9e24424323a76f0f1878bc2ded&amp;csf=1&amp;web=1&amp;e=jlgR9H"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4312313" y="3428999"/>
            <a:ext cx="3832228" cy="504431"/>
          </a:xfrm>
        </p:spPr>
        <p:txBody>
          <a:bodyPr>
            <a:normAutofit/>
          </a:bodyPr>
          <a:lstStyle/>
          <a:p>
            <a:r>
              <a:rPr lang="en-US" sz="2000" dirty="0"/>
              <a:t>U2A Use Case Presentation 2026</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9" name="Subtitle 5">
            <a:extLst>
              <a:ext uri="{FF2B5EF4-FFF2-40B4-BE49-F238E27FC236}">
                <a16:creationId xmlns:a16="http://schemas.microsoft.com/office/drawing/2014/main" id="{AD1FF366-0484-182B-D36C-E41FB01226CA}"/>
              </a:ext>
            </a:extLst>
          </p:cNvPr>
          <p:cNvSpPr txBox="1">
            <a:spLocks/>
          </p:cNvSpPr>
          <p:nvPr/>
        </p:nvSpPr>
        <p:spPr bwMode="white">
          <a:xfrm>
            <a:off x="822745" y="5107092"/>
            <a:ext cx="4022312" cy="387798"/>
          </a:xfrm>
          <a:prstGeom prst="rect">
            <a:avLst/>
          </a:prstGeom>
        </p:spPr>
        <p:txBody>
          <a:bodyPr vert="horz" lIns="0" tIns="0" rIns="0" bIns="0" rtlCol="0">
            <a:spAutoFit/>
          </a:bodyPr>
          <a:lstStyle>
            <a:lvl1pPr marL="0" indent="0" algn="l" defTabSz="914400" rtl="0" eaLnBrk="1" latinLnBrk="0" hangingPunct="1">
              <a:lnSpc>
                <a:spcPct val="90000"/>
              </a:lnSpc>
              <a:spcBef>
                <a:spcPts val="600"/>
              </a:spcBef>
              <a:spcAft>
                <a:spcPts val="0"/>
              </a:spcAft>
              <a:buClr>
                <a:schemeClr val="tx1"/>
              </a:buClr>
              <a:buFont typeface="Arial" panose="020B0604020202020204" pitchFamily="34" charset="0"/>
              <a:buNone/>
              <a:tabLst/>
              <a:defRPr sz="2400" b="0" kern="1200">
                <a:solidFill>
                  <a:schemeClr val="accent3"/>
                </a:solidFill>
                <a:latin typeface="+mn-lt"/>
                <a:ea typeface="+mn-ea"/>
                <a:cs typeface="+mn-cs"/>
              </a:defRPr>
            </a:lvl1pPr>
            <a:lvl2pPr marL="457200" indent="0" algn="ctr" defTabSz="914400" rtl="0" eaLnBrk="1" latinLnBrk="0" hangingPunct="1">
              <a:lnSpc>
                <a:spcPct val="110000"/>
              </a:lnSpc>
              <a:spcBef>
                <a:spcPts val="600"/>
              </a:spcBef>
              <a:spcAft>
                <a:spcPts val="0"/>
              </a:spcAft>
              <a:buClr>
                <a:schemeClr val="tx1"/>
              </a:buClr>
              <a:buFont typeface="Arial" panose="020B0604020202020204" pitchFamily="34" charset="0"/>
              <a:buNone/>
              <a:tabLst/>
              <a:defRPr sz="2000" b="0" kern="1200" baseline="0">
                <a:solidFill>
                  <a:schemeClr val="tx1"/>
                </a:solidFill>
                <a:latin typeface="+mn-lt"/>
                <a:ea typeface="+mn-ea"/>
                <a:cs typeface="+mn-cs"/>
              </a:defRPr>
            </a:lvl2pPr>
            <a:lvl3pPr marL="914400" indent="0" algn="ctr" defTabSz="914400" rtl="0" eaLnBrk="1" latinLnBrk="0" hangingPunct="1">
              <a:lnSpc>
                <a:spcPct val="110000"/>
              </a:lnSpc>
              <a:spcBef>
                <a:spcPts val="600"/>
              </a:spcBef>
              <a:spcAft>
                <a:spcPts val="0"/>
              </a:spcAft>
              <a:buClr>
                <a:schemeClr val="tx1"/>
              </a:buClr>
              <a:buFont typeface="Arial" panose="020B0604020202020204" pitchFamily="34" charset="0"/>
              <a:buNone/>
              <a:tabLst/>
              <a:defRPr sz="1800" b="0" kern="1200">
                <a:solidFill>
                  <a:schemeClr val="tx1"/>
                </a:solidFill>
                <a:latin typeface="+mn-lt"/>
                <a:ea typeface="+mn-ea"/>
                <a:cs typeface="+mn-cs"/>
              </a:defRPr>
            </a:lvl3pPr>
            <a:lvl4pPr marL="1371600" indent="0" algn="ctr" defTabSz="914400" rtl="0" eaLnBrk="1" latinLnBrk="0" hangingPunct="1">
              <a:lnSpc>
                <a:spcPct val="110000"/>
              </a:lnSpc>
              <a:spcBef>
                <a:spcPts val="600"/>
              </a:spcBef>
              <a:spcAft>
                <a:spcPts val="0"/>
              </a:spcAft>
              <a:buClr>
                <a:schemeClr val="tx1"/>
              </a:buClr>
              <a:buFont typeface="Arial" panose="020B0604020202020204" pitchFamily="34" charset="0"/>
              <a:buNone/>
              <a:tabLst/>
              <a:defRPr sz="1600" b="0" kern="1200">
                <a:solidFill>
                  <a:schemeClr val="tx1"/>
                </a:solidFill>
                <a:latin typeface="+mn-lt"/>
                <a:ea typeface="+mn-ea"/>
                <a:cs typeface="+mn-cs"/>
              </a:defRPr>
            </a:lvl4pPr>
            <a:lvl5pPr marL="1828800" indent="0" algn="ctr" defTabSz="914400" rtl="0" eaLnBrk="1" latinLnBrk="0" hangingPunct="1">
              <a:lnSpc>
                <a:spcPct val="110000"/>
              </a:lnSpc>
              <a:spcBef>
                <a:spcPts val="600"/>
              </a:spcBef>
              <a:spcAft>
                <a:spcPts val="0"/>
              </a:spcAft>
              <a:buClr>
                <a:schemeClr val="tx1"/>
              </a:buClr>
              <a:buFont typeface="Arial" panose="020B0604020202020204" pitchFamily="34" charset="0"/>
              <a:buNone/>
              <a:tabLst/>
              <a:defRPr sz="1600" b="0" kern="1200">
                <a:solidFill>
                  <a:schemeClr val="tx1"/>
                </a:solidFill>
                <a:latin typeface="+mn-lt"/>
                <a:ea typeface="+mn-ea"/>
                <a:cs typeface="+mn-cs"/>
              </a:defRPr>
            </a:lvl5pPr>
            <a:lvl6pPr marL="2286000" indent="0" algn="ctr" defTabSz="914400" rtl="0" eaLnBrk="1" latinLnBrk="0" hangingPunct="1">
              <a:lnSpc>
                <a:spcPct val="110000"/>
              </a:lnSpc>
              <a:spcBef>
                <a:spcPts val="6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10000"/>
              </a:lnSpc>
              <a:spcBef>
                <a:spcPts val="6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10000"/>
              </a:lnSpc>
              <a:spcBef>
                <a:spcPts val="6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10000"/>
              </a:lnSpc>
              <a:spcBef>
                <a:spcPts val="600"/>
              </a:spcBef>
              <a:buFont typeface="Arial" panose="020B0604020202020204" pitchFamily="34" charset="0"/>
              <a:buNone/>
              <a:defRPr sz="1600" kern="1200">
                <a:solidFill>
                  <a:schemeClr val="tx1"/>
                </a:solidFill>
                <a:latin typeface="+mn-lt"/>
                <a:ea typeface="+mn-ea"/>
                <a:cs typeface="+mn-cs"/>
              </a:defRPr>
            </a:lvl9pPr>
          </a:lstStyle>
          <a:p>
            <a:r>
              <a:rPr lang="en-US" sz="2800" dirty="0"/>
              <a:t>266319 – Sandhya S</a:t>
            </a:r>
          </a:p>
        </p:txBody>
      </p:sp>
      <p:sp>
        <p:nvSpPr>
          <p:cNvPr id="7" name="TextBox 6">
            <a:extLst>
              <a:ext uri="{FF2B5EF4-FFF2-40B4-BE49-F238E27FC236}">
                <a16:creationId xmlns:a16="http://schemas.microsoft.com/office/drawing/2014/main" id="{18F03A40-8359-C478-28EB-42F078DB1537}"/>
              </a:ext>
            </a:extLst>
          </p:cNvPr>
          <p:cNvSpPr txBox="1"/>
          <p:nvPr/>
        </p:nvSpPr>
        <p:spPr>
          <a:xfrm>
            <a:off x="3144323" y="1832201"/>
            <a:ext cx="6092456" cy="707886"/>
          </a:xfrm>
          <a:prstGeom prst="rect">
            <a:avLst/>
          </a:prstGeom>
          <a:noFill/>
        </p:spPr>
        <p:txBody>
          <a:bodyPr wrap="square">
            <a:spAutoFit/>
          </a:bodyPr>
          <a:lstStyle/>
          <a:p>
            <a:pPr algn="ctr"/>
            <a:r>
              <a:rPr lang="en-IN" sz="4000" b="1" i="0" dirty="0">
                <a:solidFill>
                  <a:srgbClr val="FFFFFF"/>
                </a:solidFill>
                <a:latin typeface="Calibri"/>
              </a:rPr>
              <a:t>Unified Rewards Platform</a:t>
            </a:r>
          </a:p>
        </p:txBody>
      </p:sp>
      <p:sp>
        <p:nvSpPr>
          <p:cNvPr id="10" name="TextBox 9">
            <a:extLst>
              <a:ext uri="{FF2B5EF4-FFF2-40B4-BE49-F238E27FC236}">
                <a16:creationId xmlns:a16="http://schemas.microsoft.com/office/drawing/2014/main" id="{F2764654-8EF2-F228-13C6-59D30EB2F64C}"/>
              </a:ext>
            </a:extLst>
          </p:cNvPr>
          <p:cNvSpPr txBox="1"/>
          <p:nvPr/>
        </p:nvSpPr>
        <p:spPr>
          <a:xfrm>
            <a:off x="1158949" y="2651763"/>
            <a:ext cx="9941442" cy="461665"/>
          </a:xfrm>
          <a:prstGeom prst="rect">
            <a:avLst/>
          </a:prstGeom>
          <a:noFill/>
        </p:spPr>
        <p:txBody>
          <a:bodyPr wrap="square">
            <a:spAutoFit/>
          </a:bodyPr>
          <a:lstStyle/>
          <a:p>
            <a:pPr algn="ctr"/>
            <a:r>
              <a:rPr lang="en-IN" sz="2400" b="0" i="1" dirty="0">
                <a:solidFill>
                  <a:srgbClr val="AECEE8"/>
                </a:solidFill>
                <a:latin typeface="Calibri"/>
              </a:rPr>
              <a:t>Enterprise Employee Benefits &amp; Compensation Management Platform</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Agenda</a:t>
            </a:r>
          </a:p>
        </p:txBody>
      </p:sp>
      <p:sp>
        <p:nvSpPr>
          <p:cNvPr id="5" name="Rectangle 4"/>
          <p:cNvSpPr/>
          <p:nvPr/>
        </p:nvSpPr>
        <p:spPr>
          <a:xfrm>
            <a:off x="548640" y="1143000"/>
            <a:ext cx="54864" cy="5303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52728"/>
            <a:ext cx="5394960" cy="384048"/>
          </a:xfrm>
          <a:prstGeom prst="rect">
            <a:avLst/>
          </a:prstGeom>
          <a:noFill/>
        </p:spPr>
        <p:txBody>
          <a:bodyPr wrap="square">
            <a:spAutoFit/>
          </a:bodyPr>
          <a:lstStyle/>
          <a:p>
            <a:pPr algn="l"/>
            <a:r>
              <a:rPr sz="1600" b="1" i="0">
                <a:solidFill>
                  <a:srgbClr val="1F4E79"/>
                </a:solidFill>
                <a:latin typeface="Calibri"/>
              </a:rPr>
              <a:t>01   Use Case Details</a:t>
            </a:r>
          </a:p>
        </p:txBody>
      </p:sp>
      <p:sp>
        <p:nvSpPr>
          <p:cNvPr id="7" name="Rectangle 6"/>
          <p:cNvSpPr/>
          <p:nvPr/>
        </p:nvSpPr>
        <p:spPr>
          <a:xfrm>
            <a:off x="548640" y="1911096"/>
            <a:ext cx="54864" cy="5303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020824"/>
            <a:ext cx="5394960" cy="384048"/>
          </a:xfrm>
          <a:prstGeom prst="rect">
            <a:avLst/>
          </a:prstGeom>
          <a:noFill/>
        </p:spPr>
        <p:txBody>
          <a:bodyPr wrap="square">
            <a:spAutoFit/>
          </a:bodyPr>
          <a:lstStyle/>
          <a:p>
            <a:pPr algn="l"/>
            <a:r>
              <a:rPr sz="1600" b="1" i="0">
                <a:solidFill>
                  <a:srgbClr val="1F4E79"/>
                </a:solidFill>
                <a:latin typeface="Calibri"/>
              </a:rPr>
              <a:t>02   Scope Definition</a:t>
            </a:r>
          </a:p>
        </p:txBody>
      </p:sp>
      <p:sp>
        <p:nvSpPr>
          <p:cNvPr id="9" name="Rectangle 8"/>
          <p:cNvSpPr/>
          <p:nvPr/>
        </p:nvSpPr>
        <p:spPr>
          <a:xfrm>
            <a:off x="548640" y="2679192"/>
            <a:ext cx="54864" cy="5303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788920"/>
            <a:ext cx="5394960" cy="384048"/>
          </a:xfrm>
          <a:prstGeom prst="rect">
            <a:avLst/>
          </a:prstGeom>
          <a:noFill/>
        </p:spPr>
        <p:txBody>
          <a:bodyPr wrap="square">
            <a:spAutoFit/>
          </a:bodyPr>
          <a:lstStyle/>
          <a:p>
            <a:pPr algn="l"/>
            <a:r>
              <a:rPr sz="1600" b="1" i="0">
                <a:solidFill>
                  <a:srgbClr val="1F4E79"/>
                </a:solidFill>
                <a:latin typeface="Calibri"/>
              </a:rPr>
              <a:t>03   Assumptions</a:t>
            </a:r>
          </a:p>
        </p:txBody>
      </p:sp>
      <p:sp>
        <p:nvSpPr>
          <p:cNvPr id="11" name="Rectangle 10"/>
          <p:cNvSpPr/>
          <p:nvPr/>
        </p:nvSpPr>
        <p:spPr>
          <a:xfrm>
            <a:off x="548640" y="3447288"/>
            <a:ext cx="54864" cy="5303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557016"/>
            <a:ext cx="5394960" cy="384048"/>
          </a:xfrm>
          <a:prstGeom prst="rect">
            <a:avLst/>
          </a:prstGeom>
          <a:noFill/>
        </p:spPr>
        <p:txBody>
          <a:bodyPr wrap="square">
            <a:spAutoFit/>
          </a:bodyPr>
          <a:lstStyle/>
          <a:p>
            <a:pPr algn="l"/>
            <a:r>
              <a:rPr sz="1600" b="1" i="0">
                <a:solidFill>
                  <a:srgbClr val="1F4E79"/>
                </a:solidFill>
                <a:latin typeface="Calibri"/>
              </a:rPr>
              <a:t>04   Business Requirements</a:t>
            </a:r>
          </a:p>
        </p:txBody>
      </p:sp>
      <p:sp>
        <p:nvSpPr>
          <p:cNvPr id="13" name="Rectangle 12"/>
          <p:cNvSpPr/>
          <p:nvPr/>
        </p:nvSpPr>
        <p:spPr>
          <a:xfrm>
            <a:off x="548640" y="4215384"/>
            <a:ext cx="54864" cy="5303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325112"/>
            <a:ext cx="5394960" cy="384048"/>
          </a:xfrm>
          <a:prstGeom prst="rect">
            <a:avLst/>
          </a:prstGeom>
          <a:noFill/>
        </p:spPr>
        <p:txBody>
          <a:bodyPr wrap="square">
            <a:spAutoFit/>
          </a:bodyPr>
          <a:lstStyle/>
          <a:p>
            <a:pPr algn="l"/>
            <a:r>
              <a:rPr sz="1600" b="1" i="0">
                <a:solidFill>
                  <a:srgbClr val="1F4E79"/>
                </a:solidFill>
                <a:latin typeface="Calibri"/>
              </a:rPr>
              <a:t>05   NFRs</a:t>
            </a:r>
          </a:p>
        </p:txBody>
      </p:sp>
      <p:sp>
        <p:nvSpPr>
          <p:cNvPr id="15" name="Rectangle 14"/>
          <p:cNvSpPr/>
          <p:nvPr/>
        </p:nvSpPr>
        <p:spPr>
          <a:xfrm>
            <a:off x="548640" y="4983480"/>
            <a:ext cx="54864" cy="5303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5093208"/>
            <a:ext cx="5394960" cy="384048"/>
          </a:xfrm>
          <a:prstGeom prst="rect">
            <a:avLst/>
          </a:prstGeom>
          <a:noFill/>
        </p:spPr>
        <p:txBody>
          <a:bodyPr wrap="square">
            <a:spAutoFit/>
          </a:bodyPr>
          <a:lstStyle/>
          <a:p>
            <a:pPr algn="l"/>
            <a:r>
              <a:rPr sz="1600" b="1" i="0">
                <a:solidFill>
                  <a:srgbClr val="1F4E79"/>
                </a:solidFill>
                <a:latin typeface="Calibri"/>
              </a:rPr>
              <a:t>06   Architecture Diagrams</a:t>
            </a:r>
          </a:p>
        </p:txBody>
      </p:sp>
      <p:sp>
        <p:nvSpPr>
          <p:cNvPr id="17" name="Rectangle 16"/>
          <p:cNvSpPr/>
          <p:nvPr/>
        </p:nvSpPr>
        <p:spPr>
          <a:xfrm>
            <a:off x="548640" y="5751576"/>
            <a:ext cx="54864" cy="5303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861304"/>
            <a:ext cx="5394960" cy="384048"/>
          </a:xfrm>
          <a:prstGeom prst="rect">
            <a:avLst/>
          </a:prstGeom>
          <a:noFill/>
        </p:spPr>
        <p:txBody>
          <a:bodyPr wrap="square">
            <a:spAutoFit/>
          </a:bodyPr>
          <a:lstStyle/>
          <a:p>
            <a:pPr algn="l"/>
            <a:r>
              <a:rPr sz="1600" b="1" i="0">
                <a:solidFill>
                  <a:srgbClr val="1F4E79"/>
                </a:solidFill>
                <a:latin typeface="Calibri"/>
              </a:rPr>
              <a:t>07   Tech Stack</a:t>
            </a:r>
          </a:p>
        </p:txBody>
      </p:sp>
      <p:sp>
        <p:nvSpPr>
          <p:cNvPr id="19" name="Rectangle 18"/>
          <p:cNvSpPr/>
          <p:nvPr/>
        </p:nvSpPr>
        <p:spPr>
          <a:xfrm>
            <a:off x="6492240" y="1143000"/>
            <a:ext cx="54864" cy="5303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75120" y="1252728"/>
            <a:ext cx="5394960" cy="384048"/>
          </a:xfrm>
          <a:prstGeom prst="rect">
            <a:avLst/>
          </a:prstGeom>
          <a:noFill/>
        </p:spPr>
        <p:txBody>
          <a:bodyPr wrap="square">
            <a:spAutoFit/>
          </a:bodyPr>
          <a:lstStyle/>
          <a:p>
            <a:pPr algn="l"/>
            <a:r>
              <a:rPr sz="1600" b="0" i="0">
                <a:solidFill>
                  <a:srgbClr val="1F4E79"/>
                </a:solidFill>
                <a:latin typeface="Calibri"/>
              </a:rPr>
              <a:t>08   AI Usage and Metrics</a:t>
            </a:r>
          </a:p>
        </p:txBody>
      </p:sp>
      <p:sp>
        <p:nvSpPr>
          <p:cNvPr id="21" name="Rectangle 20"/>
          <p:cNvSpPr/>
          <p:nvPr/>
        </p:nvSpPr>
        <p:spPr>
          <a:xfrm>
            <a:off x="6492240" y="1911096"/>
            <a:ext cx="54864" cy="5303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0" y="2020824"/>
            <a:ext cx="5394960" cy="384048"/>
          </a:xfrm>
          <a:prstGeom prst="rect">
            <a:avLst/>
          </a:prstGeom>
          <a:noFill/>
        </p:spPr>
        <p:txBody>
          <a:bodyPr wrap="square">
            <a:spAutoFit/>
          </a:bodyPr>
          <a:lstStyle/>
          <a:p>
            <a:pPr algn="l"/>
            <a:r>
              <a:rPr sz="1600" b="0" i="0">
                <a:solidFill>
                  <a:srgbClr val="1F4E79"/>
                </a:solidFill>
                <a:latin typeface="Calibri"/>
              </a:rPr>
              <a:t>09   Advantages</a:t>
            </a:r>
          </a:p>
        </p:txBody>
      </p:sp>
      <p:sp>
        <p:nvSpPr>
          <p:cNvPr id="23" name="Rectangle 22"/>
          <p:cNvSpPr/>
          <p:nvPr/>
        </p:nvSpPr>
        <p:spPr>
          <a:xfrm>
            <a:off x="6492240" y="2679192"/>
            <a:ext cx="54864" cy="5303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75120" y="2788920"/>
            <a:ext cx="5394960" cy="384048"/>
          </a:xfrm>
          <a:prstGeom prst="rect">
            <a:avLst/>
          </a:prstGeom>
          <a:noFill/>
        </p:spPr>
        <p:txBody>
          <a:bodyPr wrap="square">
            <a:spAutoFit/>
          </a:bodyPr>
          <a:lstStyle/>
          <a:p>
            <a:pPr algn="l"/>
            <a:r>
              <a:rPr sz="1600" b="0" i="0">
                <a:solidFill>
                  <a:srgbClr val="1F4E79"/>
                </a:solidFill>
                <a:latin typeface="Calibri"/>
              </a:rPr>
              <a:t>10   Estimations and Implementation Plan</a:t>
            </a:r>
          </a:p>
        </p:txBody>
      </p:sp>
      <p:sp>
        <p:nvSpPr>
          <p:cNvPr id="25" name="Rectangle 24"/>
          <p:cNvSpPr/>
          <p:nvPr/>
        </p:nvSpPr>
        <p:spPr>
          <a:xfrm>
            <a:off x="6492240" y="3447288"/>
            <a:ext cx="54864" cy="5303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75120" y="3557016"/>
            <a:ext cx="5394960" cy="384048"/>
          </a:xfrm>
          <a:prstGeom prst="rect">
            <a:avLst/>
          </a:prstGeom>
          <a:noFill/>
        </p:spPr>
        <p:txBody>
          <a:bodyPr wrap="square">
            <a:spAutoFit/>
          </a:bodyPr>
          <a:lstStyle/>
          <a:p>
            <a:pPr algn="l"/>
            <a:r>
              <a:rPr sz="1600" b="0" i="0">
                <a:solidFill>
                  <a:srgbClr val="1F4E79"/>
                </a:solidFill>
                <a:latin typeface="Calibri"/>
              </a:rPr>
              <a:t>11   Risks and Mitigations</a:t>
            </a:r>
          </a:p>
        </p:txBody>
      </p:sp>
      <p:sp>
        <p:nvSpPr>
          <p:cNvPr id="27" name="Rectangle 26"/>
          <p:cNvSpPr/>
          <p:nvPr/>
        </p:nvSpPr>
        <p:spPr>
          <a:xfrm>
            <a:off x="6492240" y="4215384"/>
            <a:ext cx="54864" cy="5303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75120" y="4325112"/>
            <a:ext cx="5394960" cy="384048"/>
          </a:xfrm>
          <a:prstGeom prst="rect">
            <a:avLst/>
          </a:prstGeom>
          <a:noFill/>
        </p:spPr>
        <p:txBody>
          <a:bodyPr wrap="square">
            <a:spAutoFit/>
          </a:bodyPr>
          <a:lstStyle/>
          <a:p>
            <a:pPr algn="l"/>
            <a:r>
              <a:rPr sz="1600" b="0" i="0">
                <a:solidFill>
                  <a:srgbClr val="1F4E79"/>
                </a:solidFill>
                <a:latin typeface="Calibri"/>
              </a:rPr>
              <a:t>12   Link to LLD and HLD</a:t>
            </a:r>
          </a:p>
        </p:txBody>
      </p:sp>
      <p:sp>
        <p:nvSpPr>
          <p:cNvPr id="29" name="Rectangle 28"/>
          <p:cNvSpPr/>
          <p:nvPr/>
        </p:nvSpPr>
        <p:spPr>
          <a:xfrm>
            <a:off x="6492240" y="4983480"/>
            <a:ext cx="54864" cy="5303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75120" y="5093208"/>
            <a:ext cx="5394960" cy="384048"/>
          </a:xfrm>
          <a:prstGeom prst="rect">
            <a:avLst/>
          </a:prstGeom>
          <a:noFill/>
        </p:spPr>
        <p:txBody>
          <a:bodyPr wrap="square">
            <a:spAutoFit/>
          </a:bodyPr>
          <a:lstStyle/>
          <a:p>
            <a:pPr algn="l"/>
            <a:r>
              <a:rPr sz="1600" b="0" i="0">
                <a:solidFill>
                  <a:srgbClr val="1F4E79"/>
                </a:solidFill>
                <a:latin typeface="Calibri"/>
              </a:rPr>
              <a:t>13   Case Studies</a:t>
            </a:r>
          </a:p>
        </p:txBody>
      </p:sp>
      <p:sp>
        <p:nvSpPr>
          <p:cNvPr id="31" name="TextBox 30"/>
          <p:cNvSpPr txBox="1"/>
          <p:nvPr/>
        </p:nvSpPr>
        <p:spPr>
          <a:xfrm>
            <a:off x="548640" y="6492240"/>
            <a:ext cx="11091672" cy="274320"/>
          </a:xfrm>
          <a:prstGeom prst="rect">
            <a:avLst/>
          </a:prstGeom>
          <a:noFill/>
        </p:spPr>
        <p:txBody>
          <a:bodyPr wrap="square">
            <a:spAutoFit/>
          </a:bodyPr>
          <a:lstStyle/>
          <a:p>
            <a:pPr algn="l"/>
            <a:r>
              <a:rPr sz="1000" b="0" i="1">
                <a:solidFill>
                  <a:srgbClr val="CCCCCC"/>
                </a:solidFill>
                <a:latin typeface="Calibri"/>
              </a:rPr>
              <a:t>All 13 agenda items as per the U2A Use Case Presentation 2026 template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0"/>
            <a:ext cx="12188952" cy="14630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017520"/>
            <a:ext cx="10725912" cy="822960"/>
          </a:xfrm>
          <a:prstGeom prst="rect">
            <a:avLst/>
          </a:prstGeom>
          <a:noFill/>
        </p:spPr>
        <p:txBody>
          <a:bodyPr wrap="square">
            <a:spAutoFit/>
          </a:bodyPr>
          <a:lstStyle/>
          <a:p>
            <a:pPr algn="ctr"/>
            <a:r>
              <a:rPr sz="3800" b="1" i="0">
                <a:solidFill>
                  <a:srgbClr val="FFFFFF"/>
                </a:solidFill>
                <a:latin typeface="Calibri"/>
              </a:rPr>
              <a:t>01  Use Case Details</a:t>
            </a:r>
          </a:p>
        </p:txBody>
      </p:sp>
      <p:sp>
        <p:nvSpPr>
          <p:cNvPr id="5" name="TextBox 4"/>
          <p:cNvSpPr txBox="1"/>
          <p:nvPr/>
        </p:nvSpPr>
        <p:spPr>
          <a:xfrm>
            <a:off x="731520" y="3931920"/>
            <a:ext cx="10725912" cy="457200"/>
          </a:xfrm>
          <a:prstGeom prst="rect">
            <a:avLst/>
          </a:prstGeom>
          <a:noFill/>
        </p:spPr>
        <p:txBody>
          <a:bodyPr wrap="square">
            <a:spAutoFit/>
          </a:bodyPr>
          <a:lstStyle/>
          <a:p>
            <a:pPr algn="ctr"/>
            <a:r>
              <a:rPr sz="1600" b="0" i="1">
                <a:solidFill>
                  <a:srgbClr val="AECEE8"/>
                </a:solidFill>
                <a:latin typeface="Calibri"/>
              </a:rPr>
              <a:t>Problem Statement  ·  Proposed Solution  ·  System Context  ·  Use Cases</a:t>
            </a:r>
          </a:p>
        </p:txBody>
      </p:sp>
      <p:sp>
        <p:nvSpPr>
          <p:cNvPr id="6" name="TextBox 5"/>
          <p:cNvSpPr txBox="1"/>
          <p:nvPr/>
        </p:nvSpPr>
        <p:spPr>
          <a:xfrm>
            <a:off x="457200" y="6492240"/>
            <a:ext cx="11274552" cy="274320"/>
          </a:xfrm>
          <a:prstGeom prst="rect">
            <a:avLst/>
          </a:prstGeom>
          <a:noFill/>
        </p:spPr>
        <p:txBody>
          <a:bodyPr wrap="square">
            <a:spAutoFit/>
          </a:bodyPr>
          <a:lstStyle/>
          <a:p>
            <a:pPr algn="ctr"/>
            <a:r>
              <a:rPr sz="1000" b="0" i="0">
                <a:solidFill>
                  <a:srgbClr val="70A0C0"/>
                </a:solidFill>
                <a:latin typeface="Calibri"/>
              </a:rPr>
              <a:t>© 2025–2027 Cognizant | Private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Use Case Details — Problem Statement &amp; Proposed Solution</a:t>
            </a:r>
          </a:p>
        </p:txBody>
      </p:sp>
      <p:sp>
        <p:nvSpPr>
          <p:cNvPr id="5" name="Rectangle 4"/>
          <p:cNvSpPr/>
          <p:nvPr/>
        </p:nvSpPr>
        <p:spPr>
          <a:xfrm>
            <a:off x="365760" y="1097280"/>
            <a:ext cx="539496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97280"/>
            <a:ext cx="539496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52144"/>
            <a:ext cx="5212080" cy="320040"/>
          </a:xfrm>
          <a:prstGeom prst="rect">
            <a:avLst/>
          </a:prstGeom>
          <a:noFill/>
        </p:spPr>
        <p:txBody>
          <a:bodyPr wrap="square">
            <a:spAutoFit/>
          </a:bodyPr>
          <a:lstStyle/>
          <a:p>
            <a:pPr algn="l"/>
            <a:r>
              <a:rPr sz="1500" b="1" i="0">
                <a:solidFill>
                  <a:srgbClr val="FFFFFF"/>
                </a:solidFill>
                <a:latin typeface="Calibri"/>
              </a:rPr>
              <a:t>Problem Statement</a:t>
            </a:r>
          </a:p>
        </p:txBody>
      </p:sp>
      <p:sp>
        <p:nvSpPr>
          <p:cNvPr id="8" name="Rectangle 7"/>
          <p:cNvSpPr/>
          <p:nvPr/>
        </p:nvSpPr>
        <p:spPr>
          <a:xfrm>
            <a:off x="457200" y="1600200"/>
            <a:ext cx="5212080" cy="777240"/>
          </a:xfrm>
          <a:prstGeom prst="rect">
            <a:avLst/>
          </a:prstGeom>
          <a:solidFill>
            <a:srgbClr val="FCE4D6"/>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50">
                <a:solidFill>
                  <a:srgbClr val="C00000"/>
                </a:solidFill>
                <a:latin typeface="Calibri"/>
              </a:rPr>
              <a:t>"A configurable platform for enterprises to manage employee benefits, reimbursements, bonuses, and flexible compensation structures."</a:t>
            </a:r>
          </a:p>
        </p:txBody>
      </p:sp>
      <p:sp>
        <p:nvSpPr>
          <p:cNvPr id="9" name="TextBox 8"/>
          <p:cNvSpPr txBox="1"/>
          <p:nvPr/>
        </p:nvSpPr>
        <p:spPr>
          <a:xfrm>
            <a:off x="457200" y="2487168"/>
            <a:ext cx="5212080" cy="347472"/>
          </a:xfrm>
          <a:prstGeom prst="rect">
            <a:avLst/>
          </a:prstGeom>
          <a:noFill/>
        </p:spPr>
        <p:txBody>
          <a:bodyPr wrap="square">
            <a:spAutoFit/>
          </a:bodyPr>
          <a:lstStyle/>
          <a:p>
            <a:pPr algn="l"/>
            <a:r>
              <a:rPr sz="1300" b="1" i="0">
                <a:solidFill>
                  <a:srgbClr val="1F4E79"/>
                </a:solidFill>
                <a:latin typeface="Calibri"/>
              </a:rPr>
              <a:t>Business Domain &amp; Scale</a:t>
            </a:r>
          </a:p>
        </p:txBody>
      </p:sp>
      <p:sp>
        <p:nvSpPr>
          <p:cNvPr id="10" name="TextBox 9"/>
          <p:cNvSpPr txBox="1"/>
          <p:nvPr/>
        </p:nvSpPr>
        <p:spPr>
          <a:xfrm>
            <a:off x="457200" y="2834640"/>
            <a:ext cx="5212080" cy="914400"/>
          </a:xfrm>
          <a:prstGeom prst="rect">
            <a:avLst/>
          </a:prstGeom>
          <a:noFill/>
        </p:spPr>
        <p:txBody>
          <a:bodyPr wrap="square">
            <a:spAutoFit/>
          </a:bodyPr>
          <a:lstStyle/>
          <a:p>
            <a:pPr>
              <a:spcBef>
                <a:spcPts val="300"/>
              </a:spcBef>
            </a:pPr>
            <a:r>
              <a:rPr sz="1300">
                <a:solidFill>
                  <a:srgbClr val="444444"/>
                </a:solidFill>
                <a:latin typeface="Calibri"/>
              </a:rPr>
              <a:t>▸  Domain: HR Tech / Enterprise SaaS</a:t>
            </a:r>
          </a:p>
          <a:p>
            <a:pPr>
              <a:spcBef>
                <a:spcPts val="300"/>
              </a:spcBef>
            </a:pPr>
            <a:r>
              <a:rPr sz="1300">
                <a:solidFill>
                  <a:srgbClr val="444444"/>
                </a:solidFill>
                <a:latin typeface="Calibri"/>
              </a:rPr>
              <a:t>▸  Scale: Large enterprise</a:t>
            </a:r>
          </a:p>
          <a:p>
            <a:pPr>
              <a:spcBef>
                <a:spcPts val="300"/>
              </a:spcBef>
            </a:pPr>
            <a:r>
              <a:rPr sz="1300">
                <a:solidFill>
                  <a:srgbClr val="444444"/>
                </a:solidFill>
                <a:latin typeface="Calibri"/>
              </a:rPr>
              <a:t>▸  Cloud: Microsoft Azure (selected from AWS or Azure)</a:t>
            </a:r>
          </a:p>
        </p:txBody>
      </p:sp>
      <p:sp>
        <p:nvSpPr>
          <p:cNvPr id="11" name="TextBox 10"/>
          <p:cNvSpPr txBox="1"/>
          <p:nvPr/>
        </p:nvSpPr>
        <p:spPr>
          <a:xfrm>
            <a:off x="457200" y="3840480"/>
            <a:ext cx="5212080" cy="347472"/>
          </a:xfrm>
          <a:prstGeom prst="rect">
            <a:avLst/>
          </a:prstGeom>
          <a:noFill/>
        </p:spPr>
        <p:txBody>
          <a:bodyPr wrap="square">
            <a:spAutoFit/>
          </a:bodyPr>
          <a:lstStyle/>
          <a:p>
            <a:pPr algn="l"/>
            <a:r>
              <a:rPr sz="1300" b="1" i="0">
                <a:solidFill>
                  <a:srgbClr val="1F4E79"/>
                </a:solidFill>
                <a:latin typeface="Calibri"/>
              </a:rPr>
              <a:t>Key Capabilities Required</a:t>
            </a:r>
          </a:p>
        </p:txBody>
      </p:sp>
      <p:sp>
        <p:nvSpPr>
          <p:cNvPr id="12" name="TextBox 11"/>
          <p:cNvSpPr txBox="1"/>
          <p:nvPr/>
        </p:nvSpPr>
        <p:spPr>
          <a:xfrm>
            <a:off x="457200" y="4187952"/>
            <a:ext cx="5212080" cy="1737360"/>
          </a:xfrm>
          <a:prstGeom prst="rect">
            <a:avLst/>
          </a:prstGeom>
          <a:noFill/>
        </p:spPr>
        <p:txBody>
          <a:bodyPr wrap="square">
            <a:spAutoFit/>
          </a:bodyPr>
          <a:lstStyle/>
          <a:p>
            <a:pPr>
              <a:spcBef>
                <a:spcPts val="300"/>
              </a:spcBef>
            </a:pPr>
            <a:r>
              <a:rPr sz="1300">
                <a:solidFill>
                  <a:srgbClr val="444444"/>
                </a:solidFill>
                <a:latin typeface="Calibri"/>
              </a:rPr>
              <a:t>▸  Benefits catalogue — insurance, LTA, food cards</a:t>
            </a:r>
          </a:p>
          <a:p>
            <a:pPr>
              <a:spcBef>
                <a:spcPts val="300"/>
              </a:spcBef>
            </a:pPr>
            <a:r>
              <a:rPr sz="1300">
                <a:solidFill>
                  <a:srgbClr val="444444"/>
                </a:solidFill>
                <a:latin typeface="Calibri"/>
              </a:rPr>
              <a:t>▸  Flexible pay / compensation configuration</a:t>
            </a:r>
          </a:p>
          <a:p>
            <a:pPr>
              <a:spcBef>
                <a:spcPts val="300"/>
              </a:spcBef>
            </a:pPr>
            <a:r>
              <a:rPr sz="1300">
                <a:solidFill>
                  <a:srgbClr val="444444"/>
                </a:solidFill>
                <a:latin typeface="Calibri"/>
              </a:rPr>
              <a:t>▸  Reimbursement workflow — claims and approvals</a:t>
            </a:r>
          </a:p>
          <a:p>
            <a:pPr>
              <a:spcBef>
                <a:spcPts val="300"/>
              </a:spcBef>
            </a:pPr>
            <a:r>
              <a:rPr sz="1300">
                <a:solidFill>
                  <a:srgbClr val="444444"/>
                </a:solidFill>
                <a:latin typeface="Calibri"/>
              </a:rPr>
              <a:t>▸  Payroll system integration</a:t>
            </a:r>
          </a:p>
          <a:p>
            <a:pPr>
              <a:spcBef>
                <a:spcPts val="300"/>
              </a:spcBef>
            </a:pPr>
            <a:r>
              <a:rPr sz="1300">
                <a:solidFill>
                  <a:srgbClr val="444444"/>
                </a:solidFill>
                <a:latin typeface="Calibri"/>
              </a:rPr>
              <a:t>▸  Analytics &amp; compliance reporting</a:t>
            </a:r>
          </a:p>
        </p:txBody>
      </p:sp>
      <p:sp>
        <p:nvSpPr>
          <p:cNvPr id="13" name="TextBox 12"/>
          <p:cNvSpPr txBox="1"/>
          <p:nvPr/>
        </p:nvSpPr>
        <p:spPr>
          <a:xfrm>
            <a:off x="365760" y="6537960"/>
            <a:ext cx="11640312" cy="274320"/>
          </a:xfrm>
          <a:prstGeom prst="rect">
            <a:avLst/>
          </a:prstGeom>
          <a:noFill/>
        </p:spPr>
        <p:txBody>
          <a:bodyPr wrap="square">
            <a:spAutoFit/>
          </a:bodyPr>
          <a:lstStyle/>
          <a:p>
            <a:pPr algn="l"/>
            <a:r>
              <a:rPr sz="1000" b="0" i="1">
                <a:solidFill>
                  <a:srgbClr val="888888"/>
                </a:solidFill>
                <a:latin typeface="Calibri"/>
              </a:rPr>
              <a:t>Source: Requirement_Document.docx — Problem Statement section</a:t>
            </a:r>
          </a:p>
        </p:txBody>
      </p:sp>
      <p:sp>
        <p:nvSpPr>
          <p:cNvPr id="14" name="Rectangle 13"/>
          <p:cNvSpPr/>
          <p:nvPr/>
        </p:nvSpPr>
        <p:spPr>
          <a:xfrm>
            <a:off x="6126480" y="1097280"/>
            <a:ext cx="566928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1097280"/>
            <a:ext cx="5669280" cy="4114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1152144"/>
            <a:ext cx="5486400" cy="320040"/>
          </a:xfrm>
          <a:prstGeom prst="rect">
            <a:avLst/>
          </a:prstGeom>
          <a:noFill/>
        </p:spPr>
        <p:txBody>
          <a:bodyPr wrap="square">
            <a:spAutoFit/>
          </a:bodyPr>
          <a:lstStyle/>
          <a:p>
            <a:pPr algn="l"/>
            <a:r>
              <a:rPr sz="1500" b="1" i="0">
                <a:solidFill>
                  <a:srgbClr val="FFFFFF"/>
                </a:solidFill>
                <a:latin typeface="Calibri"/>
              </a:rPr>
              <a:t>Proposed Solution</a:t>
            </a:r>
          </a:p>
        </p:txBody>
      </p:sp>
      <p:sp>
        <p:nvSpPr>
          <p:cNvPr id="17" name="TextBox 16"/>
          <p:cNvSpPr txBox="1"/>
          <p:nvPr/>
        </p:nvSpPr>
        <p:spPr>
          <a:xfrm>
            <a:off x="6217920" y="1600200"/>
            <a:ext cx="5486400" cy="320040"/>
          </a:xfrm>
          <a:prstGeom prst="rect">
            <a:avLst/>
          </a:prstGeom>
          <a:noFill/>
        </p:spPr>
        <p:txBody>
          <a:bodyPr wrap="square">
            <a:spAutoFit/>
          </a:bodyPr>
          <a:lstStyle/>
          <a:p>
            <a:pPr algn="l"/>
            <a:r>
              <a:rPr sz="1300" b="1" i="0">
                <a:solidFill>
                  <a:srgbClr val="1F4E79"/>
                </a:solidFill>
                <a:latin typeface="Calibri"/>
              </a:rPr>
              <a:t>7 Backend Microservices (as mandated by requirement doc)</a:t>
            </a:r>
          </a:p>
        </p:txBody>
      </p:sp>
      <p:sp>
        <p:nvSpPr>
          <p:cNvPr id="18" name="TextBox 17"/>
          <p:cNvSpPr txBox="1"/>
          <p:nvPr/>
        </p:nvSpPr>
        <p:spPr>
          <a:xfrm>
            <a:off x="6309360" y="1938528"/>
            <a:ext cx="5394960" cy="365760"/>
          </a:xfrm>
          <a:prstGeom prst="rect">
            <a:avLst/>
          </a:prstGeom>
          <a:noFill/>
        </p:spPr>
        <p:txBody>
          <a:bodyPr wrap="square">
            <a:spAutoFit/>
          </a:bodyPr>
          <a:lstStyle/>
          <a:p>
            <a:pPr algn="l"/>
            <a:r>
              <a:rPr sz="1250" b="0" i="0">
                <a:solidFill>
                  <a:srgbClr val="444444"/>
                </a:solidFill>
                <a:latin typeface="Calibri"/>
              </a:rPr>
              <a:t>▸  Employee Profile Service</a:t>
            </a:r>
          </a:p>
        </p:txBody>
      </p:sp>
      <p:sp>
        <p:nvSpPr>
          <p:cNvPr id="19" name="TextBox 18"/>
          <p:cNvSpPr txBox="1"/>
          <p:nvPr/>
        </p:nvSpPr>
        <p:spPr>
          <a:xfrm>
            <a:off x="6309360" y="2331720"/>
            <a:ext cx="5394960" cy="365760"/>
          </a:xfrm>
          <a:prstGeom prst="rect">
            <a:avLst/>
          </a:prstGeom>
          <a:noFill/>
        </p:spPr>
        <p:txBody>
          <a:bodyPr wrap="square">
            <a:spAutoFit/>
          </a:bodyPr>
          <a:lstStyle/>
          <a:p>
            <a:pPr algn="l"/>
            <a:r>
              <a:rPr sz="1250" b="0" i="0">
                <a:solidFill>
                  <a:srgbClr val="444444"/>
                </a:solidFill>
                <a:latin typeface="Calibri"/>
              </a:rPr>
              <a:t>▸  Benefits Catalogue Service</a:t>
            </a:r>
          </a:p>
        </p:txBody>
      </p:sp>
      <p:sp>
        <p:nvSpPr>
          <p:cNvPr id="20" name="TextBox 19"/>
          <p:cNvSpPr txBox="1"/>
          <p:nvPr/>
        </p:nvSpPr>
        <p:spPr>
          <a:xfrm>
            <a:off x="6309360" y="2724912"/>
            <a:ext cx="5394960" cy="365760"/>
          </a:xfrm>
          <a:prstGeom prst="rect">
            <a:avLst/>
          </a:prstGeom>
          <a:noFill/>
        </p:spPr>
        <p:txBody>
          <a:bodyPr wrap="square">
            <a:spAutoFit/>
          </a:bodyPr>
          <a:lstStyle/>
          <a:p>
            <a:pPr algn="l"/>
            <a:r>
              <a:rPr sz="1250" b="0" i="0">
                <a:solidFill>
                  <a:srgbClr val="444444"/>
                </a:solidFill>
                <a:latin typeface="Calibri"/>
              </a:rPr>
              <a:t>▸  Compensation Rules Engine</a:t>
            </a:r>
          </a:p>
        </p:txBody>
      </p:sp>
      <p:sp>
        <p:nvSpPr>
          <p:cNvPr id="21" name="TextBox 20"/>
          <p:cNvSpPr txBox="1"/>
          <p:nvPr/>
        </p:nvSpPr>
        <p:spPr>
          <a:xfrm>
            <a:off x="6309360" y="3118104"/>
            <a:ext cx="5394960" cy="365760"/>
          </a:xfrm>
          <a:prstGeom prst="rect">
            <a:avLst/>
          </a:prstGeom>
          <a:noFill/>
        </p:spPr>
        <p:txBody>
          <a:bodyPr wrap="square">
            <a:spAutoFit/>
          </a:bodyPr>
          <a:lstStyle/>
          <a:p>
            <a:pPr algn="l"/>
            <a:r>
              <a:rPr sz="1250" b="0" i="0">
                <a:solidFill>
                  <a:srgbClr val="444444"/>
                </a:solidFill>
                <a:latin typeface="Calibri"/>
              </a:rPr>
              <a:t>▸  Reimbursement Workflow Service</a:t>
            </a:r>
          </a:p>
        </p:txBody>
      </p:sp>
      <p:sp>
        <p:nvSpPr>
          <p:cNvPr id="22" name="TextBox 21"/>
          <p:cNvSpPr txBox="1"/>
          <p:nvPr/>
        </p:nvSpPr>
        <p:spPr>
          <a:xfrm>
            <a:off x="6309360" y="3511296"/>
            <a:ext cx="5394960" cy="365760"/>
          </a:xfrm>
          <a:prstGeom prst="rect">
            <a:avLst/>
          </a:prstGeom>
          <a:noFill/>
        </p:spPr>
        <p:txBody>
          <a:bodyPr wrap="square">
            <a:spAutoFit/>
          </a:bodyPr>
          <a:lstStyle/>
          <a:p>
            <a:pPr algn="l"/>
            <a:r>
              <a:rPr sz="1250" b="0" i="0">
                <a:solidFill>
                  <a:srgbClr val="444444"/>
                </a:solidFill>
                <a:latin typeface="Calibri"/>
              </a:rPr>
              <a:t>▸  Document &amp; Receipt Processing Service</a:t>
            </a:r>
          </a:p>
        </p:txBody>
      </p:sp>
      <p:sp>
        <p:nvSpPr>
          <p:cNvPr id="23" name="TextBox 22"/>
          <p:cNvSpPr txBox="1"/>
          <p:nvPr/>
        </p:nvSpPr>
        <p:spPr>
          <a:xfrm>
            <a:off x="6309360" y="3904488"/>
            <a:ext cx="5394960" cy="365760"/>
          </a:xfrm>
          <a:prstGeom prst="rect">
            <a:avLst/>
          </a:prstGeom>
          <a:noFill/>
        </p:spPr>
        <p:txBody>
          <a:bodyPr wrap="square">
            <a:spAutoFit/>
          </a:bodyPr>
          <a:lstStyle/>
          <a:p>
            <a:pPr algn="l"/>
            <a:r>
              <a:rPr sz="1250" b="0" i="0" dirty="0">
                <a:solidFill>
                  <a:srgbClr val="444444"/>
                </a:solidFill>
                <a:latin typeface="Calibri"/>
              </a:rPr>
              <a:t>▸  Payroll Integration Service</a:t>
            </a:r>
          </a:p>
        </p:txBody>
      </p:sp>
      <p:sp>
        <p:nvSpPr>
          <p:cNvPr id="24" name="TextBox 23"/>
          <p:cNvSpPr txBox="1"/>
          <p:nvPr/>
        </p:nvSpPr>
        <p:spPr>
          <a:xfrm>
            <a:off x="6309360" y="4297680"/>
            <a:ext cx="5394960" cy="365760"/>
          </a:xfrm>
          <a:prstGeom prst="rect">
            <a:avLst/>
          </a:prstGeom>
          <a:noFill/>
        </p:spPr>
        <p:txBody>
          <a:bodyPr wrap="square">
            <a:spAutoFit/>
          </a:bodyPr>
          <a:lstStyle/>
          <a:p>
            <a:pPr algn="l"/>
            <a:r>
              <a:rPr sz="1250" b="0" i="0">
                <a:solidFill>
                  <a:srgbClr val="444444"/>
                </a:solidFill>
                <a:latin typeface="Calibri"/>
              </a:rPr>
              <a:t>▸  Reporting &amp; Compliance Service</a:t>
            </a:r>
          </a:p>
        </p:txBody>
      </p:sp>
      <p:sp>
        <p:nvSpPr>
          <p:cNvPr id="25" name="TextBox 24"/>
          <p:cNvSpPr txBox="1"/>
          <p:nvPr/>
        </p:nvSpPr>
        <p:spPr>
          <a:xfrm>
            <a:off x="6217920" y="4709160"/>
            <a:ext cx="5486400" cy="320040"/>
          </a:xfrm>
          <a:prstGeom prst="rect">
            <a:avLst/>
          </a:prstGeom>
          <a:noFill/>
        </p:spPr>
        <p:txBody>
          <a:bodyPr wrap="square">
            <a:spAutoFit/>
          </a:bodyPr>
          <a:lstStyle/>
          <a:p>
            <a:pPr algn="l"/>
            <a:r>
              <a:rPr sz="1300" b="1" i="0">
                <a:solidFill>
                  <a:srgbClr val="1F4E79"/>
                </a:solidFill>
                <a:latin typeface="Calibri"/>
              </a:rPr>
              <a:t>4 Micro-Frontend Portals (as mandated by requirement doc)</a:t>
            </a:r>
          </a:p>
        </p:txBody>
      </p:sp>
      <p:sp>
        <p:nvSpPr>
          <p:cNvPr id="26" name="TextBox 25"/>
          <p:cNvSpPr txBox="1"/>
          <p:nvPr/>
        </p:nvSpPr>
        <p:spPr>
          <a:xfrm>
            <a:off x="6309360" y="5047488"/>
            <a:ext cx="5394960" cy="347472"/>
          </a:xfrm>
          <a:prstGeom prst="rect">
            <a:avLst/>
          </a:prstGeom>
          <a:noFill/>
        </p:spPr>
        <p:txBody>
          <a:bodyPr wrap="square">
            <a:spAutoFit/>
          </a:bodyPr>
          <a:lstStyle/>
          <a:p>
            <a:pPr algn="l"/>
            <a:r>
              <a:rPr sz="1250" b="0" i="0">
                <a:solidFill>
                  <a:srgbClr val="444444"/>
                </a:solidFill>
                <a:latin typeface="Calibri"/>
              </a:rPr>
              <a:t>▸  Employee Self-Service Portal</a:t>
            </a:r>
          </a:p>
        </p:txBody>
      </p:sp>
      <p:sp>
        <p:nvSpPr>
          <p:cNvPr id="27" name="TextBox 26"/>
          <p:cNvSpPr txBox="1"/>
          <p:nvPr/>
        </p:nvSpPr>
        <p:spPr>
          <a:xfrm>
            <a:off x="6309360" y="5413248"/>
            <a:ext cx="5394960" cy="347472"/>
          </a:xfrm>
          <a:prstGeom prst="rect">
            <a:avLst/>
          </a:prstGeom>
          <a:noFill/>
        </p:spPr>
        <p:txBody>
          <a:bodyPr wrap="square">
            <a:spAutoFit/>
          </a:bodyPr>
          <a:lstStyle/>
          <a:p>
            <a:pPr algn="l"/>
            <a:r>
              <a:rPr sz="1250" b="0" i="0">
                <a:solidFill>
                  <a:srgbClr val="444444"/>
                </a:solidFill>
                <a:latin typeface="Calibri"/>
              </a:rPr>
              <a:t>▸  Manager Approval Portal</a:t>
            </a:r>
          </a:p>
        </p:txBody>
      </p:sp>
      <p:sp>
        <p:nvSpPr>
          <p:cNvPr id="28" name="TextBox 27"/>
          <p:cNvSpPr txBox="1"/>
          <p:nvPr/>
        </p:nvSpPr>
        <p:spPr>
          <a:xfrm>
            <a:off x="6309360" y="5779008"/>
            <a:ext cx="5394960" cy="347472"/>
          </a:xfrm>
          <a:prstGeom prst="rect">
            <a:avLst/>
          </a:prstGeom>
          <a:noFill/>
        </p:spPr>
        <p:txBody>
          <a:bodyPr wrap="square">
            <a:spAutoFit/>
          </a:bodyPr>
          <a:lstStyle/>
          <a:p>
            <a:pPr algn="l"/>
            <a:r>
              <a:rPr sz="1250" b="0" i="0">
                <a:solidFill>
                  <a:srgbClr val="444444"/>
                </a:solidFill>
                <a:latin typeface="Calibri"/>
              </a:rPr>
              <a:t>▸  HR Admin Console</a:t>
            </a:r>
          </a:p>
        </p:txBody>
      </p:sp>
      <p:sp>
        <p:nvSpPr>
          <p:cNvPr id="29" name="TextBox 28"/>
          <p:cNvSpPr txBox="1"/>
          <p:nvPr/>
        </p:nvSpPr>
        <p:spPr>
          <a:xfrm>
            <a:off x="6309360" y="6144768"/>
            <a:ext cx="5394960" cy="347472"/>
          </a:xfrm>
          <a:prstGeom prst="rect">
            <a:avLst/>
          </a:prstGeom>
          <a:noFill/>
        </p:spPr>
        <p:txBody>
          <a:bodyPr wrap="square">
            <a:spAutoFit/>
          </a:bodyPr>
          <a:lstStyle/>
          <a:p>
            <a:pPr algn="l"/>
            <a:r>
              <a:rPr sz="1250" b="0" i="0">
                <a:solidFill>
                  <a:srgbClr val="444444"/>
                </a:solidFill>
                <a:latin typeface="Calibri"/>
              </a:rPr>
              <a:t>▸  Finance &amp; Audit Dashboard</a:t>
            </a:r>
          </a:p>
        </p:txBody>
      </p:sp>
      <p:sp>
        <p:nvSpPr>
          <p:cNvPr id="30" name="TextBox 29"/>
          <p:cNvSpPr txBox="1"/>
          <p:nvPr/>
        </p:nvSpPr>
        <p:spPr>
          <a:xfrm>
            <a:off x="6126480" y="6537960"/>
            <a:ext cx="5879592" cy="274320"/>
          </a:xfrm>
          <a:prstGeom prst="rect">
            <a:avLst/>
          </a:prstGeom>
          <a:noFill/>
        </p:spPr>
        <p:txBody>
          <a:bodyPr wrap="square">
            <a:spAutoFit/>
          </a:bodyPr>
          <a:lstStyle/>
          <a:p>
            <a:pPr algn="l"/>
            <a:r>
              <a:rPr sz="1000" b="0" i="1">
                <a:solidFill>
                  <a:srgbClr val="888888"/>
                </a:solidFill>
                <a:latin typeface="Calibri"/>
              </a:rPr>
              <a:t>Source: Requirement_Document.docx — Architecture Scope section</a:t>
            </a:r>
          </a:p>
        </p:txBody>
      </p:sp>
    </p:spTree>
    <p:extLst>
      <p:ext uri="{BB962C8B-B14F-4D97-AF65-F5344CB8AC3E}">
        <p14:creationId xmlns:p14="http://schemas.microsoft.com/office/powerpoint/2010/main" val="3326260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dirty="0">
                <a:solidFill>
                  <a:srgbClr val="FFFFFF"/>
                </a:solidFill>
                <a:latin typeface="Calibri"/>
              </a:rPr>
              <a:t>Use Case Details — System Context (C4 Level 0)</a:t>
            </a:r>
          </a:p>
        </p:txBody>
      </p:sp>
      <p:sp>
        <p:nvSpPr>
          <p:cNvPr id="5" name="TextBox 4"/>
          <p:cNvSpPr txBox="1"/>
          <p:nvPr/>
        </p:nvSpPr>
        <p:spPr>
          <a:xfrm>
            <a:off x="457200" y="658368"/>
            <a:ext cx="11274552" cy="276999"/>
          </a:xfrm>
          <a:prstGeom prst="rect">
            <a:avLst/>
          </a:prstGeom>
          <a:noFill/>
        </p:spPr>
        <p:txBody>
          <a:bodyPr wrap="square">
            <a:spAutoFit/>
          </a:bodyPr>
          <a:lstStyle/>
          <a:p>
            <a:pPr algn="l"/>
            <a:r>
              <a:rPr sz="1200" b="0" i="1" dirty="0">
                <a:solidFill>
                  <a:srgbClr val="AECEE8"/>
                </a:solidFill>
                <a:latin typeface="Calibri"/>
              </a:rPr>
              <a:t>Black-box view: </a:t>
            </a:r>
            <a:r>
              <a:rPr lang="en-IN" sz="1200" b="0" i="1" dirty="0">
                <a:solidFill>
                  <a:srgbClr val="AECEE8"/>
                </a:solidFill>
                <a:latin typeface="Calibri"/>
              </a:rPr>
              <a:t>4</a:t>
            </a:r>
            <a:r>
              <a:rPr sz="1200" b="0" i="1" dirty="0">
                <a:solidFill>
                  <a:srgbClr val="AECEE8"/>
                </a:solidFill>
                <a:latin typeface="Calibri"/>
              </a:rPr>
              <a:t> actors + system boundary + external systems  |  Source: HLD Section 2.1.</a:t>
            </a:r>
            <a:r>
              <a:rPr lang="en-IN" sz="1200" b="0" i="1" dirty="0">
                <a:solidFill>
                  <a:srgbClr val="AECEE8"/>
                </a:solidFill>
                <a:latin typeface="Calibri"/>
              </a:rPr>
              <a:t>1.3</a:t>
            </a:r>
            <a:endParaRPr sz="1200" b="0" i="1" dirty="0">
              <a:solidFill>
                <a:srgbClr val="AECEE8"/>
              </a:solidFill>
              <a:latin typeface="Calibri"/>
            </a:endParaRPr>
          </a:p>
        </p:txBody>
      </p:sp>
      <p:pic>
        <p:nvPicPr>
          <p:cNvPr id="6" name="Picture 5" descr="level0_context.png"/>
          <p:cNvPicPr>
            <a:picLocks noChangeAspect="1"/>
          </p:cNvPicPr>
          <p:nvPr/>
        </p:nvPicPr>
        <p:blipFill>
          <a:blip r:embed="rId3"/>
          <a:stretch>
            <a:fillRect/>
          </a:stretch>
        </p:blipFill>
        <p:spPr>
          <a:xfrm>
            <a:off x="457200" y="1097280"/>
            <a:ext cx="11247120" cy="665409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492443"/>
          </a:xfrm>
          <a:prstGeom prst="rect">
            <a:avLst/>
          </a:prstGeom>
          <a:noFill/>
        </p:spPr>
        <p:txBody>
          <a:bodyPr wrap="square">
            <a:spAutoFit/>
          </a:bodyPr>
          <a:lstStyle/>
          <a:p>
            <a:pPr algn="l"/>
            <a:r>
              <a:rPr sz="2600" b="1" i="0">
                <a:solidFill>
                  <a:srgbClr val="FFFFFF"/>
                </a:solidFill>
                <a:latin typeface="Calibri"/>
              </a:rPr>
              <a:t>Use Case Catalog — Modules, Use Cases &amp; Actors</a:t>
            </a:r>
          </a:p>
        </p:txBody>
      </p:sp>
      <p:sp>
        <p:nvSpPr>
          <p:cNvPr id="5" name="TextBox 4"/>
          <p:cNvSpPr txBox="1"/>
          <p:nvPr/>
        </p:nvSpPr>
        <p:spPr>
          <a:xfrm>
            <a:off x="457200" y="658368"/>
            <a:ext cx="11274552" cy="276999"/>
          </a:xfrm>
          <a:prstGeom prst="rect">
            <a:avLst/>
          </a:prstGeom>
          <a:noFill/>
        </p:spPr>
        <p:txBody>
          <a:bodyPr wrap="square">
            <a:spAutoFit/>
          </a:bodyPr>
          <a:lstStyle/>
          <a:p>
            <a:pPr algn="l"/>
            <a:r>
              <a:rPr sz="1200" b="0" i="1" dirty="0">
                <a:solidFill>
                  <a:srgbClr val="AECEE8"/>
                </a:solidFill>
                <a:latin typeface="Calibri"/>
              </a:rPr>
              <a:t>Module-by-module breakdown of key use cases and their actors  |  Source: HLD Section 2.2</a:t>
            </a:r>
          </a:p>
        </p:txBody>
      </p:sp>
      <p:sp>
        <p:nvSpPr>
          <p:cNvPr id="6" name="Rectangle 5"/>
          <p:cNvSpPr/>
          <p:nvPr/>
        </p:nvSpPr>
        <p:spPr>
          <a:xfrm>
            <a:off x="274320" y="1097280"/>
            <a:ext cx="2200000" cy="38404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124712"/>
            <a:ext cx="2108560" cy="329184"/>
          </a:xfrm>
          <a:prstGeom prst="rect">
            <a:avLst/>
          </a:prstGeom>
          <a:noFill/>
        </p:spPr>
        <p:txBody>
          <a:bodyPr wrap="square">
            <a:spAutoFit/>
          </a:bodyPr>
          <a:lstStyle/>
          <a:p>
            <a:pPr algn="l"/>
            <a:r>
              <a:rPr lang="en-US" sz="1000" b="1" dirty="0">
                <a:latin typeface="Calibri"/>
              </a:rPr>
              <a:t>MODULE</a:t>
            </a:r>
          </a:p>
        </p:txBody>
      </p:sp>
      <p:sp>
        <p:nvSpPr>
          <p:cNvPr id="8" name="Rectangle 7"/>
          <p:cNvSpPr/>
          <p:nvPr/>
        </p:nvSpPr>
        <p:spPr>
          <a:xfrm>
            <a:off x="2474320" y="1097280"/>
            <a:ext cx="6400000" cy="38404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20040" y="1124712"/>
            <a:ext cx="6308560" cy="329184"/>
          </a:xfrm>
          <a:prstGeom prst="rect">
            <a:avLst/>
          </a:prstGeom>
          <a:noFill/>
        </p:spPr>
        <p:txBody>
          <a:bodyPr wrap="square">
            <a:spAutoFit/>
          </a:bodyPr>
          <a:lstStyle/>
          <a:p>
            <a:pPr algn="l"/>
            <a:r>
              <a:rPr lang="en-US" sz="1000" b="1" dirty="0">
                <a:latin typeface="Calibri"/>
              </a:rPr>
              <a:t>KEY USE CASES</a:t>
            </a:r>
          </a:p>
        </p:txBody>
      </p:sp>
      <p:sp>
        <p:nvSpPr>
          <p:cNvPr id="10" name="Rectangle 9"/>
          <p:cNvSpPr/>
          <p:nvPr/>
        </p:nvSpPr>
        <p:spPr>
          <a:xfrm>
            <a:off x="8874320" y="1097280"/>
            <a:ext cx="2738560" cy="38404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20040" y="1124712"/>
            <a:ext cx="2647120" cy="329184"/>
          </a:xfrm>
          <a:prstGeom prst="rect">
            <a:avLst/>
          </a:prstGeom>
          <a:noFill/>
        </p:spPr>
        <p:txBody>
          <a:bodyPr wrap="square">
            <a:spAutoFit/>
          </a:bodyPr>
          <a:lstStyle/>
          <a:p>
            <a:pPr algn="l"/>
            <a:r>
              <a:rPr lang="en-US" sz="1000" b="1" dirty="0">
                <a:latin typeface="Calibri"/>
              </a:rPr>
              <a:t>ACTOR(S)</a:t>
            </a:r>
          </a:p>
        </p:txBody>
      </p:sp>
      <p:sp>
        <p:nvSpPr>
          <p:cNvPr id="12" name="Rectangle 11"/>
          <p:cNvSpPr/>
          <p:nvPr/>
        </p:nvSpPr>
        <p:spPr>
          <a:xfrm>
            <a:off x="11612880" y="1097280"/>
            <a:ext cx="100" cy="38404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612880" y="1124712"/>
            <a:ext cx="100" cy="329184"/>
          </a:xfrm>
          <a:prstGeom prst="rect">
            <a:avLst/>
          </a:prstGeom>
          <a:noFill/>
        </p:spPr>
        <p:txBody>
          <a:bodyPr wrap="square">
            <a:spAutoFit/>
          </a:bodyPr>
          <a:lstStyle/>
          <a:p>
            <a:pPr algn="l"/>
            <a:endParaRPr/>
          </a:p>
        </p:txBody>
      </p:sp>
      <p:sp>
        <p:nvSpPr>
          <p:cNvPr id="14" name="Rectangle 13"/>
          <p:cNvSpPr/>
          <p:nvPr/>
        </p:nvSpPr>
        <p:spPr>
          <a:xfrm>
            <a:off x="274320" y="1481328"/>
            <a:ext cx="2200000" cy="75666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3"/>
          <p:cNvSpPr/>
          <p:nvPr/>
        </p:nvSpPr>
        <p:spPr>
          <a:xfrm>
            <a:off x="2474320" y="1481328"/>
            <a:ext cx="6400000" cy="75666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3"/>
          <p:cNvSpPr/>
          <p:nvPr/>
        </p:nvSpPr>
        <p:spPr>
          <a:xfrm>
            <a:off x="8874320" y="1481328"/>
            <a:ext cx="2738560" cy="75666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040" y="1509328"/>
            <a:ext cx="2108560" cy="728667"/>
          </a:xfrm>
          <a:prstGeom prst="rect">
            <a:avLst/>
          </a:prstGeom>
          <a:noFill/>
        </p:spPr>
        <p:txBody>
          <a:bodyPr wrap="square">
            <a:spAutoFit/>
          </a:bodyPr>
          <a:lstStyle/>
          <a:p>
            <a:pPr algn="l"/>
            <a:r>
              <a:rPr lang="en-US" sz="950" b="1" dirty="0">
                <a:latin typeface="Calibri"/>
              </a:rPr>
              <a:t>User Management</a:t>
            </a:r>
          </a:p>
        </p:txBody>
      </p:sp>
      <p:sp>
        <p:nvSpPr>
          <p:cNvPr id="17" name="TextBox 17"/>
          <p:cNvSpPr txBox="1"/>
          <p:nvPr/>
        </p:nvSpPr>
        <p:spPr>
          <a:xfrm>
            <a:off x="2520040" y="1509328"/>
            <a:ext cx="6308560" cy="728667"/>
          </a:xfrm>
          <a:prstGeom prst="rect">
            <a:avLst/>
          </a:prstGeom>
          <a:noFill/>
        </p:spPr>
        <p:txBody>
          <a:bodyPr wrap="square">
            <a:spAutoFit/>
          </a:bodyPr>
          <a:lstStyle/>
          <a:p>
            <a:pPr algn="l"/>
            <a:r>
              <a:rPr lang="en-US" sz="850" b="0" dirty="0">
                <a:latin typeface="Calibri"/>
              </a:rPr>
              <a:t>Login via SSO (Azure AD / OIDC / MFA)</a:t>
            </a:r>
          </a:p>
          <a:p>
            <a:pPr algn="l"/>
            <a:r>
              <a:rPr lang="en-US" sz="850" b="0" dirty="0">
                <a:latin typeface="Calibri"/>
              </a:rPr>
              <a:t>Manage accounts &amp; roles</a:t>
            </a:r>
          </a:p>
          <a:p>
            <a:pPr algn="l"/>
            <a:r>
              <a:rPr lang="en-US" sz="850" b="0" dirty="0">
                <a:latin typeface="Calibri"/>
              </a:rPr>
              <a:t>Assign roles</a:t>
            </a:r>
          </a:p>
          <a:p>
            <a:pPr algn="l"/>
            <a:r>
              <a:rPr lang="en-US" sz="850" b="0" dirty="0">
                <a:latin typeface="Calibri"/>
              </a:rPr>
              <a:t>Validate JWT &amp; RBAC (JWT RS256)</a:t>
            </a:r>
          </a:p>
        </p:txBody>
      </p:sp>
      <p:sp>
        <p:nvSpPr>
          <p:cNvPr id="19" name="TextBox 17"/>
          <p:cNvSpPr txBox="1"/>
          <p:nvPr/>
        </p:nvSpPr>
        <p:spPr>
          <a:xfrm>
            <a:off x="8920040" y="1509328"/>
            <a:ext cx="2647120" cy="728667"/>
          </a:xfrm>
          <a:prstGeom prst="rect">
            <a:avLst/>
          </a:prstGeom>
          <a:noFill/>
        </p:spPr>
        <p:txBody>
          <a:bodyPr wrap="square">
            <a:spAutoFit/>
          </a:bodyPr>
          <a:lstStyle/>
          <a:p>
            <a:pPr algn="l"/>
            <a:r>
              <a:rPr lang="en-US" sz="850" b="0" dirty="0">
                <a:latin typeface="Calibri"/>
              </a:rPr>
              <a:t>Employee</a:t>
            </a:r>
          </a:p>
          <a:p>
            <a:pPr algn="l"/>
            <a:r>
              <a:rPr lang="en-US" sz="850" b="0" dirty="0">
                <a:latin typeface="Calibri"/>
              </a:rPr>
              <a:t>HR Admin</a:t>
            </a:r>
          </a:p>
          <a:p>
            <a:pPr algn="l"/>
            <a:r>
              <a:rPr lang="en-US" sz="850" b="0" dirty="0">
                <a:latin typeface="Calibri"/>
              </a:rPr>
              <a:t>Azure AD (System)</a:t>
            </a:r>
          </a:p>
        </p:txBody>
      </p:sp>
      <p:sp>
        <p:nvSpPr>
          <p:cNvPr id="22" name="TextBox 21"/>
          <p:cNvSpPr txBox="1"/>
          <p:nvPr/>
        </p:nvSpPr>
        <p:spPr>
          <a:xfrm>
            <a:off x="320040" y="2265995"/>
            <a:ext cx="2108560" cy="728667"/>
          </a:xfrm>
          <a:prstGeom prst="rect">
            <a:avLst/>
          </a:prstGeom>
          <a:noFill/>
        </p:spPr>
        <p:txBody>
          <a:bodyPr wrap="square">
            <a:spAutoFit/>
          </a:bodyPr>
          <a:lstStyle/>
          <a:p>
            <a:pPr algn="l"/>
            <a:r>
              <a:rPr lang="en-US" sz="950" b="1" dirty="0">
                <a:latin typeface="Calibri"/>
              </a:rPr>
              <a:t>Benefits Management</a:t>
            </a:r>
          </a:p>
        </p:txBody>
      </p:sp>
      <p:sp>
        <p:nvSpPr>
          <p:cNvPr id="20" name="TextBox 21"/>
          <p:cNvSpPr txBox="1"/>
          <p:nvPr/>
        </p:nvSpPr>
        <p:spPr>
          <a:xfrm>
            <a:off x="2520040" y="2265995"/>
            <a:ext cx="6308560" cy="728667"/>
          </a:xfrm>
          <a:prstGeom prst="rect">
            <a:avLst/>
          </a:prstGeom>
          <a:noFill/>
        </p:spPr>
        <p:txBody>
          <a:bodyPr wrap="square">
            <a:spAutoFit/>
          </a:bodyPr>
          <a:lstStyle/>
          <a:p>
            <a:pPr algn="l"/>
            <a:r>
              <a:rPr lang="en-US" sz="850" b="0" dirty="0">
                <a:latin typeface="Calibri"/>
              </a:rPr>
              <a:t>Enroll / Opt-Out of benefit plan</a:t>
            </a:r>
          </a:p>
          <a:p>
            <a:pPr algn="l"/>
            <a:r>
              <a:rPr lang="en-US" sz="850" b="0" dirty="0">
                <a:latin typeface="Calibri"/>
              </a:rPr>
              <a:t>Browse benefits catalog</a:t>
            </a:r>
          </a:p>
          <a:p>
            <a:pPr algn="l"/>
            <a:r>
              <a:rPr lang="en-US" sz="850" b="0" dirty="0">
                <a:latin typeface="Calibri"/>
              </a:rPr>
              <a:t>Configure plans &amp; eligibility criteria</a:t>
            </a:r>
          </a:p>
          <a:p>
            <a:pPr algn="l"/>
            <a:r>
              <a:rPr lang="en-US" sz="850" b="0" dirty="0">
                <a:latin typeface="Calibri"/>
              </a:rPr>
              <a:t>Trigger deduction in payroll</a:t>
            </a:r>
          </a:p>
        </p:txBody>
      </p:sp>
      <p:sp>
        <p:nvSpPr>
          <p:cNvPr id="21" name="TextBox 21"/>
          <p:cNvSpPr txBox="1"/>
          <p:nvPr/>
        </p:nvSpPr>
        <p:spPr>
          <a:xfrm>
            <a:off x="8920040" y="2265995"/>
            <a:ext cx="2647120" cy="728667"/>
          </a:xfrm>
          <a:prstGeom prst="rect">
            <a:avLst/>
          </a:prstGeom>
          <a:noFill/>
        </p:spPr>
        <p:txBody>
          <a:bodyPr wrap="square">
            <a:spAutoFit/>
          </a:bodyPr>
          <a:lstStyle/>
          <a:p>
            <a:pPr algn="l"/>
            <a:r>
              <a:rPr lang="en-US" sz="850" b="0" dirty="0">
                <a:latin typeface="Calibri"/>
              </a:rPr>
              <a:t>Employee</a:t>
            </a:r>
          </a:p>
          <a:p>
            <a:pPr algn="l"/>
            <a:r>
              <a:rPr lang="en-US" sz="850" b="0" dirty="0">
                <a:latin typeface="Calibri"/>
              </a:rPr>
              <a:t>HR Admin</a:t>
            </a:r>
          </a:p>
          <a:p>
            <a:pPr algn="l"/>
            <a:r>
              <a:rPr lang="en-US" sz="850" b="0" dirty="0">
                <a:latin typeface="Calibri"/>
              </a:rPr>
              <a:t>Payroll Service (System)</a:t>
            </a:r>
          </a:p>
        </p:txBody>
      </p:sp>
      <p:sp>
        <p:nvSpPr>
          <p:cNvPr id="23" name="Rectangle 13"/>
          <p:cNvSpPr/>
          <p:nvPr/>
        </p:nvSpPr>
        <p:spPr>
          <a:xfrm>
            <a:off x="274320" y="2994662"/>
            <a:ext cx="2200000" cy="75666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13"/>
          <p:cNvSpPr/>
          <p:nvPr/>
        </p:nvSpPr>
        <p:spPr>
          <a:xfrm>
            <a:off x="2474320" y="2994662"/>
            <a:ext cx="6400000" cy="75666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13"/>
          <p:cNvSpPr/>
          <p:nvPr/>
        </p:nvSpPr>
        <p:spPr>
          <a:xfrm>
            <a:off x="8874320" y="2994662"/>
            <a:ext cx="2738560" cy="75666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17"/>
          <p:cNvSpPr txBox="1"/>
          <p:nvPr/>
        </p:nvSpPr>
        <p:spPr>
          <a:xfrm>
            <a:off x="320040" y="3022662"/>
            <a:ext cx="2108560" cy="728667"/>
          </a:xfrm>
          <a:prstGeom prst="rect">
            <a:avLst/>
          </a:prstGeom>
          <a:noFill/>
        </p:spPr>
        <p:txBody>
          <a:bodyPr wrap="square">
            <a:spAutoFit/>
          </a:bodyPr>
          <a:lstStyle/>
          <a:p>
            <a:pPr algn="l"/>
            <a:r>
              <a:rPr lang="en-US" sz="950" b="1" dirty="0">
                <a:latin typeface="Calibri"/>
              </a:rPr>
              <a:t>Claims &amp; Documents</a:t>
            </a:r>
          </a:p>
        </p:txBody>
      </p:sp>
      <p:sp>
        <p:nvSpPr>
          <p:cNvPr id="27" name="TextBox 17"/>
          <p:cNvSpPr txBox="1"/>
          <p:nvPr/>
        </p:nvSpPr>
        <p:spPr>
          <a:xfrm>
            <a:off x="2520040" y="3022662"/>
            <a:ext cx="6308560" cy="728667"/>
          </a:xfrm>
          <a:prstGeom prst="rect">
            <a:avLst/>
          </a:prstGeom>
          <a:noFill/>
        </p:spPr>
        <p:txBody>
          <a:bodyPr wrap="square">
            <a:spAutoFit/>
          </a:bodyPr>
          <a:lstStyle/>
          <a:p>
            <a:pPr algn="l"/>
            <a:r>
              <a:rPr lang="en-US" sz="850" b="0" dirty="0">
                <a:latin typeface="Calibri"/>
              </a:rPr>
              <a:t>Submit + upload receipt (Tesseract.Net / Azure Fn)</a:t>
            </a:r>
          </a:p>
          <a:p>
            <a:pPr algn="l"/>
            <a:r>
              <a:rPr lang="en-US" sz="850" b="0" dirty="0">
                <a:latin typeface="Calibri"/>
              </a:rPr>
              <a:t>Track DRAFT-&gt;SETTLED (State Machine)</a:t>
            </a:r>
          </a:p>
          <a:p>
            <a:pPr algn="l"/>
            <a:r>
              <a:rPr lang="en-US" sz="850" b="0" dirty="0">
                <a:latin typeface="Calibri"/>
              </a:rPr>
              <a:t>Approve / Reject claim (7-day SLA)</a:t>
            </a:r>
          </a:p>
          <a:p>
            <a:pPr algn="l"/>
            <a:r>
              <a:rPr lang="en-US" sz="850" b="0" dirty="0">
                <a:latin typeface="Calibri"/>
              </a:rPr>
              <a:t>Manual review fallback (Confidence Scoring)</a:t>
            </a:r>
          </a:p>
        </p:txBody>
      </p:sp>
      <p:sp>
        <p:nvSpPr>
          <p:cNvPr id="28" name="TextBox 17"/>
          <p:cNvSpPr txBox="1"/>
          <p:nvPr/>
        </p:nvSpPr>
        <p:spPr>
          <a:xfrm>
            <a:off x="8920040" y="3022662"/>
            <a:ext cx="2647120" cy="728667"/>
          </a:xfrm>
          <a:prstGeom prst="rect">
            <a:avLst/>
          </a:prstGeom>
          <a:noFill/>
        </p:spPr>
        <p:txBody>
          <a:bodyPr wrap="square">
            <a:spAutoFit/>
          </a:bodyPr>
          <a:lstStyle/>
          <a:p>
            <a:pPr algn="l"/>
            <a:r>
              <a:rPr lang="en-US" sz="850" b="0" dirty="0">
                <a:latin typeface="Calibri"/>
              </a:rPr>
              <a:t>Employee</a:t>
            </a:r>
          </a:p>
          <a:p>
            <a:pPr algn="l"/>
            <a:r>
              <a:rPr lang="en-US" sz="850" b="0" dirty="0">
                <a:latin typeface="Calibri"/>
              </a:rPr>
              <a:t>Manager</a:t>
            </a:r>
          </a:p>
          <a:p>
            <a:pPr algn="l"/>
            <a:r>
              <a:rPr lang="en-US" sz="850" b="0" dirty="0">
                <a:latin typeface="Calibri"/>
              </a:rPr>
              <a:t>OCR Engine (System)</a:t>
            </a:r>
          </a:p>
        </p:txBody>
      </p:sp>
      <p:sp>
        <p:nvSpPr>
          <p:cNvPr id="29" name="TextBox 21"/>
          <p:cNvSpPr txBox="1"/>
          <p:nvPr/>
        </p:nvSpPr>
        <p:spPr>
          <a:xfrm>
            <a:off x="320040" y="3779329"/>
            <a:ext cx="2108560" cy="728667"/>
          </a:xfrm>
          <a:prstGeom prst="rect">
            <a:avLst/>
          </a:prstGeom>
          <a:noFill/>
        </p:spPr>
        <p:txBody>
          <a:bodyPr wrap="square">
            <a:spAutoFit/>
          </a:bodyPr>
          <a:lstStyle/>
          <a:p>
            <a:pPr algn="l"/>
            <a:r>
              <a:rPr lang="en-US" sz="950" b="1" dirty="0">
                <a:latin typeface="Calibri"/>
              </a:rPr>
              <a:t>Compensation Management</a:t>
            </a:r>
          </a:p>
        </p:txBody>
      </p:sp>
      <p:sp>
        <p:nvSpPr>
          <p:cNvPr id="30" name="TextBox 21"/>
          <p:cNvSpPr txBox="1"/>
          <p:nvPr/>
        </p:nvSpPr>
        <p:spPr>
          <a:xfrm>
            <a:off x="2520040" y="3779329"/>
            <a:ext cx="6308560" cy="728667"/>
          </a:xfrm>
          <a:prstGeom prst="rect">
            <a:avLst/>
          </a:prstGeom>
          <a:noFill/>
        </p:spPr>
        <p:txBody>
          <a:bodyPr wrap="square">
            <a:spAutoFit/>
          </a:bodyPr>
          <a:lstStyle/>
          <a:p>
            <a:pPr algn="l"/>
            <a:r>
              <a:rPr lang="en-US" sz="850" b="0" dirty="0">
                <a:latin typeface="Calibri"/>
              </a:rPr>
              <a:t>View CTC breakdown</a:t>
            </a:r>
          </a:p>
          <a:p>
            <a:pPr algn="l"/>
            <a:r>
              <a:rPr lang="en-US" sz="850" b="0" dirty="0">
                <a:latin typeface="Calibri"/>
              </a:rPr>
              <a:t>Compensation rules (NRules Engine)</a:t>
            </a:r>
          </a:p>
          <a:p>
            <a:pPr algn="l"/>
            <a:r>
              <a:rPr lang="en-US" sz="850" b="0" dirty="0">
                <a:latin typeface="Calibri"/>
              </a:rPr>
              <a:t>Calculate CTC at runtime</a:t>
            </a:r>
          </a:p>
          <a:p>
            <a:pPr algn="l"/>
            <a:r>
              <a:rPr lang="en-US" sz="850" b="0" dirty="0">
                <a:latin typeface="Calibri"/>
              </a:rPr>
              <a:t>Cache compiled rules (Redis)</a:t>
            </a:r>
          </a:p>
        </p:txBody>
      </p:sp>
      <p:sp>
        <p:nvSpPr>
          <p:cNvPr id="31" name="TextBox 21"/>
          <p:cNvSpPr txBox="1"/>
          <p:nvPr/>
        </p:nvSpPr>
        <p:spPr>
          <a:xfrm>
            <a:off x="8920040" y="3779329"/>
            <a:ext cx="2647120" cy="728667"/>
          </a:xfrm>
          <a:prstGeom prst="rect">
            <a:avLst/>
          </a:prstGeom>
          <a:noFill/>
        </p:spPr>
        <p:txBody>
          <a:bodyPr wrap="square">
            <a:spAutoFit/>
          </a:bodyPr>
          <a:lstStyle/>
          <a:p>
            <a:pPr algn="l"/>
            <a:r>
              <a:rPr lang="en-US" sz="850" b="0" dirty="0">
                <a:latin typeface="Calibri"/>
              </a:rPr>
              <a:t>Employee</a:t>
            </a:r>
          </a:p>
          <a:p>
            <a:pPr algn="l"/>
            <a:r>
              <a:rPr lang="en-US" sz="850" b="0" dirty="0">
                <a:latin typeface="Calibri"/>
              </a:rPr>
              <a:t>HR Admin</a:t>
            </a:r>
          </a:p>
          <a:p>
            <a:pPr algn="l"/>
            <a:r>
              <a:rPr lang="en-US" sz="850" b="0" dirty="0">
                <a:latin typeface="Calibri"/>
              </a:rPr>
              <a:t>NRules Engine (System)</a:t>
            </a:r>
          </a:p>
        </p:txBody>
      </p:sp>
      <p:sp>
        <p:nvSpPr>
          <p:cNvPr id="32" name="Rectangle 13"/>
          <p:cNvSpPr/>
          <p:nvPr/>
        </p:nvSpPr>
        <p:spPr>
          <a:xfrm>
            <a:off x="274320" y="4507996"/>
            <a:ext cx="2200000" cy="75666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13"/>
          <p:cNvSpPr/>
          <p:nvPr/>
        </p:nvSpPr>
        <p:spPr>
          <a:xfrm>
            <a:off x="2474320" y="4507996"/>
            <a:ext cx="6400000" cy="75666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13"/>
          <p:cNvSpPr/>
          <p:nvPr/>
        </p:nvSpPr>
        <p:spPr>
          <a:xfrm>
            <a:off x="8874320" y="4507996"/>
            <a:ext cx="2738560" cy="75666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17"/>
          <p:cNvSpPr txBox="1"/>
          <p:nvPr/>
        </p:nvSpPr>
        <p:spPr>
          <a:xfrm>
            <a:off x="320040" y="4535996"/>
            <a:ext cx="2108560" cy="728667"/>
          </a:xfrm>
          <a:prstGeom prst="rect">
            <a:avLst/>
          </a:prstGeom>
          <a:noFill/>
        </p:spPr>
        <p:txBody>
          <a:bodyPr wrap="square">
            <a:spAutoFit/>
          </a:bodyPr>
          <a:lstStyle/>
          <a:p>
            <a:pPr algn="l"/>
            <a:r>
              <a:rPr lang="en-US" sz="950" b="1" dirty="0">
                <a:latin typeface="Calibri"/>
              </a:rPr>
              <a:t>Payroll Management</a:t>
            </a:r>
          </a:p>
        </p:txBody>
      </p:sp>
      <p:sp>
        <p:nvSpPr>
          <p:cNvPr id="36" name="TextBox 17"/>
          <p:cNvSpPr txBox="1"/>
          <p:nvPr/>
        </p:nvSpPr>
        <p:spPr>
          <a:xfrm>
            <a:off x="2520040" y="4535996"/>
            <a:ext cx="6308560" cy="728667"/>
          </a:xfrm>
          <a:prstGeom prst="rect">
            <a:avLst/>
          </a:prstGeom>
          <a:noFill/>
        </p:spPr>
        <p:txBody>
          <a:bodyPr wrap="square">
            <a:spAutoFit/>
          </a:bodyPr>
          <a:lstStyle/>
          <a:p>
            <a:pPr algn="l"/>
            <a:r>
              <a:rPr lang="en-US" sz="850" b="0" dirty="0">
                <a:latin typeface="Calibri"/>
              </a:rPr>
              <a:t>Download payslip (ClosedXML -&gt; PDF)</a:t>
            </a:r>
          </a:p>
          <a:p>
            <a:pPr algn="l"/>
            <a:r>
              <a:rPr lang="en-US" sz="850" b="0" dirty="0">
                <a:latin typeface="Calibri"/>
              </a:rPr>
              <a:t>Trigger settlement (Azure Service Bus)</a:t>
            </a:r>
          </a:p>
          <a:p>
            <a:pPr algn="l"/>
            <a:r>
              <a:rPr lang="en-US" sz="850" b="0" dirty="0">
                <a:latin typeface="Calibri"/>
              </a:rPr>
              <a:t>External API integration (SAP / ADP / Workday)</a:t>
            </a:r>
          </a:p>
          <a:p>
            <a:pPr algn="l"/>
            <a:r>
              <a:rPr lang="en-US" sz="850" b="0" dirty="0">
                <a:latin typeface="Calibri"/>
              </a:rPr>
              <a:t>Polly retry (3x) + Dead Letter Queue (DLQ)</a:t>
            </a:r>
          </a:p>
        </p:txBody>
      </p:sp>
      <p:sp>
        <p:nvSpPr>
          <p:cNvPr id="37" name="TextBox 17"/>
          <p:cNvSpPr txBox="1"/>
          <p:nvPr/>
        </p:nvSpPr>
        <p:spPr>
          <a:xfrm>
            <a:off x="8920040" y="4535996"/>
            <a:ext cx="2647120" cy="728667"/>
          </a:xfrm>
          <a:prstGeom prst="rect">
            <a:avLst/>
          </a:prstGeom>
          <a:noFill/>
        </p:spPr>
        <p:txBody>
          <a:bodyPr wrap="square">
            <a:spAutoFit/>
          </a:bodyPr>
          <a:lstStyle/>
          <a:p>
            <a:pPr algn="l"/>
            <a:r>
              <a:rPr lang="en-US" sz="850" b="0" dirty="0">
                <a:latin typeface="Calibri"/>
              </a:rPr>
              <a:t>Employee</a:t>
            </a:r>
          </a:p>
          <a:p>
            <a:pPr algn="l"/>
            <a:r>
              <a:rPr lang="en-US" sz="850" b="0" dirty="0">
                <a:latin typeface="Calibri"/>
              </a:rPr>
              <a:t>Finance User</a:t>
            </a:r>
          </a:p>
          <a:p>
            <a:pPr algn="l"/>
            <a:r>
              <a:rPr lang="en-US" sz="850" b="0" dirty="0">
                <a:latin typeface="Calibri"/>
              </a:rPr>
              <a:t>Ext. Payroll System</a:t>
            </a:r>
          </a:p>
        </p:txBody>
      </p:sp>
      <p:sp>
        <p:nvSpPr>
          <p:cNvPr id="38" name="TextBox 21"/>
          <p:cNvSpPr txBox="1"/>
          <p:nvPr/>
        </p:nvSpPr>
        <p:spPr>
          <a:xfrm>
            <a:off x="320040" y="5292663"/>
            <a:ext cx="2108560" cy="728667"/>
          </a:xfrm>
          <a:prstGeom prst="rect">
            <a:avLst/>
          </a:prstGeom>
          <a:noFill/>
        </p:spPr>
        <p:txBody>
          <a:bodyPr wrap="square">
            <a:spAutoFit/>
          </a:bodyPr>
          <a:lstStyle/>
          <a:p>
            <a:pPr algn="l"/>
            <a:r>
              <a:rPr lang="en-US" sz="950" b="1" dirty="0">
                <a:latin typeface="Calibri"/>
              </a:rPr>
              <a:t>Promotions Management</a:t>
            </a:r>
          </a:p>
        </p:txBody>
      </p:sp>
      <p:sp>
        <p:nvSpPr>
          <p:cNvPr id="39" name="TextBox 21"/>
          <p:cNvSpPr txBox="1"/>
          <p:nvPr/>
        </p:nvSpPr>
        <p:spPr>
          <a:xfrm>
            <a:off x="2520040" y="5292663"/>
            <a:ext cx="6308560" cy="728667"/>
          </a:xfrm>
          <a:prstGeom prst="rect">
            <a:avLst/>
          </a:prstGeom>
          <a:noFill/>
        </p:spPr>
        <p:txBody>
          <a:bodyPr wrap="square">
            <a:spAutoFit/>
          </a:bodyPr>
          <a:lstStyle/>
          <a:p>
            <a:pPr algn="l"/>
            <a:r>
              <a:rPr lang="en-US" sz="850" b="0" dirty="0">
                <a:latin typeface="Calibri"/>
              </a:rPr>
              <a:t>View promotion eligibility &amp; history</a:t>
            </a:r>
          </a:p>
          <a:p>
            <a:pPr algn="l"/>
            <a:r>
              <a:rPr lang="en-US" sz="850" b="0" dirty="0">
                <a:latin typeface="Calibri"/>
              </a:rPr>
              <a:t>Nominate employee for promotion</a:t>
            </a:r>
          </a:p>
          <a:p>
            <a:pPr algn="l"/>
            <a:r>
              <a:rPr lang="en-US" sz="850" b="0" dirty="0">
                <a:latin typeface="Calibri"/>
              </a:rPr>
              <a:t>Configure promotion cycle &amp; eligibility bands</a:t>
            </a:r>
          </a:p>
          <a:p>
            <a:pPr algn="l"/>
            <a:r>
              <a:rPr lang="en-US" sz="850" b="0" dirty="0">
                <a:latin typeface="Calibri"/>
              </a:rPr>
              <a:t>Approve / Reject promotion</a:t>
            </a:r>
          </a:p>
          <a:p>
            <a:pPr algn="l"/>
            <a:r>
              <a:rPr lang="en-US" sz="850" b="0" dirty="0">
                <a:latin typeface="Calibri"/>
              </a:rPr>
              <a:t>Trigger CTC update on approval</a:t>
            </a:r>
          </a:p>
        </p:txBody>
      </p:sp>
      <p:sp>
        <p:nvSpPr>
          <p:cNvPr id="40" name="TextBox 21"/>
          <p:cNvSpPr txBox="1"/>
          <p:nvPr/>
        </p:nvSpPr>
        <p:spPr>
          <a:xfrm>
            <a:off x="8920040" y="5292663"/>
            <a:ext cx="2647120" cy="728667"/>
          </a:xfrm>
          <a:prstGeom prst="rect">
            <a:avLst/>
          </a:prstGeom>
          <a:noFill/>
        </p:spPr>
        <p:txBody>
          <a:bodyPr wrap="square">
            <a:spAutoFit/>
          </a:bodyPr>
          <a:lstStyle/>
          <a:p>
            <a:pPr algn="l"/>
            <a:r>
              <a:rPr lang="en-US" sz="850" b="0" dirty="0">
                <a:latin typeface="Calibri"/>
              </a:rPr>
              <a:t>Employee</a:t>
            </a:r>
          </a:p>
          <a:p>
            <a:pPr algn="l"/>
            <a:r>
              <a:rPr lang="en-US" sz="850" b="0" dirty="0">
                <a:latin typeface="Calibri"/>
              </a:rPr>
              <a:t>Manager</a:t>
            </a:r>
          </a:p>
          <a:p>
            <a:pPr algn="l"/>
            <a:r>
              <a:rPr lang="en-US" sz="850" b="0" dirty="0">
                <a:latin typeface="Calibri"/>
              </a:rPr>
              <a:t>HR Admin</a:t>
            </a:r>
          </a:p>
        </p:txBody>
      </p:sp>
      <p:sp>
        <p:nvSpPr>
          <p:cNvPr id="41" name="Rectangle 13"/>
          <p:cNvSpPr/>
          <p:nvPr/>
        </p:nvSpPr>
        <p:spPr>
          <a:xfrm>
            <a:off x="274320" y="6021330"/>
            <a:ext cx="2200000" cy="75666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13"/>
          <p:cNvSpPr/>
          <p:nvPr/>
        </p:nvSpPr>
        <p:spPr>
          <a:xfrm>
            <a:off x="2474320" y="6021330"/>
            <a:ext cx="6400000" cy="75666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13"/>
          <p:cNvSpPr/>
          <p:nvPr/>
        </p:nvSpPr>
        <p:spPr>
          <a:xfrm>
            <a:off x="8874320" y="6021330"/>
            <a:ext cx="2738560" cy="756667"/>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17"/>
          <p:cNvSpPr txBox="1"/>
          <p:nvPr/>
        </p:nvSpPr>
        <p:spPr>
          <a:xfrm>
            <a:off x="320040" y="6049330"/>
            <a:ext cx="2108560" cy="728667"/>
          </a:xfrm>
          <a:prstGeom prst="rect">
            <a:avLst/>
          </a:prstGeom>
          <a:noFill/>
        </p:spPr>
        <p:txBody>
          <a:bodyPr wrap="square">
            <a:spAutoFit/>
          </a:bodyPr>
          <a:lstStyle/>
          <a:p>
            <a:pPr algn="l"/>
            <a:r>
              <a:rPr lang="en-US" sz="950" b="1" dirty="0">
                <a:latin typeface="Calibri"/>
              </a:rPr>
              <a:t>Reporting &amp; Audit</a:t>
            </a:r>
          </a:p>
        </p:txBody>
      </p:sp>
      <p:sp>
        <p:nvSpPr>
          <p:cNvPr id="45" name="TextBox 17"/>
          <p:cNvSpPr txBox="1"/>
          <p:nvPr/>
        </p:nvSpPr>
        <p:spPr>
          <a:xfrm>
            <a:off x="2520040" y="6049330"/>
            <a:ext cx="6308560" cy="728667"/>
          </a:xfrm>
          <a:prstGeom prst="rect">
            <a:avLst/>
          </a:prstGeom>
          <a:noFill/>
        </p:spPr>
        <p:txBody>
          <a:bodyPr wrap="square">
            <a:spAutoFit/>
          </a:bodyPr>
          <a:lstStyle/>
          <a:p>
            <a:pPr algn="l"/>
            <a:r>
              <a:rPr lang="en-US" sz="850" b="0" dirty="0">
                <a:latin typeface="Calibri"/>
              </a:rPr>
              <a:t>Generate compliance reports (ClosedXML)</a:t>
            </a:r>
          </a:p>
          <a:p>
            <a:pPr algn="l"/>
            <a:r>
              <a:rPr lang="en-US" sz="850" b="0" dirty="0">
                <a:latin typeface="Calibri"/>
              </a:rPr>
              <a:t>View &amp; export audit trail</a:t>
            </a:r>
          </a:p>
          <a:p>
            <a:pPr algn="l"/>
            <a:r>
              <a:rPr lang="en-US" sz="850" b="0" dirty="0">
                <a:latin typeface="Calibri"/>
              </a:rPr>
              <a:t>View analytics dashboard</a:t>
            </a:r>
          </a:p>
          <a:p>
            <a:pPr algn="l"/>
            <a:r>
              <a:rPr lang="en-US" sz="850" b="0" dirty="0">
                <a:latin typeface="Calibri"/>
              </a:rPr>
              <a:t>Schedule nightly report</a:t>
            </a:r>
          </a:p>
          <a:p>
            <a:pPr algn="l"/>
            <a:r>
              <a:rPr lang="en-US" sz="850" b="0" dirty="0">
                <a:latin typeface="Calibri"/>
              </a:rPr>
              <a:t>Ingest &amp; persist audit events (Azure Event Hub -&gt; 7-yr SQL)</a:t>
            </a:r>
          </a:p>
        </p:txBody>
      </p:sp>
      <p:sp>
        <p:nvSpPr>
          <p:cNvPr id="46" name="TextBox 17"/>
          <p:cNvSpPr txBox="1"/>
          <p:nvPr/>
        </p:nvSpPr>
        <p:spPr>
          <a:xfrm>
            <a:off x="8920040" y="6049330"/>
            <a:ext cx="2647120" cy="728667"/>
          </a:xfrm>
          <a:prstGeom prst="rect">
            <a:avLst/>
          </a:prstGeom>
          <a:noFill/>
        </p:spPr>
        <p:txBody>
          <a:bodyPr wrap="square">
            <a:spAutoFit/>
          </a:bodyPr>
          <a:lstStyle/>
          <a:p>
            <a:pPr algn="l"/>
            <a:r>
              <a:rPr lang="en-US" sz="850" b="0" dirty="0">
                <a:latin typeface="Calibri"/>
              </a:rPr>
              <a:t>Finance User</a:t>
            </a:r>
          </a:p>
          <a:p>
            <a:pPr algn="l"/>
            <a:r>
              <a:rPr lang="en-US" sz="850" b="0" dirty="0">
                <a:latin typeface="Calibri"/>
              </a:rPr>
              <a:t>HR Admin</a:t>
            </a:r>
          </a:p>
          <a:p>
            <a:pPr algn="l"/>
            <a:r>
              <a:rPr lang="en-US" sz="850" b="0" dirty="0">
                <a:latin typeface="Calibri"/>
              </a:rPr>
              <a:t>Reporting Service (System)</a:t>
            </a:r>
          </a:p>
        </p:txBody>
      </p:sp>
    </p:spTree>
    <p:extLst>
      <p:ext uri="{BB962C8B-B14F-4D97-AF65-F5344CB8AC3E}">
        <p14:creationId xmlns:p14="http://schemas.microsoft.com/office/powerpoint/2010/main" val="2910549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02  Scope Definition</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Source: Requirement Analysis &amp; Clarification Document — Section 6 (Constraints)</a:t>
            </a:r>
          </a:p>
        </p:txBody>
      </p:sp>
      <p:sp>
        <p:nvSpPr>
          <p:cNvPr id="6" name="Rectangle 5"/>
          <p:cNvSpPr/>
          <p:nvPr/>
        </p:nvSpPr>
        <p:spPr>
          <a:xfrm>
            <a:off x="365760" y="1097280"/>
            <a:ext cx="5394960" cy="53035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097280"/>
            <a:ext cx="5394960" cy="411480"/>
          </a:xfrm>
          <a:prstGeom prst="rect">
            <a:avLst/>
          </a:prstGeom>
          <a:solidFill>
            <a:srgbClr val="1E7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152144"/>
            <a:ext cx="5212080" cy="320040"/>
          </a:xfrm>
          <a:prstGeom prst="rect">
            <a:avLst/>
          </a:prstGeom>
          <a:noFill/>
        </p:spPr>
        <p:txBody>
          <a:bodyPr wrap="square">
            <a:spAutoFit/>
          </a:bodyPr>
          <a:lstStyle/>
          <a:p>
            <a:pPr algn="l"/>
            <a:r>
              <a:rPr sz="1600" b="1" i="0">
                <a:solidFill>
                  <a:srgbClr val="FFFFFF"/>
                </a:solidFill>
                <a:latin typeface="Calibri"/>
              </a:rPr>
              <a:t>IN SCOPE</a:t>
            </a:r>
          </a:p>
        </p:txBody>
      </p:sp>
      <p:sp>
        <p:nvSpPr>
          <p:cNvPr id="9" name="TextBox 8"/>
          <p:cNvSpPr txBox="1"/>
          <p:nvPr/>
        </p:nvSpPr>
        <p:spPr>
          <a:xfrm>
            <a:off x="457200" y="1572768"/>
            <a:ext cx="5212080" cy="2516073"/>
          </a:xfrm>
          <a:prstGeom prst="rect">
            <a:avLst/>
          </a:prstGeom>
          <a:noFill/>
        </p:spPr>
        <p:txBody>
          <a:bodyPr wrap="square">
            <a:spAutoFit/>
          </a:bodyPr>
          <a:lstStyle/>
          <a:p>
            <a:pPr>
              <a:spcBef>
                <a:spcPts val="300"/>
              </a:spcBef>
            </a:pPr>
            <a:r>
              <a:rPr sz="1350" dirty="0">
                <a:solidFill>
                  <a:srgbClr val="444444"/>
                </a:solidFill>
                <a:latin typeface="Calibri"/>
              </a:rPr>
              <a:t>▸  7 backend microservices (mandated in requirement doc)</a:t>
            </a:r>
          </a:p>
          <a:p>
            <a:pPr>
              <a:spcBef>
                <a:spcPts val="300"/>
              </a:spcBef>
            </a:pPr>
            <a:r>
              <a:rPr sz="1350" dirty="0">
                <a:solidFill>
                  <a:srgbClr val="444444"/>
                </a:solidFill>
                <a:latin typeface="Calibri"/>
              </a:rPr>
              <a:t>▸  4 micro-frontend portals (mandated in requirement doc)</a:t>
            </a:r>
          </a:p>
          <a:p>
            <a:pPr>
              <a:spcBef>
                <a:spcPts val="300"/>
              </a:spcBef>
            </a:pPr>
            <a:r>
              <a:rPr sz="1350" dirty="0">
                <a:solidFill>
                  <a:srgbClr val="444444"/>
                </a:solidFill>
                <a:latin typeface="Calibri"/>
              </a:rPr>
              <a:t>▸  Benefits catalogue, claims &amp; approval workflow</a:t>
            </a:r>
          </a:p>
          <a:p>
            <a:pPr>
              <a:spcBef>
                <a:spcPts val="300"/>
              </a:spcBef>
            </a:pPr>
            <a:r>
              <a:rPr sz="1350" dirty="0">
                <a:solidFill>
                  <a:srgbClr val="444444"/>
                </a:solidFill>
                <a:latin typeface="Calibri"/>
              </a:rPr>
              <a:t>▸  Compensation rules engine (rule-based, NOT hardcoded)</a:t>
            </a:r>
          </a:p>
          <a:p>
            <a:pPr>
              <a:spcBef>
                <a:spcPts val="300"/>
              </a:spcBef>
            </a:pPr>
            <a:r>
              <a:rPr sz="1350" dirty="0">
                <a:solidFill>
                  <a:srgbClr val="444444"/>
                </a:solidFill>
                <a:latin typeface="Calibri"/>
              </a:rPr>
              <a:t>▸  Payroll system integration (SAP / ADP / Workday)</a:t>
            </a:r>
          </a:p>
          <a:p>
            <a:pPr>
              <a:spcBef>
                <a:spcPts val="300"/>
              </a:spcBef>
            </a:pPr>
            <a:r>
              <a:rPr sz="1350" dirty="0">
                <a:solidFill>
                  <a:srgbClr val="444444"/>
                </a:solidFill>
                <a:latin typeface="Calibri"/>
              </a:rPr>
              <a:t>▸  Analytics &amp; compliance reporting</a:t>
            </a:r>
          </a:p>
          <a:p>
            <a:pPr>
              <a:spcBef>
                <a:spcPts val="300"/>
              </a:spcBef>
            </a:pPr>
            <a:r>
              <a:rPr sz="1350" dirty="0">
                <a:solidFill>
                  <a:srgbClr val="444444"/>
                </a:solidFill>
                <a:latin typeface="Calibri"/>
              </a:rPr>
              <a:t>▸  RBAC — 4 defined user roles</a:t>
            </a:r>
          </a:p>
          <a:p>
            <a:pPr>
              <a:spcBef>
                <a:spcPts val="300"/>
              </a:spcBef>
            </a:pPr>
            <a:r>
              <a:rPr sz="1350" dirty="0">
                <a:solidFill>
                  <a:srgbClr val="444444"/>
                </a:solidFill>
                <a:latin typeface="Calibri"/>
              </a:rPr>
              <a:t>▸  Multi-country compliance rules support</a:t>
            </a:r>
          </a:p>
          <a:p>
            <a:pPr>
              <a:spcBef>
                <a:spcPts val="300"/>
              </a:spcBef>
            </a:pPr>
            <a:r>
              <a:rPr sz="1350" dirty="0">
                <a:solidFill>
                  <a:srgbClr val="444444"/>
                </a:solidFill>
                <a:latin typeface="Calibri"/>
              </a:rPr>
              <a:t>▸  Cloud-native deployment on Microsoft Azure</a:t>
            </a:r>
          </a:p>
          <a:p>
            <a:pPr>
              <a:spcBef>
                <a:spcPts val="300"/>
              </a:spcBef>
            </a:pPr>
            <a:r>
              <a:rPr sz="1350" dirty="0">
                <a:solidFill>
                  <a:srgbClr val="444444"/>
                </a:solidFill>
                <a:latin typeface="Calibri"/>
              </a:rPr>
              <a:t>▸  Gen AI code companion tools (Claude Code)</a:t>
            </a:r>
          </a:p>
        </p:txBody>
      </p:sp>
      <p:sp>
        <p:nvSpPr>
          <p:cNvPr id="10" name="Rectangle 9"/>
          <p:cNvSpPr/>
          <p:nvPr/>
        </p:nvSpPr>
        <p:spPr>
          <a:xfrm>
            <a:off x="6126480" y="1097280"/>
            <a:ext cx="5669280" cy="53035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1097280"/>
            <a:ext cx="566928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152144"/>
            <a:ext cx="5486400" cy="320040"/>
          </a:xfrm>
          <a:prstGeom prst="rect">
            <a:avLst/>
          </a:prstGeom>
          <a:noFill/>
        </p:spPr>
        <p:txBody>
          <a:bodyPr wrap="square">
            <a:spAutoFit/>
          </a:bodyPr>
          <a:lstStyle/>
          <a:p>
            <a:pPr algn="l"/>
            <a:r>
              <a:rPr sz="1600" b="1" i="0">
                <a:solidFill>
                  <a:srgbClr val="FFFFFF"/>
                </a:solidFill>
                <a:latin typeface="Calibri"/>
              </a:rPr>
              <a:t>OUT OF SCOPE</a:t>
            </a:r>
          </a:p>
        </p:txBody>
      </p:sp>
      <p:sp>
        <p:nvSpPr>
          <p:cNvPr id="13" name="TextBox 12"/>
          <p:cNvSpPr txBox="1"/>
          <p:nvPr/>
        </p:nvSpPr>
        <p:spPr>
          <a:xfrm>
            <a:off x="6217920" y="1572768"/>
            <a:ext cx="5486400" cy="2926080"/>
          </a:xfrm>
          <a:prstGeom prst="rect">
            <a:avLst/>
          </a:prstGeom>
          <a:noFill/>
        </p:spPr>
        <p:txBody>
          <a:bodyPr wrap="square">
            <a:spAutoFit/>
          </a:bodyPr>
          <a:lstStyle/>
          <a:p>
            <a:pPr>
              <a:spcBef>
                <a:spcPts val="300"/>
              </a:spcBef>
            </a:pPr>
            <a:r>
              <a:rPr sz="1350">
                <a:solidFill>
                  <a:srgbClr val="444444"/>
                </a:solidFill>
                <a:latin typeface="Calibri"/>
              </a:rPr>
              <a:t>▸  Mobile native applications (iOS / Android) — not in requirement</a:t>
            </a:r>
          </a:p>
          <a:p>
            <a:pPr>
              <a:spcBef>
                <a:spcPts val="300"/>
              </a:spcBef>
            </a:pPr>
            <a:r>
              <a:rPr sz="1350">
                <a:solidFill>
                  <a:srgbClr val="444444"/>
                </a:solidFill>
                <a:latin typeface="Calibri"/>
              </a:rPr>
              <a:t>▸  On-premises or hybrid cloud deployment</a:t>
            </a:r>
          </a:p>
          <a:p>
            <a:pPr>
              <a:spcBef>
                <a:spcPts val="300"/>
              </a:spcBef>
            </a:pPr>
            <a:r>
              <a:rPr sz="1350">
                <a:solidFill>
                  <a:srgbClr val="444444"/>
                </a:solidFill>
                <a:latin typeface="Calibri"/>
              </a:rPr>
              <a:t>▸  Internal logic of external payroll systems (SAP/ADP/Workday)</a:t>
            </a:r>
          </a:p>
          <a:p>
            <a:pPr>
              <a:spcBef>
                <a:spcPts val="300"/>
              </a:spcBef>
            </a:pPr>
            <a:r>
              <a:rPr sz="1350">
                <a:solidFill>
                  <a:srgbClr val="444444"/>
                </a:solidFill>
                <a:latin typeface="Calibri"/>
              </a:rPr>
              <a:t>▸  Legacy system data migration</a:t>
            </a:r>
          </a:p>
          <a:p>
            <a:pPr>
              <a:spcBef>
                <a:spcPts val="300"/>
              </a:spcBef>
            </a:pPr>
            <a:r>
              <a:rPr sz="1350">
                <a:solidFill>
                  <a:srgbClr val="444444"/>
                </a:solidFill>
                <a:latin typeface="Calibri"/>
              </a:rPr>
              <a:t>▸  Multi-tenancy — single-tenant deployment</a:t>
            </a:r>
          </a:p>
          <a:p>
            <a:pPr>
              <a:spcBef>
                <a:spcPts val="300"/>
              </a:spcBef>
            </a:pPr>
            <a:r>
              <a:rPr sz="1350">
                <a:solidFill>
                  <a:srgbClr val="444444"/>
                </a:solidFill>
                <a:latin typeface="Calibri"/>
              </a:rPr>
              <a:t>▸  Custom hardware provisioning</a:t>
            </a:r>
          </a:p>
          <a:p>
            <a:pPr>
              <a:spcBef>
                <a:spcPts val="300"/>
              </a:spcBef>
            </a:pPr>
            <a:r>
              <a:rPr sz="1350">
                <a:solidFill>
                  <a:srgbClr val="444444"/>
                </a:solidFill>
                <a:latin typeface="Calibri"/>
              </a:rPr>
              <a:t>▸  Budget / cost constraints — not specified in requirement</a:t>
            </a:r>
          </a:p>
        </p:txBody>
      </p:sp>
      <p:sp>
        <p:nvSpPr>
          <p:cNvPr id="14" name="Rectangle 13"/>
          <p:cNvSpPr/>
          <p:nvPr/>
        </p:nvSpPr>
        <p:spPr>
          <a:xfrm>
            <a:off x="6217920" y="4663440"/>
            <a:ext cx="5486400" cy="640080"/>
          </a:xfrm>
          <a:prstGeom prst="rect">
            <a:avLst/>
          </a:prstGeom>
          <a:solidFill>
            <a:srgbClr val="FFF2CC"/>
          </a:solidFill>
          <a:ln>
            <a:solidFill>
              <a:srgbClr val="BF8F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b="1">
                <a:solidFill>
                  <a:srgbClr val="BF8F00"/>
                </a:solidFill>
                <a:latin typeface="Calibri"/>
              </a:rPr>
              <a:t>Requirement Constraints:  </a:t>
            </a:r>
            <a:r>
              <a:rPr sz="1250">
                <a:solidFill>
                  <a:srgbClr val="5C3000"/>
                </a:solidFill>
                <a:latin typeface="Calibri"/>
              </a:rPr>
              <a:t>Compensation logic MUST use Rule Engine approach — NOT hardcoded. Gen AI code companion tools MUST be leveraged throughout delivery.</a:t>
            </a:r>
          </a:p>
        </p:txBody>
      </p:sp>
      <p:sp>
        <p:nvSpPr>
          <p:cNvPr id="15" name="TextBox 14"/>
          <p:cNvSpPr txBox="1"/>
          <p:nvPr/>
        </p:nvSpPr>
        <p:spPr>
          <a:xfrm>
            <a:off x="365760" y="6537960"/>
            <a:ext cx="11640312" cy="274320"/>
          </a:xfrm>
          <a:prstGeom prst="rect">
            <a:avLst/>
          </a:prstGeom>
          <a:noFill/>
        </p:spPr>
        <p:txBody>
          <a:bodyPr wrap="square">
            <a:spAutoFit/>
          </a:bodyPr>
          <a:lstStyle/>
          <a:p>
            <a:pPr algn="l"/>
            <a:r>
              <a:rPr sz="1000" b="0" i="1">
                <a:solidFill>
                  <a:srgbClr val="888888"/>
                </a:solidFill>
                <a:latin typeface="Calibri"/>
              </a:rPr>
              <a:t>Source: Requirement Analysis &amp; Clarification Document — Section 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03  Assumptions</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Architectural decisions made where the requirement document does not specify — clearly labelled</a:t>
            </a:r>
          </a:p>
        </p:txBody>
      </p:sp>
      <p:sp>
        <p:nvSpPr>
          <p:cNvPr id="6" name="Rectangle 5"/>
          <p:cNvSpPr/>
          <p:nvPr/>
        </p:nvSpPr>
        <p:spPr>
          <a:xfrm>
            <a:off x="365760" y="1097280"/>
            <a:ext cx="11457432" cy="658368"/>
          </a:xfrm>
          <a:prstGeom prst="rect">
            <a:avLst/>
          </a:prstGeom>
          <a:solidFill>
            <a:srgbClr val="FCE4D6"/>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C00000"/>
                </a:solidFill>
                <a:latin typeface="Calibri"/>
              </a:rPr>
              <a:t>NOTE:  </a:t>
            </a:r>
            <a:r>
              <a:rPr sz="1300" dirty="0">
                <a:solidFill>
                  <a:srgbClr val="C00000"/>
                </a:solidFill>
                <a:latin typeface="Calibri"/>
              </a:rPr>
              <a:t>The Requirement Document do NOT specify: performance targets, availability SLA, authentication protocol, encryption standards, or DR targets. The following are ARCHITECTURAL ASSUMPTIONS made during design.</a:t>
            </a:r>
          </a:p>
        </p:txBody>
      </p:sp>
      <p:sp>
        <p:nvSpPr>
          <p:cNvPr id="7" name="Rectangle 6"/>
          <p:cNvSpPr/>
          <p:nvPr/>
        </p:nvSpPr>
        <p:spPr>
          <a:xfrm>
            <a:off x="365760" y="1920240"/>
            <a:ext cx="3749039" cy="13533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920240"/>
            <a:ext cx="3749039" cy="34747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8912" y="1975104"/>
            <a:ext cx="3602736" cy="274320"/>
          </a:xfrm>
          <a:prstGeom prst="rect">
            <a:avLst/>
          </a:prstGeom>
          <a:noFill/>
        </p:spPr>
        <p:txBody>
          <a:bodyPr wrap="square">
            <a:spAutoFit/>
          </a:bodyPr>
          <a:lstStyle/>
          <a:p>
            <a:pPr algn="l"/>
            <a:r>
              <a:rPr sz="1300" b="1" i="0">
                <a:solidFill>
                  <a:srgbClr val="FFFFFF"/>
                </a:solidFill>
                <a:latin typeface="Calibri"/>
              </a:rPr>
              <a:t>Cloud Platform</a:t>
            </a:r>
          </a:p>
        </p:txBody>
      </p:sp>
      <p:sp>
        <p:nvSpPr>
          <p:cNvPr id="10" name="TextBox 9"/>
          <p:cNvSpPr txBox="1"/>
          <p:nvPr/>
        </p:nvSpPr>
        <p:spPr>
          <a:xfrm>
            <a:off x="438912" y="2359152"/>
            <a:ext cx="3602736" cy="822960"/>
          </a:xfrm>
          <a:prstGeom prst="rect">
            <a:avLst/>
          </a:prstGeom>
          <a:noFill/>
        </p:spPr>
        <p:txBody>
          <a:bodyPr wrap="square">
            <a:spAutoFit/>
          </a:bodyPr>
          <a:lstStyle/>
          <a:p>
            <a:pPr algn="l"/>
            <a:r>
              <a:rPr sz="1250" b="0" i="0">
                <a:solidFill>
                  <a:srgbClr val="444444"/>
                </a:solidFill>
                <a:latin typeface="Calibri"/>
              </a:rPr>
              <a:t>Microsoft Azure selected (requirement allows AWS or Azure)</a:t>
            </a:r>
          </a:p>
        </p:txBody>
      </p:sp>
      <p:sp>
        <p:nvSpPr>
          <p:cNvPr id="11" name="Rectangle 10"/>
          <p:cNvSpPr/>
          <p:nvPr/>
        </p:nvSpPr>
        <p:spPr>
          <a:xfrm>
            <a:off x="4297680" y="1920240"/>
            <a:ext cx="3749039" cy="13533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1920240"/>
            <a:ext cx="3749039"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70832" y="1975104"/>
            <a:ext cx="3602736" cy="274320"/>
          </a:xfrm>
          <a:prstGeom prst="rect">
            <a:avLst/>
          </a:prstGeom>
          <a:noFill/>
        </p:spPr>
        <p:txBody>
          <a:bodyPr wrap="square">
            <a:spAutoFit/>
          </a:bodyPr>
          <a:lstStyle/>
          <a:p>
            <a:pPr algn="l"/>
            <a:r>
              <a:rPr sz="1300" b="1" i="0">
                <a:solidFill>
                  <a:srgbClr val="FFFFFF"/>
                </a:solidFill>
                <a:latin typeface="Calibri"/>
              </a:rPr>
              <a:t>Authentication</a:t>
            </a:r>
          </a:p>
        </p:txBody>
      </p:sp>
      <p:sp>
        <p:nvSpPr>
          <p:cNvPr id="14" name="TextBox 13"/>
          <p:cNvSpPr txBox="1"/>
          <p:nvPr/>
        </p:nvSpPr>
        <p:spPr>
          <a:xfrm>
            <a:off x="4370832" y="2359152"/>
            <a:ext cx="3602736" cy="822960"/>
          </a:xfrm>
          <a:prstGeom prst="rect">
            <a:avLst/>
          </a:prstGeom>
          <a:noFill/>
        </p:spPr>
        <p:txBody>
          <a:bodyPr wrap="square">
            <a:spAutoFit/>
          </a:bodyPr>
          <a:lstStyle/>
          <a:p>
            <a:pPr algn="l"/>
            <a:r>
              <a:rPr sz="1250" b="0" i="0">
                <a:solidFill>
                  <a:srgbClr val="444444"/>
                </a:solidFill>
                <a:latin typeface="Calibri"/>
              </a:rPr>
              <a:t>Azure AD / Entra ID — OIDC / OAuth 2.0 + MFA for all users</a:t>
            </a:r>
          </a:p>
        </p:txBody>
      </p:sp>
      <p:sp>
        <p:nvSpPr>
          <p:cNvPr id="15" name="Rectangle 14"/>
          <p:cNvSpPr/>
          <p:nvPr/>
        </p:nvSpPr>
        <p:spPr>
          <a:xfrm>
            <a:off x="8229600" y="1920240"/>
            <a:ext cx="3749039" cy="13533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600" y="1920240"/>
            <a:ext cx="3749039" cy="347472"/>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02752" y="1975104"/>
            <a:ext cx="3602736" cy="274320"/>
          </a:xfrm>
          <a:prstGeom prst="rect">
            <a:avLst/>
          </a:prstGeom>
          <a:noFill/>
        </p:spPr>
        <p:txBody>
          <a:bodyPr wrap="square">
            <a:spAutoFit/>
          </a:bodyPr>
          <a:lstStyle/>
          <a:p>
            <a:pPr algn="l"/>
            <a:r>
              <a:rPr sz="1300" b="1" i="0">
                <a:solidFill>
                  <a:srgbClr val="FFFFFF"/>
                </a:solidFill>
                <a:latin typeface="Calibri"/>
              </a:rPr>
              <a:t>Security</a:t>
            </a:r>
          </a:p>
        </p:txBody>
      </p:sp>
      <p:sp>
        <p:nvSpPr>
          <p:cNvPr id="18" name="TextBox 17"/>
          <p:cNvSpPr txBox="1"/>
          <p:nvPr/>
        </p:nvSpPr>
        <p:spPr>
          <a:xfrm>
            <a:off x="8302752" y="2359152"/>
            <a:ext cx="3602736" cy="822960"/>
          </a:xfrm>
          <a:prstGeom prst="rect">
            <a:avLst/>
          </a:prstGeom>
          <a:noFill/>
        </p:spPr>
        <p:txBody>
          <a:bodyPr wrap="square">
            <a:spAutoFit/>
          </a:bodyPr>
          <a:lstStyle/>
          <a:p>
            <a:pPr algn="l"/>
            <a:r>
              <a:rPr sz="1250" b="0" i="0">
                <a:solidFill>
                  <a:srgbClr val="444444"/>
                </a:solidFill>
                <a:latin typeface="Calibri"/>
              </a:rPr>
              <a:t>TLS 1.3 in transit, AES-256 at rest, JWT RS256 signing, Private VNet</a:t>
            </a:r>
          </a:p>
        </p:txBody>
      </p:sp>
      <p:sp>
        <p:nvSpPr>
          <p:cNvPr id="19" name="Rectangle 18"/>
          <p:cNvSpPr/>
          <p:nvPr/>
        </p:nvSpPr>
        <p:spPr>
          <a:xfrm>
            <a:off x="365760" y="3383280"/>
            <a:ext cx="3749039" cy="13533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3383280"/>
            <a:ext cx="3749039" cy="347472"/>
          </a:xfrm>
          <a:prstGeom prst="rect">
            <a:avLst/>
          </a:prstGeom>
          <a:solidFill>
            <a:srgbClr val="1E7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8912" y="3438144"/>
            <a:ext cx="3602736" cy="274320"/>
          </a:xfrm>
          <a:prstGeom prst="rect">
            <a:avLst/>
          </a:prstGeom>
          <a:noFill/>
        </p:spPr>
        <p:txBody>
          <a:bodyPr wrap="square">
            <a:spAutoFit/>
          </a:bodyPr>
          <a:lstStyle/>
          <a:p>
            <a:pPr algn="l"/>
            <a:r>
              <a:rPr sz="1300" b="1" i="0">
                <a:solidFill>
                  <a:srgbClr val="FFFFFF"/>
                </a:solidFill>
                <a:latin typeface="Calibri"/>
              </a:rPr>
              <a:t>Availability</a:t>
            </a:r>
          </a:p>
        </p:txBody>
      </p:sp>
      <p:sp>
        <p:nvSpPr>
          <p:cNvPr id="22" name="TextBox 21"/>
          <p:cNvSpPr txBox="1"/>
          <p:nvPr/>
        </p:nvSpPr>
        <p:spPr>
          <a:xfrm>
            <a:off x="438912" y="3822192"/>
            <a:ext cx="3602736" cy="822960"/>
          </a:xfrm>
          <a:prstGeom prst="rect">
            <a:avLst/>
          </a:prstGeom>
          <a:noFill/>
        </p:spPr>
        <p:txBody>
          <a:bodyPr wrap="square">
            <a:spAutoFit/>
          </a:bodyPr>
          <a:lstStyle/>
          <a:p>
            <a:pPr algn="l"/>
            <a:r>
              <a:rPr sz="1250" b="0" i="0">
                <a:solidFill>
                  <a:srgbClr val="444444"/>
                </a:solidFill>
                <a:latin typeface="Calibri"/>
              </a:rPr>
              <a:t>99.9%+ uptime target — zone-redundant across 3 Azure Availability Zones</a:t>
            </a:r>
          </a:p>
        </p:txBody>
      </p:sp>
      <p:sp>
        <p:nvSpPr>
          <p:cNvPr id="23" name="Rectangle 22"/>
          <p:cNvSpPr/>
          <p:nvPr/>
        </p:nvSpPr>
        <p:spPr>
          <a:xfrm>
            <a:off x="4297680" y="3383280"/>
            <a:ext cx="3749039" cy="13533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97680" y="3383280"/>
            <a:ext cx="3749039" cy="347472"/>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70832" y="3438144"/>
            <a:ext cx="3602736" cy="274320"/>
          </a:xfrm>
          <a:prstGeom prst="rect">
            <a:avLst/>
          </a:prstGeom>
          <a:noFill/>
        </p:spPr>
        <p:txBody>
          <a:bodyPr wrap="square">
            <a:spAutoFit/>
          </a:bodyPr>
          <a:lstStyle/>
          <a:p>
            <a:pPr algn="l"/>
            <a:r>
              <a:rPr sz="1300" b="1" i="0">
                <a:solidFill>
                  <a:srgbClr val="FFFFFF"/>
                </a:solidFill>
                <a:latin typeface="Calibri"/>
              </a:rPr>
              <a:t>Disaster Recovery</a:t>
            </a:r>
          </a:p>
        </p:txBody>
      </p:sp>
      <p:sp>
        <p:nvSpPr>
          <p:cNvPr id="26" name="TextBox 25"/>
          <p:cNvSpPr txBox="1"/>
          <p:nvPr/>
        </p:nvSpPr>
        <p:spPr>
          <a:xfrm>
            <a:off x="4370832" y="3822192"/>
            <a:ext cx="3602736" cy="822960"/>
          </a:xfrm>
          <a:prstGeom prst="rect">
            <a:avLst/>
          </a:prstGeom>
          <a:noFill/>
        </p:spPr>
        <p:txBody>
          <a:bodyPr wrap="square">
            <a:spAutoFit/>
          </a:bodyPr>
          <a:lstStyle/>
          <a:p>
            <a:pPr algn="l"/>
            <a:r>
              <a:rPr sz="1250" b="0" i="0">
                <a:solidFill>
                  <a:srgbClr val="444444"/>
                </a:solidFill>
                <a:latin typeface="Calibri"/>
              </a:rPr>
              <a:t>Active-Passive DR: East US 2 (Primary) → West US 2 (DR)  |  RTO &lt; 30 min</a:t>
            </a:r>
          </a:p>
        </p:txBody>
      </p:sp>
      <p:sp>
        <p:nvSpPr>
          <p:cNvPr id="27" name="Rectangle 26"/>
          <p:cNvSpPr/>
          <p:nvPr/>
        </p:nvSpPr>
        <p:spPr>
          <a:xfrm>
            <a:off x="8229600" y="3383280"/>
            <a:ext cx="3749039" cy="13533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229600" y="3383280"/>
            <a:ext cx="3749039" cy="347472"/>
          </a:xfrm>
          <a:prstGeom prst="rect">
            <a:avLst/>
          </a:prstGeom>
          <a:solidFill>
            <a:srgbClr val="B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02752" y="3438144"/>
            <a:ext cx="3602736" cy="274320"/>
          </a:xfrm>
          <a:prstGeom prst="rect">
            <a:avLst/>
          </a:prstGeom>
          <a:noFill/>
        </p:spPr>
        <p:txBody>
          <a:bodyPr wrap="square">
            <a:spAutoFit/>
          </a:bodyPr>
          <a:lstStyle/>
          <a:p>
            <a:pPr algn="l"/>
            <a:r>
              <a:rPr sz="1300" b="1" i="0">
                <a:solidFill>
                  <a:srgbClr val="FFFFFF"/>
                </a:solidFill>
                <a:latin typeface="Calibri"/>
              </a:rPr>
              <a:t>Performance</a:t>
            </a:r>
          </a:p>
        </p:txBody>
      </p:sp>
      <p:sp>
        <p:nvSpPr>
          <p:cNvPr id="30" name="TextBox 29"/>
          <p:cNvSpPr txBox="1"/>
          <p:nvPr/>
        </p:nvSpPr>
        <p:spPr>
          <a:xfrm>
            <a:off x="8302752" y="3822192"/>
            <a:ext cx="3602736" cy="822960"/>
          </a:xfrm>
          <a:prstGeom prst="rect">
            <a:avLst/>
          </a:prstGeom>
          <a:noFill/>
        </p:spPr>
        <p:txBody>
          <a:bodyPr wrap="square">
            <a:spAutoFit/>
          </a:bodyPr>
          <a:lstStyle/>
          <a:p>
            <a:pPr algn="l"/>
            <a:r>
              <a:rPr sz="1250" b="0" i="0">
                <a:solidFill>
                  <a:srgbClr val="444444"/>
                </a:solidFill>
                <a:latin typeface="Calibri"/>
              </a:rPr>
              <a:t>API P95 &lt; 500ms  |  OCR &lt; 5s  |  NRules CTC calc &lt; 100ms</a:t>
            </a:r>
          </a:p>
        </p:txBody>
      </p:sp>
      <p:sp>
        <p:nvSpPr>
          <p:cNvPr id="31" name="Rectangle 30"/>
          <p:cNvSpPr/>
          <p:nvPr/>
        </p:nvSpPr>
        <p:spPr>
          <a:xfrm>
            <a:off x="365760" y="4846320"/>
            <a:ext cx="3749039" cy="13533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65760" y="4846320"/>
            <a:ext cx="3749039" cy="34747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8912" y="4901184"/>
            <a:ext cx="3602736" cy="274320"/>
          </a:xfrm>
          <a:prstGeom prst="rect">
            <a:avLst/>
          </a:prstGeom>
          <a:noFill/>
        </p:spPr>
        <p:txBody>
          <a:bodyPr wrap="square">
            <a:spAutoFit/>
          </a:bodyPr>
          <a:lstStyle/>
          <a:p>
            <a:pPr algn="l"/>
            <a:r>
              <a:rPr sz="1300" b="1" i="0">
                <a:solidFill>
                  <a:srgbClr val="FFFFFF"/>
                </a:solidFill>
                <a:latin typeface="Calibri"/>
              </a:rPr>
              <a:t>Compliance</a:t>
            </a:r>
          </a:p>
        </p:txBody>
      </p:sp>
      <p:sp>
        <p:nvSpPr>
          <p:cNvPr id="34" name="TextBox 33"/>
          <p:cNvSpPr txBox="1"/>
          <p:nvPr/>
        </p:nvSpPr>
        <p:spPr>
          <a:xfrm>
            <a:off x="438912" y="5285232"/>
            <a:ext cx="3602736" cy="822960"/>
          </a:xfrm>
          <a:prstGeom prst="rect">
            <a:avLst/>
          </a:prstGeom>
          <a:noFill/>
        </p:spPr>
        <p:txBody>
          <a:bodyPr wrap="square">
            <a:spAutoFit/>
          </a:bodyPr>
          <a:lstStyle/>
          <a:p>
            <a:pPr algn="l"/>
            <a:r>
              <a:rPr sz="1250" b="0" i="0">
                <a:solidFill>
                  <a:srgbClr val="444444"/>
                </a:solidFill>
                <a:latin typeface="Calibri"/>
              </a:rPr>
              <a:t>7-year audit retention  |  GDPR-ready  |  PII masked in audit logs</a:t>
            </a:r>
          </a:p>
        </p:txBody>
      </p:sp>
      <p:sp>
        <p:nvSpPr>
          <p:cNvPr id="35" name="Rectangle 34"/>
          <p:cNvSpPr/>
          <p:nvPr/>
        </p:nvSpPr>
        <p:spPr>
          <a:xfrm>
            <a:off x="4297680" y="4846320"/>
            <a:ext cx="3749039" cy="13533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97680" y="4846320"/>
            <a:ext cx="3749039" cy="347472"/>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370832" y="4901184"/>
            <a:ext cx="3602736" cy="274320"/>
          </a:xfrm>
          <a:prstGeom prst="rect">
            <a:avLst/>
          </a:prstGeom>
          <a:noFill/>
        </p:spPr>
        <p:txBody>
          <a:bodyPr wrap="square">
            <a:spAutoFit/>
          </a:bodyPr>
          <a:lstStyle/>
          <a:p>
            <a:pPr algn="l"/>
            <a:r>
              <a:rPr sz="1300" b="1" i="0">
                <a:solidFill>
                  <a:srgbClr val="FFFFFF"/>
                </a:solidFill>
                <a:latin typeface="Calibri"/>
              </a:rPr>
              <a:t>Microservices</a:t>
            </a:r>
          </a:p>
        </p:txBody>
      </p:sp>
      <p:sp>
        <p:nvSpPr>
          <p:cNvPr id="38" name="TextBox 37"/>
          <p:cNvSpPr txBox="1"/>
          <p:nvPr/>
        </p:nvSpPr>
        <p:spPr>
          <a:xfrm>
            <a:off x="4370832" y="5285232"/>
            <a:ext cx="3602736" cy="822960"/>
          </a:xfrm>
          <a:prstGeom prst="rect">
            <a:avLst/>
          </a:prstGeom>
          <a:noFill/>
        </p:spPr>
        <p:txBody>
          <a:bodyPr wrap="square">
            <a:spAutoFit/>
          </a:bodyPr>
          <a:lstStyle/>
          <a:p>
            <a:pPr algn="l"/>
            <a:r>
              <a:rPr sz="1250" b="0" i="0">
                <a:solidFill>
                  <a:srgbClr val="444444"/>
                </a:solidFill>
                <a:latin typeface="Calibri"/>
              </a:rPr>
              <a:t>No shared databases — each service owns its own data domain</a:t>
            </a:r>
          </a:p>
        </p:txBody>
      </p:sp>
      <p:sp>
        <p:nvSpPr>
          <p:cNvPr id="39" name="Rectangle 38"/>
          <p:cNvSpPr/>
          <p:nvPr/>
        </p:nvSpPr>
        <p:spPr>
          <a:xfrm>
            <a:off x="8229600" y="4846320"/>
            <a:ext cx="3749039" cy="13533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229600" y="4846320"/>
            <a:ext cx="3749039" cy="3474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02752" y="4901184"/>
            <a:ext cx="3602736" cy="274320"/>
          </a:xfrm>
          <a:prstGeom prst="rect">
            <a:avLst/>
          </a:prstGeom>
          <a:noFill/>
        </p:spPr>
        <p:txBody>
          <a:bodyPr wrap="square">
            <a:spAutoFit/>
          </a:bodyPr>
          <a:lstStyle/>
          <a:p>
            <a:pPr algn="l"/>
            <a:r>
              <a:rPr sz="1300" b="1" i="0">
                <a:solidFill>
                  <a:srgbClr val="FFFFFF"/>
                </a:solidFill>
                <a:latin typeface="Calibri"/>
              </a:rPr>
              <a:t>CI/CD</a:t>
            </a:r>
          </a:p>
        </p:txBody>
      </p:sp>
      <p:sp>
        <p:nvSpPr>
          <p:cNvPr id="42" name="TextBox 41"/>
          <p:cNvSpPr txBox="1"/>
          <p:nvPr/>
        </p:nvSpPr>
        <p:spPr>
          <a:xfrm>
            <a:off x="8302752" y="5285232"/>
            <a:ext cx="3602736" cy="822960"/>
          </a:xfrm>
          <a:prstGeom prst="rect">
            <a:avLst/>
          </a:prstGeom>
          <a:noFill/>
        </p:spPr>
        <p:txBody>
          <a:bodyPr wrap="square">
            <a:spAutoFit/>
          </a:bodyPr>
          <a:lstStyle/>
          <a:p>
            <a:pPr algn="l"/>
            <a:r>
              <a:rPr sz="1250" b="0" i="0">
                <a:solidFill>
                  <a:srgbClr val="444444"/>
                </a:solidFill>
                <a:latin typeface="Calibri"/>
              </a:rPr>
              <a:t>GitHub Actions per-service pipelines  |  Docker + Helm on AKS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04  Business Requirements — Functional Requirements</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Source: Requirement Analysis &amp; Clarification Document — Section 1 (all 13 FRs verbatim)</a:t>
            </a:r>
          </a:p>
        </p:txBody>
      </p:sp>
      <p:sp>
        <p:nvSpPr>
          <p:cNvPr id="6" name="Rectangle 5"/>
          <p:cNvSpPr/>
          <p:nvPr/>
        </p:nvSpPr>
        <p:spPr>
          <a:xfrm>
            <a:off x="365760" y="1115568"/>
            <a:ext cx="5394960" cy="6949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115568"/>
            <a:ext cx="685800" cy="69494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1298448"/>
            <a:ext cx="640080" cy="347472"/>
          </a:xfrm>
          <a:prstGeom prst="rect">
            <a:avLst/>
          </a:prstGeom>
          <a:noFill/>
        </p:spPr>
        <p:txBody>
          <a:bodyPr wrap="square">
            <a:spAutoFit/>
          </a:bodyPr>
          <a:lstStyle/>
          <a:p>
            <a:pPr algn="ctr"/>
            <a:r>
              <a:rPr sz="1200" b="1" i="0">
                <a:solidFill>
                  <a:srgbClr val="FFFFFF"/>
                </a:solidFill>
                <a:latin typeface="Calibri"/>
              </a:rPr>
              <a:t>FR-01</a:t>
            </a:r>
          </a:p>
        </p:txBody>
      </p:sp>
      <p:sp>
        <p:nvSpPr>
          <p:cNvPr id="9" name="TextBox 8"/>
          <p:cNvSpPr txBox="1"/>
          <p:nvPr/>
        </p:nvSpPr>
        <p:spPr>
          <a:xfrm>
            <a:off x="1115568" y="1261872"/>
            <a:ext cx="4526280" cy="457200"/>
          </a:xfrm>
          <a:prstGeom prst="rect">
            <a:avLst/>
          </a:prstGeom>
          <a:noFill/>
        </p:spPr>
        <p:txBody>
          <a:bodyPr wrap="square">
            <a:spAutoFit/>
          </a:bodyPr>
          <a:lstStyle/>
          <a:p>
            <a:pPr algn="l"/>
            <a:r>
              <a:rPr sz="1300" b="0" i="0">
                <a:solidFill>
                  <a:srgbClr val="444444"/>
                </a:solidFill>
                <a:latin typeface="Calibri"/>
              </a:rPr>
              <a:t>Employees view and manage benefits catalogue (Health, LTA, Meal Cards)</a:t>
            </a:r>
          </a:p>
        </p:txBody>
      </p:sp>
      <p:sp>
        <p:nvSpPr>
          <p:cNvPr id="10" name="Rectangle 9"/>
          <p:cNvSpPr/>
          <p:nvPr/>
        </p:nvSpPr>
        <p:spPr>
          <a:xfrm>
            <a:off x="365760" y="1874520"/>
            <a:ext cx="5394960" cy="6949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760" y="1874520"/>
            <a:ext cx="685800" cy="69494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2057400"/>
            <a:ext cx="640080" cy="347472"/>
          </a:xfrm>
          <a:prstGeom prst="rect">
            <a:avLst/>
          </a:prstGeom>
          <a:noFill/>
        </p:spPr>
        <p:txBody>
          <a:bodyPr wrap="square">
            <a:spAutoFit/>
          </a:bodyPr>
          <a:lstStyle/>
          <a:p>
            <a:pPr algn="ctr"/>
            <a:r>
              <a:rPr sz="1200" b="1" i="0">
                <a:solidFill>
                  <a:srgbClr val="FFFFFF"/>
                </a:solidFill>
                <a:latin typeface="Calibri"/>
              </a:rPr>
              <a:t>FR-02</a:t>
            </a:r>
          </a:p>
        </p:txBody>
      </p:sp>
      <p:sp>
        <p:nvSpPr>
          <p:cNvPr id="13" name="TextBox 12"/>
          <p:cNvSpPr txBox="1"/>
          <p:nvPr/>
        </p:nvSpPr>
        <p:spPr>
          <a:xfrm>
            <a:off x="1115568" y="2020824"/>
            <a:ext cx="4526280" cy="457200"/>
          </a:xfrm>
          <a:prstGeom prst="rect">
            <a:avLst/>
          </a:prstGeom>
          <a:noFill/>
        </p:spPr>
        <p:txBody>
          <a:bodyPr wrap="square">
            <a:spAutoFit/>
          </a:bodyPr>
          <a:lstStyle/>
          <a:p>
            <a:pPr algn="l"/>
            <a:r>
              <a:rPr sz="1300" b="0" i="0">
                <a:solidFill>
                  <a:srgbClr val="444444"/>
                </a:solidFill>
                <a:latin typeface="Calibri"/>
              </a:rPr>
              <a:t>Employees submit reimbursement claims with supporting receipt uploads</a:t>
            </a:r>
          </a:p>
        </p:txBody>
      </p:sp>
      <p:sp>
        <p:nvSpPr>
          <p:cNvPr id="14" name="Rectangle 13"/>
          <p:cNvSpPr/>
          <p:nvPr/>
        </p:nvSpPr>
        <p:spPr>
          <a:xfrm>
            <a:off x="365760" y="2633472"/>
            <a:ext cx="5394960" cy="6949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2633472"/>
            <a:ext cx="685800" cy="69494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4048" y="2816352"/>
            <a:ext cx="640080" cy="347472"/>
          </a:xfrm>
          <a:prstGeom prst="rect">
            <a:avLst/>
          </a:prstGeom>
          <a:noFill/>
        </p:spPr>
        <p:txBody>
          <a:bodyPr wrap="square">
            <a:spAutoFit/>
          </a:bodyPr>
          <a:lstStyle/>
          <a:p>
            <a:pPr algn="ctr"/>
            <a:r>
              <a:rPr sz="1200" b="1" i="0">
                <a:solidFill>
                  <a:srgbClr val="FFFFFF"/>
                </a:solidFill>
                <a:latin typeface="Calibri"/>
              </a:rPr>
              <a:t>FR-03</a:t>
            </a:r>
          </a:p>
        </p:txBody>
      </p:sp>
      <p:sp>
        <p:nvSpPr>
          <p:cNvPr id="17" name="TextBox 16"/>
          <p:cNvSpPr txBox="1"/>
          <p:nvPr/>
        </p:nvSpPr>
        <p:spPr>
          <a:xfrm>
            <a:off x="1115568" y="2779776"/>
            <a:ext cx="4526280" cy="457200"/>
          </a:xfrm>
          <a:prstGeom prst="rect">
            <a:avLst/>
          </a:prstGeom>
          <a:noFill/>
        </p:spPr>
        <p:txBody>
          <a:bodyPr wrap="square">
            <a:spAutoFit/>
          </a:bodyPr>
          <a:lstStyle/>
          <a:p>
            <a:pPr algn="l"/>
            <a:r>
              <a:rPr sz="1300" b="0" i="0">
                <a:solidFill>
                  <a:srgbClr val="444444"/>
                </a:solidFill>
                <a:latin typeface="Calibri"/>
              </a:rPr>
              <a:t>Employees track claim status in real time</a:t>
            </a:r>
          </a:p>
        </p:txBody>
      </p:sp>
      <p:sp>
        <p:nvSpPr>
          <p:cNvPr id="18" name="Rectangle 17"/>
          <p:cNvSpPr/>
          <p:nvPr/>
        </p:nvSpPr>
        <p:spPr>
          <a:xfrm>
            <a:off x="365760" y="3392424"/>
            <a:ext cx="5394960" cy="6949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3392424"/>
            <a:ext cx="685800" cy="69494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4048" y="3575304"/>
            <a:ext cx="640080" cy="347472"/>
          </a:xfrm>
          <a:prstGeom prst="rect">
            <a:avLst/>
          </a:prstGeom>
          <a:noFill/>
        </p:spPr>
        <p:txBody>
          <a:bodyPr wrap="square">
            <a:spAutoFit/>
          </a:bodyPr>
          <a:lstStyle/>
          <a:p>
            <a:pPr algn="ctr"/>
            <a:r>
              <a:rPr sz="1200" b="1" i="0">
                <a:solidFill>
                  <a:srgbClr val="FFFFFF"/>
                </a:solidFill>
                <a:latin typeface="Calibri"/>
              </a:rPr>
              <a:t>FR-04</a:t>
            </a:r>
          </a:p>
        </p:txBody>
      </p:sp>
      <p:sp>
        <p:nvSpPr>
          <p:cNvPr id="21" name="TextBox 20"/>
          <p:cNvSpPr txBox="1"/>
          <p:nvPr/>
        </p:nvSpPr>
        <p:spPr>
          <a:xfrm>
            <a:off x="1115568" y="3538728"/>
            <a:ext cx="4526280" cy="457200"/>
          </a:xfrm>
          <a:prstGeom prst="rect">
            <a:avLst/>
          </a:prstGeom>
          <a:noFill/>
        </p:spPr>
        <p:txBody>
          <a:bodyPr wrap="square">
            <a:spAutoFit/>
          </a:bodyPr>
          <a:lstStyle/>
          <a:p>
            <a:pPr algn="l"/>
            <a:r>
              <a:rPr sz="1300" b="0" i="0">
                <a:solidFill>
                  <a:srgbClr val="444444"/>
                </a:solidFill>
                <a:latin typeface="Calibri"/>
              </a:rPr>
              <a:t>Managers review, approve, or reject submitted claims</a:t>
            </a:r>
          </a:p>
        </p:txBody>
      </p:sp>
      <p:sp>
        <p:nvSpPr>
          <p:cNvPr id="22" name="Rectangle 21"/>
          <p:cNvSpPr/>
          <p:nvPr/>
        </p:nvSpPr>
        <p:spPr>
          <a:xfrm>
            <a:off x="365760" y="4151376"/>
            <a:ext cx="5394960" cy="6949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5760" y="4151376"/>
            <a:ext cx="685800" cy="69494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84048" y="4334256"/>
            <a:ext cx="640080" cy="347472"/>
          </a:xfrm>
          <a:prstGeom prst="rect">
            <a:avLst/>
          </a:prstGeom>
          <a:noFill/>
        </p:spPr>
        <p:txBody>
          <a:bodyPr wrap="square">
            <a:spAutoFit/>
          </a:bodyPr>
          <a:lstStyle/>
          <a:p>
            <a:pPr algn="ctr"/>
            <a:r>
              <a:rPr sz="1200" b="1" i="0">
                <a:solidFill>
                  <a:srgbClr val="FFFFFF"/>
                </a:solidFill>
                <a:latin typeface="Calibri"/>
              </a:rPr>
              <a:t>FR-05</a:t>
            </a:r>
          </a:p>
        </p:txBody>
      </p:sp>
      <p:sp>
        <p:nvSpPr>
          <p:cNvPr id="25" name="TextBox 24"/>
          <p:cNvSpPr txBox="1"/>
          <p:nvPr/>
        </p:nvSpPr>
        <p:spPr>
          <a:xfrm>
            <a:off x="1115568" y="4297680"/>
            <a:ext cx="4526280" cy="457200"/>
          </a:xfrm>
          <a:prstGeom prst="rect">
            <a:avLst/>
          </a:prstGeom>
          <a:noFill/>
        </p:spPr>
        <p:txBody>
          <a:bodyPr wrap="square">
            <a:spAutoFit/>
          </a:bodyPr>
          <a:lstStyle/>
          <a:p>
            <a:pPr algn="l"/>
            <a:r>
              <a:rPr sz="1300" b="0" i="0">
                <a:solidFill>
                  <a:srgbClr val="444444"/>
                </a:solidFill>
                <a:latin typeface="Calibri"/>
              </a:rPr>
              <a:t>HR Admin configures benefit plans, coverage limits, and eligibility criteria</a:t>
            </a:r>
          </a:p>
        </p:txBody>
      </p:sp>
      <p:sp>
        <p:nvSpPr>
          <p:cNvPr id="26" name="Rectangle 25"/>
          <p:cNvSpPr/>
          <p:nvPr/>
        </p:nvSpPr>
        <p:spPr>
          <a:xfrm>
            <a:off x="365760" y="4910328"/>
            <a:ext cx="5394960" cy="6949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5760" y="4910328"/>
            <a:ext cx="685800" cy="69494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4048" y="5093208"/>
            <a:ext cx="640080" cy="347472"/>
          </a:xfrm>
          <a:prstGeom prst="rect">
            <a:avLst/>
          </a:prstGeom>
          <a:noFill/>
        </p:spPr>
        <p:txBody>
          <a:bodyPr wrap="square">
            <a:spAutoFit/>
          </a:bodyPr>
          <a:lstStyle/>
          <a:p>
            <a:pPr algn="ctr"/>
            <a:r>
              <a:rPr sz="1200" b="1" i="0">
                <a:solidFill>
                  <a:srgbClr val="FFFFFF"/>
                </a:solidFill>
                <a:latin typeface="Calibri"/>
              </a:rPr>
              <a:t>FR-06</a:t>
            </a:r>
          </a:p>
        </p:txBody>
      </p:sp>
      <p:sp>
        <p:nvSpPr>
          <p:cNvPr id="29" name="TextBox 28"/>
          <p:cNvSpPr txBox="1"/>
          <p:nvPr/>
        </p:nvSpPr>
        <p:spPr>
          <a:xfrm>
            <a:off x="1115568" y="5056632"/>
            <a:ext cx="4526280" cy="457200"/>
          </a:xfrm>
          <a:prstGeom prst="rect">
            <a:avLst/>
          </a:prstGeom>
          <a:noFill/>
        </p:spPr>
        <p:txBody>
          <a:bodyPr wrap="square">
            <a:spAutoFit/>
          </a:bodyPr>
          <a:lstStyle/>
          <a:p>
            <a:pPr algn="l"/>
            <a:r>
              <a:rPr sz="1300" b="0" i="0">
                <a:solidFill>
                  <a:srgbClr val="444444"/>
                </a:solidFill>
                <a:latin typeface="Calibri"/>
              </a:rPr>
              <a:t>HR Admin manages active promotions and bonus schemes</a:t>
            </a:r>
          </a:p>
        </p:txBody>
      </p:sp>
      <p:sp>
        <p:nvSpPr>
          <p:cNvPr id="30" name="Rectangle 29"/>
          <p:cNvSpPr/>
          <p:nvPr/>
        </p:nvSpPr>
        <p:spPr>
          <a:xfrm>
            <a:off x="365760" y="5669280"/>
            <a:ext cx="5394960" cy="6949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65760" y="5669280"/>
            <a:ext cx="685800" cy="69494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84048" y="5852160"/>
            <a:ext cx="640080" cy="347472"/>
          </a:xfrm>
          <a:prstGeom prst="rect">
            <a:avLst/>
          </a:prstGeom>
          <a:noFill/>
        </p:spPr>
        <p:txBody>
          <a:bodyPr wrap="square">
            <a:spAutoFit/>
          </a:bodyPr>
          <a:lstStyle/>
          <a:p>
            <a:pPr algn="ctr"/>
            <a:r>
              <a:rPr sz="1200" b="1" i="0">
                <a:solidFill>
                  <a:srgbClr val="FFFFFF"/>
                </a:solidFill>
                <a:latin typeface="Calibri"/>
              </a:rPr>
              <a:t>FR-07</a:t>
            </a:r>
          </a:p>
        </p:txBody>
      </p:sp>
      <p:sp>
        <p:nvSpPr>
          <p:cNvPr id="33" name="TextBox 32"/>
          <p:cNvSpPr txBox="1"/>
          <p:nvPr/>
        </p:nvSpPr>
        <p:spPr>
          <a:xfrm>
            <a:off x="1115568" y="5815584"/>
            <a:ext cx="4526280" cy="457200"/>
          </a:xfrm>
          <a:prstGeom prst="rect">
            <a:avLst/>
          </a:prstGeom>
          <a:noFill/>
        </p:spPr>
        <p:txBody>
          <a:bodyPr wrap="square">
            <a:spAutoFit/>
          </a:bodyPr>
          <a:lstStyle/>
          <a:p>
            <a:pPr algn="l"/>
            <a:r>
              <a:rPr sz="1300" b="0" i="0">
                <a:solidFill>
                  <a:srgbClr val="444444"/>
                </a:solidFill>
                <a:latin typeface="Calibri"/>
              </a:rPr>
              <a:t>Flexible rule-based compensation engine (Basic Pay, HRA, Bonus, Total CTC)</a:t>
            </a:r>
          </a:p>
        </p:txBody>
      </p:sp>
      <p:sp>
        <p:nvSpPr>
          <p:cNvPr id="34" name="Rectangle 33"/>
          <p:cNvSpPr/>
          <p:nvPr/>
        </p:nvSpPr>
        <p:spPr>
          <a:xfrm>
            <a:off x="6400800" y="1115568"/>
            <a:ext cx="5394960" cy="6949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400800" y="1115568"/>
            <a:ext cx="685800" cy="69494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19088" y="1298448"/>
            <a:ext cx="640080" cy="347472"/>
          </a:xfrm>
          <a:prstGeom prst="rect">
            <a:avLst/>
          </a:prstGeom>
          <a:noFill/>
        </p:spPr>
        <p:txBody>
          <a:bodyPr wrap="square">
            <a:spAutoFit/>
          </a:bodyPr>
          <a:lstStyle/>
          <a:p>
            <a:pPr algn="ctr"/>
            <a:r>
              <a:rPr sz="1200" b="1" i="0">
                <a:solidFill>
                  <a:srgbClr val="FFFFFF"/>
                </a:solidFill>
                <a:latin typeface="Calibri"/>
              </a:rPr>
              <a:t>FR-08</a:t>
            </a:r>
          </a:p>
        </p:txBody>
      </p:sp>
      <p:sp>
        <p:nvSpPr>
          <p:cNvPr id="37" name="TextBox 36"/>
          <p:cNvSpPr txBox="1"/>
          <p:nvPr/>
        </p:nvSpPr>
        <p:spPr>
          <a:xfrm>
            <a:off x="7150608" y="1261872"/>
            <a:ext cx="4526280" cy="457200"/>
          </a:xfrm>
          <a:prstGeom prst="rect">
            <a:avLst/>
          </a:prstGeom>
          <a:noFill/>
        </p:spPr>
        <p:txBody>
          <a:bodyPr wrap="square">
            <a:spAutoFit/>
          </a:bodyPr>
          <a:lstStyle/>
          <a:p>
            <a:pPr algn="l"/>
            <a:r>
              <a:rPr sz="1300" b="0" i="0">
                <a:solidFill>
                  <a:srgbClr val="444444"/>
                </a:solidFill>
                <a:latin typeface="Calibri"/>
              </a:rPr>
              <a:t>Multi-step workflow: Submit → Review → Approve/Reject → Settle</a:t>
            </a:r>
          </a:p>
        </p:txBody>
      </p:sp>
      <p:sp>
        <p:nvSpPr>
          <p:cNvPr id="38" name="Rectangle 37"/>
          <p:cNvSpPr/>
          <p:nvPr/>
        </p:nvSpPr>
        <p:spPr>
          <a:xfrm>
            <a:off x="6400800" y="1874520"/>
            <a:ext cx="5394960" cy="6949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400800" y="1874520"/>
            <a:ext cx="685800" cy="69494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19088" y="2057400"/>
            <a:ext cx="640080" cy="347472"/>
          </a:xfrm>
          <a:prstGeom prst="rect">
            <a:avLst/>
          </a:prstGeom>
          <a:noFill/>
        </p:spPr>
        <p:txBody>
          <a:bodyPr wrap="square">
            <a:spAutoFit/>
          </a:bodyPr>
          <a:lstStyle/>
          <a:p>
            <a:pPr algn="ctr"/>
            <a:r>
              <a:rPr sz="1200" b="1" i="0">
                <a:solidFill>
                  <a:srgbClr val="FFFFFF"/>
                </a:solidFill>
                <a:latin typeface="Calibri"/>
              </a:rPr>
              <a:t>FR-09</a:t>
            </a:r>
          </a:p>
        </p:txBody>
      </p:sp>
      <p:sp>
        <p:nvSpPr>
          <p:cNvPr id="41" name="TextBox 40"/>
          <p:cNvSpPr txBox="1"/>
          <p:nvPr/>
        </p:nvSpPr>
        <p:spPr>
          <a:xfrm>
            <a:off x="7150608" y="2020824"/>
            <a:ext cx="4526280" cy="457200"/>
          </a:xfrm>
          <a:prstGeom prst="rect">
            <a:avLst/>
          </a:prstGeom>
          <a:noFill/>
        </p:spPr>
        <p:txBody>
          <a:bodyPr wrap="square">
            <a:spAutoFit/>
          </a:bodyPr>
          <a:lstStyle/>
          <a:p>
            <a:pPr algn="l"/>
            <a:r>
              <a:rPr sz="1300" b="0" i="0">
                <a:solidFill>
                  <a:srgbClr val="444444"/>
                </a:solidFill>
                <a:latin typeface="Calibri"/>
              </a:rPr>
              <a:t>Integration with external payroll systems for settlement</a:t>
            </a:r>
          </a:p>
        </p:txBody>
      </p:sp>
      <p:sp>
        <p:nvSpPr>
          <p:cNvPr id="42" name="Rectangle 41"/>
          <p:cNvSpPr/>
          <p:nvPr/>
        </p:nvSpPr>
        <p:spPr>
          <a:xfrm>
            <a:off x="6400800" y="2633472"/>
            <a:ext cx="5394960" cy="6949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400800" y="2633472"/>
            <a:ext cx="685800" cy="69494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19088" y="2816352"/>
            <a:ext cx="640080" cy="347472"/>
          </a:xfrm>
          <a:prstGeom prst="rect">
            <a:avLst/>
          </a:prstGeom>
          <a:noFill/>
        </p:spPr>
        <p:txBody>
          <a:bodyPr wrap="square">
            <a:spAutoFit/>
          </a:bodyPr>
          <a:lstStyle/>
          <a:p>
            <a:pPr algn="ctr"/>
            <a:r>
              <a:rPr sz="1200" b="1" i="0">
                <a:solidFill>
                  <a:srgbClr val="FFFFFF"/>
                </a:solidFill>
                <a:latin typeface="Calibri"/>
              </a:rPr>
              <a:t>FR-10</a:t>
            </a:r>
          </a:p>
        </p:txBody>
      </p:sp>
      <p:sp>
        <p:nvSpPr>
          <p:cNvPr id="45" name="TextBox 44"/>
          <p:cNvSpPr txBox="1"/>
          <p:nvPr/>
        </p:nvSpPr>
        <p:spPr>
          <a:xfrm>
            <a:off x="7150608" y="2779776"/>
            <a:ext cx="4526280" cy="457200"/>
          </a:xfrm>
          <a:prstGeom prst="rect">
            <a:avLst/>
          </a:prstGeom>
          <a:noFill/>
        </p:spPr>
        <p:txBody>
          <a:bodyPr wrap="square">
            <a:spAutoFit/>
          </a:bodyPr>
          <a:lstStyle/>
          <a:p>
            <a:pPr algn="l"/>
            <a:r>
              <a:rPr sz="1300" b="0" i="0">
                <a:solidFill>
                  <a:srgbClr val="444444"/>
                </a:solidFill>
                <a:latin typeface="Calibri"/>
              </a:rPr>
              <a:t>Document and receipt processing, validation, and storage</a:t>
            </a:r>
          </a:p>
        </p:txBody>
      </p:sp>
      <p:sp>
        <p:nvSpPr>
          <p:cNvPr id="46" name="Rectangle 45"/>
          <p:cNvSpPr/>
          <p:nvPr/>
        </p:nvSpPr>
        <p:spPr>
          <a:xfrm>
            <a:off x="6400800" y="3392424"/>
            <a:ext cx="5394960" cy="6949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400800" y="3392424"/>
            <a:ext cx="685800" cy="69494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19088" y="3575304"/>
            <a:ext cx="640080" cy="347472"/>
          </a:xfrm>
          <a:prstGeom prst="rect">
            <a:avLst/>
          </a:prstGeom>
          <a:noFill/>
        </p:spPr>
        <p:txBody>
          <a:bodyPr wrap="square">
            <a:spAutoFit/>
          </a:bodyPr>
          <a:lstStyle/>
          <a:p>
            <a:pPr algn="ctr"/>
            <a:r>
              <a:rPr sz="1200" b="1" i="0">
                <a:solidFill>
                  <a:srgbClr val="FFFFFF"/>
                </a:solidFill>
                <a:latin typeface="Calibri"/>
              </a:rPr>
              <a:t>FR-11</a:t>
            </a:r>
          </a:p>
        </p:txBody>
      </p:sp>
      <p:sp>
        <p:nvSpPr>
          <p:cNvPr id="49" name="TextBox 48"/>
          <p:cNvSpPr txBox="1"/>
          <p:nvPr/>
        </p:nvSpPr>
        <p:spPr>
          <a:xfrm>
            <a:off x="7150608" y="3538728"/>
            <a:ext cx="4526280" cy="457200"/>
          </a:xfrm>
          <a:prstGeom prst="rect">
            <a:avLst/>
          </a:prstGeom>
          <a:noFill/>
        </p:spPr>
        <p:txBody>
          <a:bodyPr wrap="square">
            <a:spAutoFit/>
          </a:bodyPr>
          <a:lstStyle/>
          <a:p>
            <a:pPr algn="l"/>
            <a:r>
              <a:rPr sz="1300" b="0" i="0">
                <a:solidFill>
                  <a:srgbClr val="444444"/>
                </a:solidFill>
                <a:latin typeface="Calibri"/>
              </a:rPr>
              <a:t>Analytics, compliance, and audit reporting for Finance teams</a:t>
            </a:r>
          </a:p>
        </p:txBody>
      </p:sp>
      <p:sp>
        <p:nvSpPr>
          <p:cNvPr id="50" name="Rectangle 49"/>
          <p:cNvSpPr/>
          <p:nvPr/>
        </p:nvSpPr>
        <p:spPr>
          <a:xfrm>
            <a:off x="6400800" y="4151376"/>
            <a:ext cx="5394960" cy="6949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400800" y="4151376"/>
            <a:ext cx="685800" cy="69494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419088" y="4334256"/>
            <a:ext cx="640080" cy="347472"/>
          </a:xfrm>
          <a:prstGeom prst="rect">
            <a:avLst/>
          </a:prstGeom>
          <a:noFill/>
        </p:spPr>
        <p:txBody>
          <a:bodyPr wrap="square">
            <a:spAutoFit/>
          </a:bodyPr>
          <a:lstStyle/>
          <a:p>
            <a:pPr algn="ctr"/>
            <a:r>
              <a:rPr sz="1200" b="1" i="0">
                <a:solidFill>
                  <a:srgbClr val="FFFFFF"/>
                </a:solidFill>
                <a:latin typeface="Calibri"/>
              </a:rPr>
              <a:t>FR-12</a:t>
            </a:r>
          </a:p>
        </p:txBody>
      </p:sp>
      <p:sp>
        <p:nvSpPr>
          <p:cNvPr id="53" name="TextBox 52"/>
          <p:cNvSpPr txBox="1"/>
          <p:nvPr/>
        </p:nvSpPr>
        <p:spPr>
          <a:xfrm>
            <a:off x="7150608" y="4297680"/>
            <a:ext cx="4526280" cy="457200"/>
          </a:xfrm>
          <a:prstGeom prst="rect">
            <a:avLst/>
          </a:prstGeom>
          <a:noFill/>
        </p:spPr>
        <p:txBody>
          <a:bodyPr wrap="square">
            <a:spAutoFit/>
          </a:bodyPr>
          <a:lstStyle/>
          <a:p>
            <a:pPr algn="l"/>
            <a:r>
              <a:rPr sz="1300" b="0" i="0">
                <a:solidFill>
                  <a:srgbClr val="444444"/>
                </a:solidFill>
                <a:latin typeface="Calibri"/>
              </a:rPr>
              <a:t>RBAC and data privacy across all 4 user types</a:t>
            </a:r>
          </a:p>
        </p:txBody>
      </p:sp>
      <p:sp>
        <p:nvSpPr>
          <p:cNvPr id="54" name="Rectangle 53"/>
          <p:cNvSpPr/>
          <p:nvPr/>
        </p:nvSpPr>
        <p:spPr>
          <a:xfrm>
            <a:off x="6400800" y="4910328"/>
            <a:ext cx="5394960" cy="6949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400800" y="4910328"/>
            <a:ext cx="685800" cy="69494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19088" y="5093208"/>
            <a:ext cx="640080" cy="347472"/>
          </a:xfrm>
          <a:prstGeom prst="rect">
            <a:avLst/>
          </a:prstGeom>
          <a:noFill/>
        </p:spPr>
        <p:txBody>
          <a:bodyPr wrap="square">
            <a:spAutoFit/>
          </a:bodyPr>
          <a:lstStyle/>
          <a:p>
            <a:pPr algn="ctr"/>
            <a:r>
              <a:rPr sz="1200" b="1" i="0">
                <a:solidFill>
                  <a:srgbClr val="FFFFFF"/>
                </a:solidFill>
                <a:latin typeface="Calibri"/>
              </a:rPr>
              <a:t>FR-13</a:t>
            </a:r>
          </a:p>
        </p:txBody>
      </p:sp>
      <p:sp>
        <p:nvSpPr>
          <p:cNvPr id="57" name="TextBox 56"/>
          <p:cNvSpPr txBox="1"/>
          <p:nvPr/>
        </p:nvSpPr>
        <p:spPr>
          <a:xfrm>
            <a:off x="7150608" y="5056632"/>
            <a:ext cx="4526280" cy="457200"/>
          </a:xfrm>
          <a:prstGeom prst="rect">
            <a:avLst/>
          </a:prstGeom>
          <a:noFill/>
        </p:spPr>
        <p:txBody>
          <a:bodyPr wrap="square">
            <a:spAutoFit/>
          </a:bodyPr>
          <a:lstStyle/>
          <a:p>
            <a:pPr algn="l"/>
            <a:r>
              <a:rPr sz="1300" b="0" i="0">
                <a:solidFill>
                  <a:srgbClr val="444444"/>
                </a:solidFill>
                <a:latin typeface="Calibri"/>
              </a:rPr>
              <a:t>Multi-country compliance rules for benefits and compensation</a:t>
            </a:r>
          </a:p>
        </p:txBody>
      </p:sp>
      <p:sp>
        <p:nvSpPr>
          <p:cNvPr id="58" name="Rectangle 57"/>
          <p:cNvSpPr/>
          <p:nvPr/>
        </p:nvSpPr>
        <p:spPr>
          <a:xfrm>
            <a:off x="365760" y="6400800"/>
            <a:ext cx="11457432" cy="347472"/>
          </a:xfrm>
          <a:prstGeom prst="rect">
            <a:avLst/>
          </a:prstGeom>
          <a:solidFill>
            <a:srgbClr val="F2F2F2"/>
          </a:solidFill>
          <a:ln>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50">
                <a:solidFill>
                  <a:srgbClr val="444444"/>
                </a:solidFill>
                <a:latin typeface="Calibri"/>
              </a:rPr>
              <a:t>System Flow (from Requirement Analysis Doc Section 7): Employee logs in → Views Benefits / CTC → Submits Claim (type, amount, receipt) → Workflow Service receives → Document &amp; OCR component validates → Claim set to In Review → Manager notified → Approves: Payroll settles (Settled) | Rejects: Employee notified → Finance Dashboard + Audit Trail updated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05  NFRs — Non-Functional Requirements</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Source: Req Analysis Doc (Section 2) — Performance/Availability not specified; values are architectural decisions</a:t>
            </a:r>
          </a:p>
        </p:txBody>
      </p:sp>
      <p:sp>
        <p:nvSpPr>
          <p:cNvPr id="6" name="Rectangle 5"/>
          <p:cNvSpPr/>
          <p:nvPr/>
        </p:nvSpPr>
        <p:spPr>
          <a:xfrm>
            <a:off x="365760" y="1097280"/>
            <a:ext cx="11457432" cy="621792"/>
          </a:xfrm>
          <a:prstGeom prst="rect">
            <a:avLst/>
          </a:prstGeom>
          <a:solidFill>
            <a:srgbClr val="FCE4D6"/>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C00000"/>
                </a:solidFill>
                <a:latin typeface="Calibri"/>
              </a:rPr>
              <a:t>NOTE:  </a:t>
            </a:r>
            <a:r>
              <a:rPr sz="1300">
                <a:solidFill>
                  <a:srgbClr val="C00000"/>
                </a:solidFill>
                <a:latin typeface="Calibri"/>
              </a:rPr>
              <a:t>Requirement Analysis Doc states: Performance and Availability are 'Not Specified — to be defined during Architecture Design phase.' The values below are the architectural design decisions made for this platform.</a:t>
            </a:r>
          </a:p>
        </p:txBody>
      </p:sp>
      <p:sp>
        <p:nvSpPr>
          <p:cNvPr id="7" name="Rectangle 6"/>
          <p:cNvSpPr/>
          <p:nvPr/>
        </p:nvSpPr>
        <p:spPr>
          <a:xfrm>
            <a:off x="365760" y="1874519"/>
            <a:ext cx="3749039" cy="2103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874519"/>
            <a:ext cx="3749039" cy="38404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8912" y="1938527"/>
            <a:ext cx="3602735" cy="292608"/>
          </a:xfrm>
          <a:prstGeom prst="rect">
            <a:avLst/>
          </a:prstGeom>
          <a:noFill/>
        </p:spPr>
        <p:txBody>
          <a:bodyPr wrap="square">
            <a:spAutoFit/>
          </a:bodyPr>
          <a:lstStyle/>
          <a:p>
            <a:pPr algn="l"/>
            <a:r>
              <a:rPr sz="1300" b="1" i="0">
                <a:solidFill>
                  <a:srgbClr val="FFFFFF"/>
                </a:solidFill>
                <a:latin typeface="Calibri"/>
              </a:rPr>
              <a:t>Performance</a:t>
            </a:r>
          </a:p>
        </p:txBody>
      </p:sp>
      <p:sp>
        <p:nvSpPr>
          <p:cNvPr id="10" name="TextBox 9"/>
          <p:cNvSpPr txBox="1"/>
          <p:nvPr/>
        </p:nvSpPr>
        <p:spPr>
          <a:xfrm>
            <a:off x="457200" y="2331719"/>
            <a:ext cx="3566159" cy="1600200"/>
          </a:xfrm>
          <a:prstGeom prst="rect">
            <a:avLst/>
          </a:prstGeom>
          <a:noFill/>
        </p:spPr>
        <p:txBody>
          <a:bodyPr wrap="square">
            <a:spAutoFit/>
          </a:bodyPr>
          <a:lstStyle/>
          <a:p>
            <a:pPr>
              <a:spcBef>
                <a:spcPts val="300"/>
              </a:spcBef>
            </a:pPr>
            <a:r>
              <a:rPr sz="1250" dirty="0">
                <a:solidFill>
                  <a:srgbClr val="444444"/>
                </a:solidFill>
                <a:latin typeface="Calibri"/>
              </a:rPr>
              <a:t>•  API response P95: &lt; 500 </a:t>
            </a:r>
            <a:r>
              <a:rPr sz="1250" dirty="0" err="1">
                <a:solidFill>
                  <a:srgbClr val="444444"/>
                </a:solidFill>
                <a:latin typeface="Calibri"/>
              </a:rPr>
              <a:t>ms</a:t>
            </a:r>
            <a:endParaRPr sz="1250" dirty="0">
              <a:solidFill>
                <a:srgbClr val="444444"/>
              </a:solidFill>
              <a:latin typeface="Calibri"/>
            </a:endParaRPr>
          </a:p>
          <a:p>
            <a:pPr>
              <a:spcBef>
                <a:spcPts val="300"/>
              </a:spcBef>
            </a:pPr>
            <a:r>
              <a:rPr sz="1250" dirty="0">
                <a:solidFill>
                  <a:srgbClr val="444444"/>
                </a:solidFill>
                <a:latin typeface="Calibri"/>
              </a:rPr>
              <a:t>•  OCR processing: &lt; 5 seconds</a:t>
            </a:r>
          </a:p>
          <a:p>
            <a:pPr>
              <a:spcBef>
                <a:spcPts val="300"/>
              </a:spcBef>
            </a:pPr>
            <a:r>
              <a:rPr sz="1250" dirty="0">
                <a:solidFill>
                  <a:srgbClr val="444444"/>
                </a:solidFill>
                <a:latin typeface="Calibri"/>
              </a:rPr>
              <a:t>•  </a:t>
            </a:r>
            <a:r>
              <a:rPr sz="1250" dirty="0" err="1">
                <a:solidFill>
                  <a:srgbClr val="444444"/>
                </a:solidFill>
                <a:latin typeface="Calibri"/>
              </a:rPr>
              <a:t>NRules</a:t>
            </a:r>
            <a:r>
              <a:rPr sz="1250" dirty="0">
                <a:solidFill>
                  <a:srgbClr val="444444"/>
                </a:solidFill>
                <a:latin typeface="Calibri"/>
              </a:rPr>
              <a:t> CTC: &lt; 100 </a:t>
            </a:r>
            <a:r>
              <a:rPr sz="1250" dirty="0" err="1">
                <a:solidFill>
                  <a:srgbClr val="444444"/>
                </a:solidFill>
                <a:latin typeface="Calibri"/>
              </a:rPr>
              <a:t>ms</a:t>
            </a:r>
            <a:endParaRPr sz="1250" dirty="0">
              <a:solidFill>
                <a:srgbClr val="444444"/>
              </a:solidFill>
              <a:latin typeface="Calibri"/>
            </a:endParaRPr>
          </a:p>
          <a:p>
            <a:pPr>
              <a:spcBef>
                <a:spcPts val="300"/>
              </a:spcBef>
            </a:pPr>
            <a:r>
              <a:rPr sz="1250" dirty="0">
                <a:solidFill>
                  <a:srgbClr val="444444"/>
                </a:solidFill>
                <a:latin typeface="Calibri"/>
              </a:rPr>
              <a:t>•  Report generation: &lt; 2 seconds</a:t>
            </a:r>
          </a:p>
        </p:txBody>
      </p:sp>
      <p:sp>
        <p:nvSpPr>
          <p:cNvPr id="11" name="Rectangle 10"/>
          <p:cNvSpPr/>
          <p:nvPr/>
        </p:nvSpPr>
        <p:spPr>
          <a:xfrm>
            <a:off x="4297680" y="1874519"/>
            <a:ext cx="3749039" cy="2103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1874519"/>
            <a:ext cx="3749039" cy="384048"/>
          </a:xfrm>
          <a:prstGeom prst="rect">
            <a:avLst/>
          </a:prstGeom>
          <a:solidFill>
            <a:srgbClr val="1E7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70832" y="1938527"/>
            <a:ext cx="3602735" cy="292608"/>
          </a:xfrm>
          <a:prstGeom prst="rect">
            <a:avLst/>
          </a:prstGeom>
          <a:noFill/>
        </p:spPr>
        <p:txBody>
          <a:bodyPr wrap="square">
            <a:spAutoFit/>
          </a:bodyPr>
          <a:lstStyle/>
          <a:p>
            <a:pPr algn="l"/>
            <a:r>
              <a:rPr sz="1300" b="1" i="0">
                <a:solidFill>
                  <a:srgbClr val="FFFFFF"/>
                </a:solidFill>
                <a:latin typeface="Calibri"/>
              </a:rPr>
              <a:t>Scalability</a:t>
            </a:r>
          </a:p>
        </p:txBody>
      </p:sp>
      <p:sp>
        <p:nvSpPr>
          <p:cNvPr id="14" name="TextBox 13"/>
          <p:cNvSpPr txBox="1"/>
          <p:nvPr/>
        </p:nvSpPr>
        <p:spPr>
          <a:xfrm>
            <a:off x="4389120" y="2331719"/>
            <a:ext cx="3566159" cy="1600200"/>
          </a:xfrm>
          <a:prstGeom prst="rect">
            <a:avLst/>
          </a:prstGeom>
          <a:noFill/>
        </p:spPr>
        <p:txBody>
          <a:bodyPr wrap="square">
            <a:spAutoFit/>
          </a:bodyPr>
          <a:lstStyle/>
          <a:p>
            <a:pPr>
              <a:spcBef>
                <a:spcPts val="300"/>
              </a:spcBef>
            </a:pPr>
            <a:r>
              <a:rPr sz="1250">
                <a:solidFill>
                  <a:srgbClr val="444444"/>
                </a:solidFill>
                <a:latin typeface="Calibri"/>
              </a:rPr>
              <a:t>•  10,000+ concurrent users</a:t>
            </a:r>
          </a:p>
          <a:p>
            <a:pPr>
              <a:spcBef>
                <a:spcPts val="300"/>
              </a:spcBef>
            </a:pPr>
            <a:r>
              <a:rPr sz="1250">
                <a:solidFill>
                  <a:srgbClr val="444444"/>
                </a:solidFill>
                <a:latin typeface="Calibri"/>
              </a:rPr>
              <a:t>•  AKS HPA: 2–10 pods per service</a:t>
            </a:r>
          </a:p>
          <a:p>
            <a:pPr>
              <a:spcBef>
                <a:spcPts val="300"/>
              </a:spcBef>
            </a:pPr>
            <a:r>
              <a:rPr sz="1250">
                <a:solidFill>
                  <a:srgbClr val="444444"/>
                </a:solidFill>
                <a:latin typeface="Calibri"/>
              </a:rPr>
              <a:t>•  Cosmos DB auto-scale: 400–4,000 RU/s</a:t>
            </a:r>
          </a:p>
          <a:p>
            <a:pPr>
              <a:spcBef>
                <a:spcPts val="300"/>
              </a:spcBef>
            </a:pPr>
            <a:r>
              <a:rPr sz="1250">
                <a:solidFill>
                  <a:srgbClr val="444444"/>
                </a:solidFill>
                <a:latin typeface="Calibri"/>
              </a:rPr>
              <a:t>•  No re-architecture to scale</a:t>
            </a:r>
          </a:p>
        </p:txBody>
      </p:sp>
      <p:sp>
        <p:nvSpPr>
          <p:cNvPr id="15" name="Rectangle 14"/>
          <p:cNvSpPr/>
          <p:nvPr/>
        </p:nvSpPr>
        <p:spPr>
          <a:xfrm>
            <a:off x="8229600" y="1874519"/>
            <a:ext cx="3749039" cy="2103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600" y="1874519"/>
            <a:ext cx="3749039" cy="38404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02752" y="1938527"/>
            <a:ext cx="3602735" cy="292608"/>
          </a:xfrm>
          <a:prstGeom prst="rect">
            <a:avLst/>
          </a:prstGeom>
          <a:noFill/>
        </p:spPr>
        <p:txBody>
          <a:bodyPr wrap="square">
            <a:spAutoFit/>
          </a:bodyPr>
          <a:lstStyle/>
          <a:p>
            <a:pPr algn="l"/>
            <a:r>
              <a:rPr sz="1300" b="1" i="0">
                <a:solidFill>
                  <a:srgbClr val="FFFFFF"/>
                </a:solidFill>
                <a:latin typeface="Calibri"/>
              </a:rPr>
              <a:t>Security</a:t>
            </a:r>
          </a:p>
        </p:txBody>
      </p:sp>
      <p:sp>
        <p:nvSpPr>
          <p:cNvPr id="18" name="TextBox 17"/>
          <p:cNvSpPr txBox="1"/>
          <p:nvPr/>
        </p:nvSpPr>
        <p:spPr>
          <a:xfrm>
            <a:off x="8321040" y="2331719"/>
            <a:ext cx="3566159" cy="1600200"/>
          </a:xfrm>
          <a:prstGeom prst="rect">
            <a:avLst/>
          </a:prstGeom>
          <a:noFill/>
        </p:spPr>
        <p:txBody>
          <a:bodyPr wrap="square">
            <a:spAutoFit/>
          </a:bodyPr>
          <a:lstStyle/>
          <a:p>
            <a:pPr>
              <a:spcBef>
                <a:spcPts val="300"/>
              </a:spcBef>
            </a:pPr>
            <a:r>
              <a:rPr sz="1250">
                <a:solidFill>
                  <a:srgbClr val="444444"/>
                </a:solidFill>
                <a:latin typeface="Calibri"/>
              </a:rPr>
              <a:t>•  RBAC — 4 roles (from req doc Section 2)</a:t>
            </a:r>
          </a:p>
          <a:p>
            <a:pPr>
              <a:spcBef>
                <a:spcPts val="300"/>
              </a:spcBef>
            </a:pPr>
            <a:r>
              <a:rPr sz="1250">
                <a:solidFill>
                  <a:srgbClr val="444444"/>
                </a:solidFill>
                <a:latin typeface="Calibri"/>
              </a:rPr>
              <a:t>•  TLS 1.3 + AES-256 + JWT RS256</a:t>
            </a:r>
          </a:p>
          <a:p>
            <a:pPr>
              <a:spcBef>
                <a:spcPts val="300"/>
              </a:spcBef>
            </a:pPr>
            <a:r>
              <a:rPr sz="1250">
                <a:solidFill>
                  <a:srgbClr val="444444"/>
                </a:solidFill>
                <a:latin typeface="Calibri"/>
              </a:rPr>
              <a:t>•  MFA — all users (Assumptions)</a:t>
            </a:r>
          </a:p>
          <a:p>
            <a:pPr>
              <a:spcBef>
                <a:spcPts val="300"/>
              </a:spcBef>
            </a:pPr>
            <a:r>
              <a:rPr sz="1250">
                <a:solidFill>
                  <a:srgbClr val="444444"/>
                </a:solidFill>
                <a:latin typeface="Calibri"/>
              </a:rPr>
              <a:t>•  Private Endpoints — zero public data access</a:t>
            </a:r>
          </a:p>
        </p:txBody>
      </p:sp>
      <p:sp>
        <p:nvSpPr>
          <p:cNvPr id="19" name="Rectangle 18"/>
          <p:cNvSpPr/>
          <p:nvPr/>
        </p:nvSpPr>
        <p:spPr>
          <a:xfrm>
            <a:off x="365760" y="4114799"/>
            <a:ext cx="3749039" cy="2103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4114799"/>
            <a:ext cx="3749039"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8912" y="4178807"/>
            <a:ext cx="3602735" cy="292608"/>
          </a:xfrm>
          <a:prstGeom prst="rect">
            <a:avLst/>
          </a:prstGeom>
          <a:noFill/>
        </p:spPr>
        <p:txBody>
          <a:bodyPr wrap="square">
            <a:spAutoFit/>
          </a:bodyPr>
          <a:lstStyle/>
          <a:p>
            <a:pPr algn="l"/>
            <a:r>
              <a:rPr sz="1300" b="1" i="0">
                <a:solidFill>
                  <a:srgbClr val="FFFFFF"/>
                </a:solidFill>
                <a:latin typeface="Calibri"/>
              </a:rPr>
              <a:t>Availability</a:t>
            </a:r>
          </a:p>
        </p:txBody>
      </p:sp>
      <p:sp>
        <p:nvSpPr>
          <p:cNvPr id="22" name="TextBox 21"/>
          <p:cNvSpPr txBox="1"/>
          <p:nvPr/>
        </p:nvSpPr>
        <p:spPr>
          <a:xfrm>
            <a:off x="457200" y="4571999"/>
            <a:ext cx="3566159" cy="1600200"/>
          </a:xfrm>
          <a:prstGeom prst="rect">
            <a:avLst/>
          </a:prstGeom>
          <a:noFill/>
        </p:spPr>
        <p:txBody>
          <a:bodyPr wrap="square">
            <a:spAutoFit/>
          </a:bodyPr>
          <a:lstStyle/>
          <a:p>
            <a:pPr>
              <a:spcBef>
                <a:spcPts val="300"/>
              </a:spcBef>
            </a:pPr>
            <a:r>
              <a:rPr sz="1250" dirty="0">
                <a:solidFill>
                  <a:srgbClr val="444444"/>
                </a:solidFill>
                <a:latin typeface="Calibri"/>
              </a:rPr>
              <a:t>•  99.9%+ uptime (architectural decision)</a:t>
            </a:r>
          </a:p>
          <a:p>
            <a:pPr>
              <a:spcBef>
                <a:spcPts val="300"/>
              </a:spcBef>
            </a:pPr>
            <a:r>
              <a:rPr sz="1250" dirty="0">
                <a:solidFill>
                  <a:srgbClr val="444444"/>
                </a:solidFill>
                <a:latin typeface="Calibri"/>
              </a:rPr>
              <a:t>•  Zone-redundant — 3 Azure AZs</a:t>
            </a:r>
          </a:p>
          <a:p>
            <a:pPr>
              <a:spcBef>
                <a:spcPts val="300"/>
              </a:spcBef>
            </a:pPr>
            <a:r>
              <a:rPr sz="1250" dirty="0">
                <a:solidFill>
                  <a:srgbClr val="444444"/>
                </a:solidFill>
                <a:latin typeface="Calibri"/>
              </a:rPr>
              <a:t>•  Azure SQL auto-failover &lt; 30 sec</a:t>
            </a:r>
          </a:p>
          <a:p>
            <a:pPr>
              <a:spcBef>
                <a:spcPts val="300"/>
              </a:spcBef>
            </a:pPr>
            <a:r>
              <a:rPr sz="1250" dirty="0">
                <a:solidFill>
                  <a:srgbClr val="444444"/>
                </a:solidFill>
                <a:latin typeface="Calibri"/>
              </a:rPr>
              <a:t>•  Cosmos DB multi-region write (0 RPO)</a:t>
            </a:r>
          </a:p>
        </p:txBody>
      </p:sp>
      <p:sp>
        <p:nvSpPr>
          <p:cNvPr id="23" name="Rectangle 22"/>
          <p:cNvSpPr/>
          <p:nvPr/>
        </p:nvSpPr>
        <p:spPr>
          <a:xfrm>
            <a:off x="4297680" y="4114799"/>
            <a:ext cx="3749039" cy="2103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97680" y="4114799"/>
            <a:ext cx="3749039" cy="384048"/>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70832" y="4178807"/>
            <a:ext cx="3602735" cy="292608"/>
          </a:xfrm>
          <a:prstGeom prst="rect">
            <a:avLst/>
          </a:prstGeom>
          <a:noFill/>
        </p:spPr>
        <p:txBody>
          <a:bodyPr wrap="square">
            <a:spAutoFit/>
          </a:bodyPr>
          <a:lstStyle/>
          <a:p>
            <a:pPr algn="l"/>
            <a:r>
              <a:rPr sz="1300" b="1" i="0">
                <a:solidFill>
                  <a:srgbClr val="FFFFFF"/>
                </a:solidFill>
                <a:latin typeface="Calibri"/>
              </a:rPr>
              <a:t>Disaster Recovery</a:t>
            </a:r>
          </a:p>
        </p:txBody>
      </p:sp>
      <p:sp>
        <p:nvSpPr>
          <p:cNvPr id="26" name="TextBox 25"/>
          <p:cNvSpPr txBox="1"/>
          <p:nvPr/>
        </p:nvSpPr>
        <p:spPr>
          <a:xfrm>
            <a:off x="4389120" y="4571999"/>
            <a:ext cx="3566159" cy="1600200"/>
          </a:xfrm>
          <a:prstGeom prst="rect">
            <a:avLst/>
          </a:prstGeom>
          <a:noFill/>
        </p:spPr>
        <p:txBody>
          <a:bodyPr wrap="square">
            <a:spAutoFit/>
          </a:bodyPr>
          <a:lstStyle/>
          <a:p>
            <a:pPr>
              <a:spcBef>
                <a:spcPts val="300"/>
              </a:spcBef>
            </a:pPr>
            <a:r>
              <a:rPr sz="1250">
                <a:solidFill>
                  <a:srgbClr val="444444"/>
                </a:solidFill>
                <a:latin typeface="Calibri"/>
              </a:rPr>
              <a:t>•  RTO: &lt; 30 minutes (app tier)</a:t>
            </a:r>
          </a:p>
          <a:p>
            <a:pPr>
              <a:spcBef>
                <a:spcPts val="300"/>
              </a:spcBef>
            </a:pPr>
            <a:r>
              <a:rPr sz="1250">
                <a:solidFill>
                  <a:srgbClr val="444444"/>
                </a:solidFill>
                <a:latin typeface="Calibri"/>
              </a:rPr>
              <a:t>•  RPO: &lt; 5 min (SQL) | 0 (Cosmos)</a:t>
            </a:r>
          </a:p>
          <a:p>
            <a:pPr>
              <a:spcBef>
                <a:spcPts val="300"/>
              </a:spcBef>
            </a:pPr>
            <a:r>
              <a:rPr sz="1250">
                <a:solidFill>
                  <a:srgbClr val="444444"/>
                </a:solidFill>
                <a:latin typeface="Calibri"/>
              </a:rPr>
              <a:t>•  DR Region: West US 2 (standby)</a:t>
            </a:r>
          </a:p>
          <a:p>
            <a:pPr>
              <a:spcBef>
                <a:spcPts val="300"/>
              </a:spcBef>
            </a:pPr>
            <a:r>
              <a:rPr sz="1250">
                <a:solidFill>
                  <a:srgbClr val="444444"/>
                </a:solidFill>
                <a:latin typeface="Calibri"/>
              </a:rPr>
              <a:t>•  Quarterly validated DR drills</a:t>
            </a:r>
          </a:p>
        </p:txBody>
      </p:sp>
      <p:sp>
        <p:nvSpPr>
          <p:cNvPr id="27" name="Rectangle 26"/>
          <p:cNvSpPr/>
          <p:nvPr/>
        </p:nvSpPr>
        <p:spPr>
          <a:xfrm>
            <a:off x="8229600" y="4114799"/>
            <a:ext cx="3749039" cy="2103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229600" y="4114799"/>
            <a:ext cx="3749039" cy="384048"/>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02752" y="4178807"/>
            <a:ext cx="3602735" cy="292608"/>
          </a:xfrm>
          <a:prstGeom prst="rect">
            <a:avLst/>
          </a:prstGeom>
          <a:noFill/>
        </p:spPr>
        <p:txBody>
          <a:bodyPr wrap="square">
            <a:spAutoFit/>
          </a:bodyPr>
          <a:lstStyle/>
          <a:p>
            <a:pPr algn="l"/>
            <a:r>
              <a:rPr sz="1300" b="1" i="0">
                <a:solidFill>
                  <a:srgbClr val="FFFFFF"/>
                </a:solidFill>
                <a:latin typeface="Calibri"/>
              </a:rPr>
              <a:t>Compliance</a:t>
            </a:r>
          </a:p>
        </p:txBody>
      </p:sp>
      <p:sp>
        <p:nvSpPr>
          <p:cNvPr id="30" name="TextBox 29"/>
          <p:cNvSpPr txBox="1"/>
          <p:nvPr/>
        </p:nvSpPr>
        <p:spPr>
          <a:xfrm>
            <a:off x="8321040" y="4571999"/>
            <a:ext cx="3566159" cy="1600200"/>
          </a:xfrm>
          <a:prstGeom prst="rect">
            <a:avLst/>
          </a:prstGeom>
          <a:noFill/>
        </p:spPr>
        <p:txBody>
          <a:bodyPr wrap="square">
            <a:spAutoFit/>
          </a:bodyPr>
          <a:lstStyle/>
          <a:p>
            <a:pPr>
              <a:spcBef>
                <a:spcPts val="300"/>
              </a:spcBef>
            </a:pPr>
            <a:r>
              <a:rPr sz="1250" dirty="0">
                <a:solidFill>
                  <a:srgbClr val="444444"/>
                </a:solidFill>
                <a:latin typeface="Calibri"/>
              </a:rPr>
              <a:t>•  7-year audit retention (Clarification Q 8.7)</a:t>
            </a:r>
          </a:p>
          <a:p>
            <a:pPr>
              <a:spcBef>
                <a:spcPts val="300"/>
              </a:spcBef>
            </a:pPr>
            <a:r>
              <a:rPr sz="1250" dirty="0">
                <a:solidFill>
                  <a:srgbClr val="444444"/>
                </a:solidFill>
                <a:latin typeface="Calibri"/>
              </a:rPr>
              <a:t>•  GDPR-ready — PII masked in logs</a:t>
            </a:r>
          </a:p>
          <a:p>
            <a:pPr>
              <a:spcBef>
                <a:spcPts val="300"/>
              </a:spcBef>
            </a:pPr>
            <a:r>
              <a:rPr sz="1250" dirty="0">
                <a:solidFill>
                  <a:srgbClr val="444444"/>
                </a:solidFill>
                <a:latin typeface="Calibri"/>
              </a:rPr>
              <a:t>•  Region-pinned storage (East US 2)</a:t>
            </a:r>
          </a:p>
          <a:p>
            <a:pPr>
              <a:spcBef>
                <a:spcPts val="300"/>
              </a:spcBef>
            </a:pPr>
            <a:r>
              <a:rPr sz="1250" dirty="0">
                <a:solidFill>
                  <a:srgbClr val="444444"/>
                </a:solidFill>
                <a:latin typeface="Calibri"/>
              </a:rPr>
              <a:t>•  Multi-country extensible design (FR-13)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0"/>
            <a:ext cx="12188952" cy="14630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017520"/>
            <a:ext cx="10725912" cy="822960"/>
          </a:xfrm>
          <a:prstGeom prst="rect">
            <a:avLst/>
          </a:prstGeom>
          <a:noFill/>
        </p:spPr>
        <p:txBody>
          <a:bodyPr wrap="square">
            <a:spAutoFit/>
          </a:bodyPr>
          <a:lstStyle/>
          <a:p>
            <a:pPr algn="ctr"/>
            <a:r>
              <a:rPr sz="3800" b="1" i="0">
                <a:solidFill>
                  <a:srgbClr val="FFFFFF"/>
                </a:solidFill>
                <a:latin typeface="Calibri"/>
              </a:rPr>
              <a:t>06  Architecture Diagrams</a:t>
            </a:r>
          </a:p>
        </p:txBody>
      </p:sp>
      <p:sp>
        <p:nvSpPr>
          <p:cNvPr id="5" name="TextBox 4"/>
          <p:cNvSpPr txBox="1"/>
          <p:nvPr/>
        </p:nvSpPr>
        <p:spPr>
          <a:xfrm>
            <a:off x="731520" y="3931920"/>
            <a:ext cx="10725912" cy="457200"/>
          </a:xfrm>
          <a:prstGeom prst="rect">
            <a:avLst/>
          </a:prstGeom>
          <a:noFill/>
        </p:spPr>
        <p:txBody>
          <a:bodyPr wrap="square">
            <a:spAutoFit/>
          </a:bodyPr>
          <a:lstStyle/>
          <a:p>
            <a:pPr algn="ctr"/>
            <a:r>
              <a:rPr sz="1600" b="0" i="1">
                <a:solidFill>
                  <a:srgbClr val="AECEE8"/>
                </a:solidFill>
                <a:latin typeface="Calibri"/>
              </a:rPr>
              <a:t>11 diagrams from HLD and project deliverables</a:t>
            </a:r>
          </a:p>
        </p:txBody>
      </p:sp>
      <p:sp>
        <p:nvSpPr>
          <p:cNvPr id="6" name="TextBox 5"/>
          <p:cNvSpPr txBox="1"/>
          <p:nvPr/>
        </p:nvSpPr>
        <p:spPr>
          <a:xfrm>
            <a:off x="457200" y="6492240"/>
            <a:ext cx="11274552" cy="274320"/>
          </a:xfrm>
          <a:prstGeom prst="rect">
            <a:avLst/>
          </a:prstGeom>
          <a:noFill/>
        </p:spPr>
        <p:txBody>
          <a:bodyPr wrap="square">
            <a:spAutoFit/>
          </a:bodyPr>
          <a:lstStyle/>
          <a:p>
            <a:pPr algn="ctr"/>
            <a:r>
              <a:rPr sz="1000" b="0" i="0">
                <a:solidFill>
                  <a:srgbClr val="70A0C0"/>
                </a:solidFill>
                <a:latin typeface="Calibri"/>
              </a:rPr>
              <a:t>© 2025–2027 Cognizant | Private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Architecture Overview — 5-Layer Cloud-Native Design</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Source: HLD Section 2.1.3 Logical View + Section 2.1.4 Functional Architecture View</a:t>
            </a:r>
          </a:p>
        </p:txBody>
      </p:sp>
      <p:sp>
        <p:nvSpPr>
          <p:cNvPr id="6" name="Rectangle 5"/>
          <p:cNvSpPr/>
          <p:nvPr/>
        </p:nvSpPr>
        <p:spPr>
          <a:xfrm>
            <a:off x="365760" y="1143000"/>
            <a:ext cx="1463040" cy="822960"/>
          </a:xfrm>
          <a:prstGeom prst="rect">
            <a:avLst/>
          </a:prstGeom>
          <a:solidFill>
            <a:srgbClr val="B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380744"/>
            <a:ext cx="1426464" cy="384048"/>
          </a:xfrm>
          <a:prstGeom prst="rect">
            <a:avLst/>
          </a:prstGeom>
          <a:noFill/>
        </p:spPr>
        <p:txBody>
          <a:bodyPr wrap="square">
            <a:spAutoFit/>
          </a:bodyPr>
          <a:lstStyle/>
          <a:p>
            <a:pPr algn="ctr"/>
            <a:r>
              <a:rPr sz="1300" b="1" i="0">
                <a:solidFill>
                  <a:srgbClr val="FFFFFF"/>
                </a:solidFill>
                <a:latin typeface="Calibri"/>
              </a:rPr>
              <a:t>L1  Edge</a:t>
            </a:r>
          </a:p>
        </p:txBody>
      </p:sp>
      <p:sp>
        <p:nvSpPr>
          <p:cNvPr id="8" name="Rectangle 7"/>
          <p:cNvSpPr/>
          <p:nvPr/>
        </p:nvSpPr>
        <p:spPr>
          <a:xfrm>
            <a:off x="1920240" y="1143000"/>
            <a:ext cx="1014984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29968" y="1380744"/>
            <a:ext cx="9966960" cy="402336"/>
          </a:xfrm>
          <a:prstGeom prst="rect">
            <a:avLst/>
          </a:prstGeom>
          <a:noFill/>
        </p:spPr>
        <p:txBody>
          <a:bodyPr wrap="square">
            <a:spAutoFit/>
          </a:bodyPr>
          <a:lstStyle/>
          <a:p>
            <a:pPr algn="l"/>
            <a:r>
              <a:rPr sz="1400" b="0" i="0">
                <a:solidFill>
                  <a:srgbClr val="444444"/>
                </a:solidFill>
                <a:latin typeface="Calibri"/>
              </a:rPr>
              <a:t>Azure Front Door  ·  WAF (OWASP CRS)  ·  CDN  ·  DDoS Standard Protection  ·  SSL/TLS 1.3 Termination</a:t>
            </a:r>
          </a:p>
        </p:txBody>
      </p:sp>
      <p:sp>
        <p:nvSpPr>
          <p:cNvPr id="10" name="Rectangle 9"/>
          <p:cNvSpPr/>
          <p:nvPr/>
        </p:nvSpPr>
        <p:spPr>
          <a:xfrm>
            <a:off x="365760" y="2039112"/>
            <a:ext cx="1463040" cy="822960"/>
          </a:xfrm>
          <a:prstGeom prst="rect">
            <a:avLst/>
          </a:prstGeom>
          <a:solidFill>
            <a:srgbClr val="1E7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4048" y="2276856"/>
            <a:ext cx="1426464" cy="384048"/>
          </a:xfrm>
          <a:prstGeom prst="rect">
            <a:avLst/>
          </a:prstGeom>
          <a:noFill/>
        </p:spPr>
        <p:txBody>
          <a:bodyPr wrap="square">
            <a:spAutoFit/>
          </a:bodyPr>
          <a:lstStyle/>
          <a:p>
            <a:pPr algn="ctr"/>
            <a:r>
              <a:rPr sz="1300" b="1" i="0">
                <a:solidFill>
                  <a:srgbClr val="FFFFFF"/>
                </a:solidFill>
                <a:latin typeface="Calibri"/>
              </a:rPr>
              <a:t>L2  Frontend</a:t>
            </a:r>
          </a:p>
        </p:txBody>
      </p:sp>
      <p:sp>
        <p:nvSpPr>
          <p:cNvPr id="12" name="Rectangle 11"/>
          <p:cNvSpPr/>
          <p:nvPr/>
        </p:nvSpPr>
        <p:spPr>
          <a:xfrm>
            <a:off x="1920240" y="2039112"/>
            <a:ext cx="1014984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29968" y="2276856"/>
            <a:ext cx="9966960" cy="402336"/>
          </a:xfrm>
          <a:prstGeom prst="rect">
            <a:avLst/>
          </a:prstGeom>
          <a:noFill/>
        </p:spPr>
        <p:txBody>
          <a:bodyPr wrap="square">
            <a:spAutoFit/>
          </a:bodyPr>
          <a:lstStyle/>
          <a:p>
            <a:pPr algn="l"/>
            <a:r>
              <a:rPr sz="1400" b="0" i="0">
                <a:solidFill>
                  <a:srgbClr val="444444"/>
                </a:solidFill>
                <a:latin typeface="Calibri"/>
              </a:rPr>
              <a:t>React 18 + Webpack 5 Module Federation  ·  4 Role-Based Portals  ·  Azure AD MSAL.js  ·  Azure Static Web Apps</a:t>
            </a:r>
          </a:p>
        </p:txBody>
      </p:sp>
      <p:sp>
        <p:nvSpPr>
          <p:cNvPr id="14" name="Rectangle 13"/>
          <p:cNvSpPr/>
          <p:nvPr/>
        </p:nvSpPr>
        <p:spPr>
          <a:xfrm>
            <a:off x="365760" y="2935224"/>
            <a:ext cx="1463040" cy="8229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048" y="3172968"/>
            <a:ext cx="1426464" cy="384048"/>
          </a:xfrm>
          <a:prstGeom prst="rect">
            <a:avLst/>
          </a:prstGeom>
          <a:noFill/>
        </p:spPr>
        <p:txBody>
          <a:bodyPr wrap="square">
            <a:spAutoFit/>
          </a:bodyPr>
          <a:lstStyle/>
          <a:p>
            <a:pPr algn="ctr"/>
            <a:r>
              <a:rPr sz="1300" b="1" i="0">
                <a:solidFill>
                  <a:srgbClr val="FFFFFF"/>
                </a:solidFill>
                <a:latin typeface="Calibri"/>
              </a:rPr>
              <a:t>L3  API Gateway</a:t>
            </a:r>
          </a:p>
        </p:txBody>
      </p:sp>
      <p:sp>
        <p:nvSpPr>
          <p:cNvPr id="16" name="Rectangle 15"/>
          <p:cNvSpPr/>
          <p:nvPr/>
        </p:nvSpPr>
        <p:spPr>
          <a:xfrm>
            <a:off x="1920240" y="2935224"/>
            <a:ext cx="1014984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029968" y="3172968"/>
            <a:ext cx="9966960" cy="402336"/>
          </a:xfrm>
          <a:prstGeom prst="rect">
            <a:avLst/>
          </a:prstGeom>
          <a:noFill/>
        </p:spPr>
        <p:txBody>
          <a:bodyPr wrap="square">
            <a:spAutoFit/>
          </a:bodyPr>
          <a:lstStyle/>
          <a:p>
            <a:pPr algn="l"/>
            <a:r>
              <a:rPr sz="1400" b="0" i="0">
                <a:solidFill>
                  <a:srgbClr val="444444"/>
                </a:solidFill>
                <a:latin typeface="Calibri"/>
              </a:rPr>
              <a:t>Azure APIM  ·  JWT Signature Validation  ·  Rate Limiting 100 req/min  ·  CORS  ·  Versioning /api/v1/</a:t>
            </a:r>
          </a:p>
        </p:txBody>
      </p:sp>
      <p:sp>
        <p:nvSpPr>
          <p:cNvPr id="18" name="Rectangle 17"/>
          <p:cNvSpPr/>
          <p:nvPr/>
        </p:nvSpPr>
        <p:spPr>
          <a:xfrm>
            <a:off x="365760" y="3831336"/>
            <a:ext cx="1463040" cy="82296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4048" y="4069080"/>
            <a:ext cx="1426464" cy="384048"/>
          </a:xfrm>
          <a:prstGeom prst="rect">
            <a:avLst/>
          </a:prstGeom>
          <a:noFill/>
        </p:spPr>
        <p:txBody>
          <a:bodyPr wrap="square">
            <a:spAutoFit/>
          </a:bodyPr>
          <a:lstStyle/>
          <a:p>
            <a:pPr algn="ctr"/>
            <a:r>
              <a:rPr sz="1300" b="1" i="0">
                <a:solidFill>
                  <a:srgbClr val="FFFFFF"/>
                </a:solidFill>
                <a:latin typeface="Calibri"/>
              </a:rPr>
              <a:t>L4  Application</a:t>
            </a:r>
          </a:p>
        </p:txBody>
      </p:sp>
      <p:sp>
        <p:nvSpPr>
          <p:cNvPr id="20" name="Rectangle 19"/>
          <p:cNvSpPr/>
          <p:nvPr/>
        </p:nvSpPr>
        <p:spPr>
          <a:xfrm>
            <a:off x="1920240" y="3831336"/>
            <a:ext cx="1014984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29968" y="4069080"/>
            <a:ext cx="9966960" cy="402336"/>
          </a:xfrm>
          <a:prstGeom prst="rect">
            <a:avLst/>
          </a:prstGeom>
          <a:noFill/>
        </p:spPr>
        <p:txBody>
          <a:bodyPr wrap="square">
            <a:spAutoFit/>
          </a:bodyPr>
          <a:lstStyle/>
          <a:p>
            <a:pPr algn="l"/>
            <a:r>
              <a:rPr sz="1400" b="0" i="0">
                <a:solidFill>
                  <a:srgbClr val="444444"/>
                </a:solidFill>
                <a:latin typeface="Calibri"/>
              </a:rPr>
              <a:t>7 ASP.NET Core 8 Microservices on AKS  ·  MediatR CQRS  ·  HPA 2–10 pods  ·  Private VNet</a:t>
            </a:r>
          </a:p>
        </p:txBody>
      </p:sp>
      <p:sp>
        <p:nvSpPr>
          <p:cNvPr id="22" name="Rectangle 21"/>
          <p:cNvSpPr/>
          <p:nvPr/>
        </p:nvSpPr>
        <p:spPr>
          <a:xfrm>
            <a:off x="365760" y="4727448"/>
            <a:ext cx="1463040" cy="8229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4048" y="4965192"/>
            <a:ext cx="1426464" cy="384048"/>
          </a:xfrm>
          <a:prstGeom prst="rect">
            <a:avLst/>
          </a:prstGeom>
          <a:noFill/>
        </p:spPr>
        <p:txBody>
          <a:bodyPr wrap="square">
            <a:spAutoFit/>
          </a:bodyPr>
          <a:lstStyle/>
          <a:p>
            <a:pPr algn="ctr"/>
            <a:r>
              <a:rPr sz="1300" b="1" i="0">
                <a:solidFill>
                  <a:srgbClr val="FFFFFF"/>
                </a:solidFill>
                <a:latin typeface="Calibri"/>
              </a:rPr>
              <a:t>L5  Data</a:t>
            </a:r>
          </a:p>
        </p:txBody>
      </p:sp>
      <p:sp>
        <p:nvSpPr>
          <p:cNvPr id="24" name="Rectangle 23"/>
          <p:cNvSpPr/>
          <p:nvPr/>
        </p:nvSpPr>
        <p:spPr>
          <a:xfrm>
            <a:off x="1920240" y="4727448"/>
            <a:ext cx="1014984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029968" y="4965192"/>
            <a:ext cx="9966960" cy="402336"/>
          </a:xfrm>
          <a:prstGeom prst="rect">
            <a:avLst/>
          </a:prstGeom>
          <a:noFill/>
        </p:spPr>
        <p:txBody>
          <a:bodyPr wrap="square">
            <a:spAutoFit/>
          </a:bodyPr>
          <a:lstStyle/>
          <a:p>
            <a:pPr algn="l"/>
            <a:r>
              <a:rPr sz="1400" b="0" i="0">
                <a:solidFill>
                  <a:srgbClr val="444444"/>
                </a:solidFill>
                <a:latin typeface="Calibri"/>
              </a:rPr>
              <a:t>Azure SQL  ·  Cosmos DB  ·  Redis Cache  ·  Blob Storage  ·  Key Vault  ·  No Public Internet Access</a:t>
            </a:r>
          </a:p>
        </p:txBody>
      </p:sp>
      <p:sp>
        <p:nvSpPr>
          <p:cNvPr id="26" name="Rectangle 25"/>
          <p:cNvSpPr/>
          <p:nvPr/>
        </p:nvSpPr>
        <p:spPr>
          <a:xfrm>
            <a:off x="365760" y="5623560"/>
            <a:ext cx="1463040" cy="822960"/>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 y="5861304"/>
            <a:ext cx="1426464" cy="384048"/>
          </a:xfrm>
          <a:prstGeom prst="rect">
            <a:avLst/>
          </a:prstGeom>
          <a:noFill/>
        </p:spPr>
        <p:txBody>
          <a:bodyPr wrap="square">
            <a:spAutoFit/>
          </a:bodyPr>
          <a:lstStyle/>
          <a:p>
            <a:pPr algn="ctr"/>
            <a:r>
              <a:rPr sz="1300" b="1" i="0">
                <a:solidFill>
                  <a:srgbClr val="FFFFFF"/>
                </a:solidFill>
                <a:latin typeface="Calibri"/>
              </a:rPr>
              <a:t>Events</a:t>
            </a:r>
          </a:p>
        </p:txBody>
      </p:sp>
      <p:sp>
        <p:nvSpPr>
          <p:cNvPr id="28" name="Rectangle 27"/>
          <p:cNvSpPr/>
          <p:nvPr/>
        </p:nvSpPr>
        <p:spPr>
          <a:xfrm>
            <a:off x="1920240" y="5623560"/>
            <a:ext cx="1014984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29968" y="5861304"/>
            <a:ext cx="9966960" cy="402336"/>
          </a:xfrm>
          <a:prstGeom prst="rect">
            <a:avLst/>
          </a:prstGeom>
          <a:noFill/>
        </p:spPr>
        <p:txBody>
          <a:bodyPr wrap="square">
            <a:spAutoFit/>
          </a:bodyPr>
          <a:lstStyle/>
          <a:p>
            <a:pPr algn="l"/>
            <a:r>
              <a:rPr sz="1400" b="0" i="0">
                <a:solidFill>
                  <a:srgbClr val="444444"/>
                </a:solidFill>
                <a:latin typeface="Calibri"/>
              </a:rPr>
              <a:t>Azure Service Bus (claim lifecycle events)  ·  Azure Event Hub (audit stream)  ·  Azure Functions (OCR, reports, payroll batch)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Architecture Diagrams — System Architecture Overview</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Source: HLD Section 2.1.2 Conceptual View  |  comp_00_SystemOverview.png</a:t>
            </a:r>
          </a:p>
        </p:txBody>
      </p:sp>
      <p:pic>
        <p:nvPicPr>
          <p:cNvPr id="6" name="Picture 5" descr="comp_00_SystemOverview.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00" y="1097280"/>
            <a:ext cx="11247120" cy="74230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492443"/>
          </a:xfrm>
          <a:prstGeom prst="rect">
            <a:avLst/>
          </a:prstGeom>
          <a:noFill/>
        </p:spPr>
        <p:txBody>
          <a:bodyPr wrap="square">
            <a:spAutoFit/>
          </a:bodyPr>
          <a:lstStyle/>
          <a:p>
            <a:r>
              <a:rPr sz="2600" b="1" i="0" dirty="0">
                <a:solidFill>
                  <a:srgbClr val="FFFFFF"/>
                </a:solidFill>
                <a:latin typeface="Calibri"/>
              </a:rPr>
              <a:t>Architecture Diagrams — </a:t>
            </a:r>
            <a:r>
              <a:rPr lang="en-IN" sz="2600" b="1" dirty="0">
                <a:solidFill>
                  <a:srgbClr val="FFFFFF"/>
                </a:solidFill>
              </a:rPr>
              <a:t>Backend Services </a:t>
            </a:r>
            <a:endParaRPr sz="2600" b="1" i="0" dirty="0">
              <a:solidFill>
                <a:srgbClr val="FFFFFF"/>
              </a:solidFill>
              <a:latin typeface="Calibri"/>
            </a:endParaRPr>
          </a:p>
        </p:txBody>
      </p:sp>
      <p:sp>
        <p:nvSpPr>
          <p:cNvPr id="5" name="TextBox 4"/>
          <p:cNvSpPr txBox="1"/>
          <p:nvPr/>
        </p:nvSpPr>
        <p:spPr>
          <a:xfrm>
            <a:off x="457200" y="658368"/>
            <a:ext cx="11274552" cy="276999"/>
          </a:xfrm>
          <a:prstGeom prst="rect">
            <a:avLst/>
          </a:prstGeom>
          <a:noFill/>
        </p:spPr>
        <p:txBody>
          <a:bodyPr wrap="square">
            <a:spAutoFit/>
          </a:bodyPr>
          <a:lstStyle/>
          <a:p>
            <a:r>
              <a:rPr sz="1200" b="0" i="1" dirty="0">
                <a:solidFill>
                  <a:srgbClr val="AECEE8"/>
                </a:solidFill>
                <a:latin typeface="Calibri"/>
              </a:rPr>
              <a:t>Source: </a:t>
            </a:r>
            <a:r>
              <a:rPr lang="en-GB" sz="1200" i="1" dirty="0">
                <a:solidFill>
                  <a:srgbClr val="AECEE8"/>
                </a:solidFill>
              </a:rPr>
              <a:t>HLD Section 2.1.7 comp_02_BackendServices.png</a:t>
            </a:r>
            <a:endParaRPr sz="1200" b="0" i="1" dirty="0">
              <a:solidFill>
                <a:srgbClr val="AECEE8"/>
              </a:solidFill>
              <a:latin typeface="Calibri"/>
            </a:endParaRPr>
          </a:p>
        </p:txBody>
      </p:sp>
      <p:sp>
        <p:nvSpPr>
          <p:cNvPr id="6" name="TextBox 5"/>
          <p:cNvSpPr txBox="1"/>
          <p:nvPr/>
        </p:nvSpPr>
        <p:spPr>
          <a:xfrm>
            <a:off x="457200" y="1097280"/>
            <a:ext cx="11274552" cy="307777"/>
          </a:xfrm>
          <a:prstGeom prst="rect">
            <a:avLst/>
          </a:prstGeom>
          <a:noFill/>
        </p:spPr>
        <p:txBody>
          <a:bodyPr wrap="square">
            <a:spAutoFit/>
          </a:bodyPr>
          <a:lstStyle/>
          <a:p>
            <a:r>
              <a:rPr lang="en-GB" sz="1400" b="1" dirty="0">
                <a:solidFill>
                  <a:srgbClr val="1F4E79"/>
                </a:solidFill>
              </a:rPr>
              <a:t>Backend: 7 microservices with shared infrastructure (JWT · </a:t>
            </a:r>
            <a:r>
              <a:rPr lang="en-GB" sz="1400" b="1" dirty="0" err="1">
                <a:solidFill>
                  <a:srgbClr val="1F4E79"/>
                </a:solidFill>
              </a:rPr>
              <a:t>FluentValidation</a:t>
            </a:r>
            <a:r>
              <a:rPr lang="en-GB" sz="1400" b="1" dirty="0">
                <a:solidFill>
                  <a:srgbClr val="1F4E79"/>
                </a:solidFill>
              </a:rPr>
              <a:t> · </a:t>
            </a:r>
            <a:r>
              <a:rPr lang="en-GB" sz="1400" b="1" dirty="0" err="1">
                <a:solidFill>
                  <a:srgbClr val="1F4E79"/>
                </a:solidFill>
              </a:rPr>
              <a:t>Serilog</a:t>
            </a:r>
            <a:r>
              <a:rPr lang="en-GB" sz="1400" b="1" dirty="0">
                <a:solidFill>
                  <a:srgbClr val="1F4E79"/>
                </a:solidFill>
              </a:rPr>
              <a:t> · EF Core 8) + internal CQRS + Service Bus events</a:t>
            </a:r>
          </a:p>
        </p:txBody>
      </p:sp>
      <p:pic>
        <p:nvPicPr>
          <p:cNvPr id="7" name="Picture 6" descr="comp_02_BackendServices.png">
            <a:extLst>
              <a:ext uri="{FF2B5EF4-FFF2-40B4-BE49-F238E27FC236}">
                <a16:creationId xmlns:a16="http://schemas.microsoft.com/office/drawing/2014/main" id="{F19F224F-48D1-2C1B-A73F-A91D8E6082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199" y="1554480"/>
            <a:ext cx="11274551" cy="582210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492443"/>
          </a:xfrm>
          <a:prstGeom prst="rect">
            <a:avLst/>
          </a:prstGeom>
          <a:noFill/>
        </p:spPr>
        <p:txBody>
          <a:bodyPr wrap="square">
            <a:spAutoFit/>
          </a:bodyPr>
          <a:lstStyle/>
          <a:p>
            <a:pPr algn="l"/>
            <a:r>
              <a:rPr sz="2600" b="1" i="0" dirty="0">
                <a:solidFill>
                  <a:srgbClr val="FFFFFF"/>
                </a:solidFill>
                <a:latin typeface="Calibri"/>
              </a:rPr>
              <a:t>Architecture Diagrams — </a:t>
            </a:r>
            <a:r>
              <a:rPr lang="en-IN" sz="2600" b="1" i="0" dirty="0">
                <a:solidFill>
                  <a:srgbClr val="FFFFFF"/>
                </a:solidFill>
                <a:latin typeface="Calibri"/>
              </a:rPr>
              <a:t>Data Architecture</a:t>
            </a:r>
            <a:endParaRPr sz="2600" b="1" i="0" dirty="0">
              <a:solidFill>
                <a:srgbClr val="FFFFFF"/>
              </a:solidFill>
              <a:latin typeface="Calibri"/>
            </a:endParaRPr>
          </a:p>
        </p:txBody>
      </p:sp>
      <p:sp>
        <p:nvSpPr>
          <p:cNvPr id="5" name="TextBox 4"/>
          <p:cNvSpPr txBox="1"/>
          <p:nvPr/>
        </p:nvSpPr>
        <p:spPr>
          <a:xfrm>
            <a:off x="457200" y="658368"/>
            <a:ext cx="11274552" cy="276999"/>
          </a:xfrm>
          <a:prstGeom prst="rect">
            <a:avLst/>
          </a:prstGeom>
          <a:noFill/>
        </p:spPr>
        <p:txBody>
          <a:bodyPr wrap="square">
            <a:spAutoFit/>
          </a:bodyPr>
          <a:lstStyle/>
          <a:p>
            <a:r>
              <a:rPr sz="1200" b="0" i="1" dirty="0">
                <a:solidFill>
                  <a:srgbClr val="AECEE8"/>
                </a:solidFill>
                <a:latin typeface="Calibri"/>
              </a:rPr>
              <a:t>Source: HLD Section 2.1.7 </a:t>
            </a:r>
            <a:r>
              <a:rPr lang="en-IN" sz="1200" i="1" dirty="0">
                <a:solidFill>
                  <a:srgbClr val="AECEE8"/>
                </a:solidFill>
              </a:rPr>
              <a:t>comp_03_DataStorage</a:t>
            </a:r>
            <a:r>
              <a:rPr sz="1200" b="0" i="1" dirty="0">
                <a:solidFill>
                  <a:srgbClr val="AECEE8"/>
                </a:solidFill>
                <a:latin typeface="Calibri"/>
              </a:rPr>
              <a:t>.png</a:t>
            </a:r>
          </a:p>
        </p:txBody>
      </p:sp>
      <p:sp>
        <p:nvSpPr>
          <p:cNvPr id="6" name="TextBox 5"/>
          <p:cNvSpPr txBox="1"/>
          <p:nvPr/>
        </p:nvSpPr>
        <p:spPr>
          <a:xfrm>
            <a:off x="457200" y="1097280"/>
            <a:ext cx="11274552" cy="276999"/>
          </a:xfrm>
          <a:prstGeom prst="rect">
            <a:avLst/>
          </a:prstGeom>
          <a:noFill/>
        </p:spPr>
        <p:txBody>
          <a:bodyPr wrap="square">
            <a:spAutoFit/>
          </a:bodyPr>
          <a:lstStyle/>
          <a:p>
            <a:r>
              <a:rPr lang="en-IN" sz="1200" b="1" dirty="0">
                <a:solidFill>
                  <a:srgbClr val="1F4E79"/>
                </a:solidFill>
              </a:rPr>
              <a:t>Data Architecture: Polyglot persistence — Azure SQL (transactional) + Cosmos DB (flexible schema) + Redis (cache-aside) + Blob (files)</a:t>
            </a:r>
          </a:p>
        </p:txBody>
      </p:sp>
      <p:pic>
        <p:nvPicPr>
          <p:cNvPr id="14" name="Picture 13">
            <a:extLst>
              <a:ext uri="{FF2B5EF4-FFF2-40B4-BE49-F238E27FC236}">
                <a16:creationId xmlns:a16="http://schemas.microsoft.com/office/drawing/2014/main" id="{7EA5886F-0643-0032-5297-1F3AEA1006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527" y="1720874"/>
            <a:ext cx="12167225" cy="599001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492443"/>
          </a:xfrm>
          <a:prstGeom prst="rect">
            <a:avLst/>
          </a:prstGeom>
          <a:noFill/>
        </p:spPr>
        <p:txBody>
          <a:bodyPr wrap="square">
            <a:spAutoFit/>
          </a:bodyPr>
          <a:lstStyle/>
          <a:p>
            <a:pPr algn="l"/>
            <a:r>
              <a:rPr sz="2600" b="1" i="0" dirty="0">
                <a:solidFill>
                  <a:srgbClr val="FFFFFF"/>
                </a:solidFill>
                <a:latin typeface="Calibri"/>
              </a:rPr>
              <a:t>Architecture Diagrams —Deployment</a:t>
            </a:r>
            <a:r>
              <a:rPr lang="en-IN" sz="2600" b="1" i="0" dirty="0">
                <a:solidFill>
                  <a:srgbClr val="FFFFFF"/>
                </a:solidFill>
                <a:latin typeface="Calibri"/>
              </a:rPr>
              <a:t> Architecture</a:t>
            </a:r>
            <a:endParaRPr sz="2600" b="1" i="0" dirty="0">
              <a:solidFill>
                <a:srgbClr val="FFFFFF"/>
              </a:solidFill>
              <a:latin typeface="Calibri"/>
            </a:endParaRPr>
          </a:p>
        </p:txBody>
      </p:sp>
      <p:sp>
        <p:nvSpPr>
          <p:cNvPr id="6" name="TextBox 5"/>
          <p:cNvSpPr txBox="1"/>
          <p:nvPr/>
        </p:nvSpPr>
        <p:spPr>
          <a:xfrm>
            <a:off x="457200" y="1097280"/>
            <a:ext cx="11274552" cy="276999"/>
          </a:xfrm>
          <a:prstGeom prst="rect">
            <a:avLst/>
          </a:prstGeom>
          <a:noFill/>
        </p:spPr>
        <p:txBody>
          <a:bodyPr wrap="square">
            <a:spAutoFit/>
          </a:bodyPr>
          <a:lstStyle/>
          <a:p>
            <a:r>
              <a:rPr lang="en-GB" sz="1200" b="1" dirty="0">
                <a:solidFill>
                  <a:srgbClr val="1F4E79"/>
                </a:solidFill>
              </a:rPr>
              <a:t>Deployment: East US 2 (Primary) + West US 2 (DR) — 3 Availability Zones, geo-replication, Azure Front Door geo-routing</a:t>
            </a:r>
          </a:p>
        </p:txBody>
      </p:sp>
      <p:pic>
        <p:nvPicPr>
          <p:cNvPr id="13" name="Picture 12">
            <a:extLst>
              <a:ext uri="{FF2B5EF4-FFF2-40B4-BE49-F238E27FC236}">
                <a16:creationId xmlns:a16="http://schemas.microsoft.com/office/drawing/2014/main" id="{9D0560CD-BA6B-9405-E1B0-A5C8A505D0C4}"/>
              </a:ext>
            </a:extLst>
          </p:cNvPr>
          <p:cNvPicPr>
            <a:picLocks noChangeAspect="1"/>
          </p:cNvPicPr>
          <p:nvPr/>
        </p:nvPicPr>
        <p:blipFill>
          <a:blip r:embed="rId3"/>
          <a:stretch>
            <a:fillRect/>
          </a:stretch>
        </p:blipFill>
        <p:spPr>
          <a:xfrm>
            <a:off x="1887321" y="1549127"/>
            <a:ext cx="8414182" cy="530887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Architecture Diagrams — Entity Relationship Diagram (All Domains)</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Source: HLD Section 2.1.8 Data View  |  er_00_master.png  |  22 entities across 7 domains</a:t>
            </a:r>
          </a:p>
        </p:txBody>
      </p:sp>
      <p:pic>
        <p:nvPicPr>
          <p:cNvPr id="6" name="Picture 5" descr="er_00_master.png"/>
          <p:cNvPicPr>
            <a:picLocks noChangeAspect="1"/>
          </p:cNvPicPr>
          <p:nvPr/>
        </p:nvPicPr>
        <p:blipFill>
          <a:blip r:embed="rId3"/>
          <a:stretch>
            <a:fillRect/>
          </a:stretch>
        </p:blipFill>
        <p:spPr>
          <a:xfrm>
            <a:off x="457200" y="1097280"/>
            <a:ext cx="11247120" cy="388327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0"/>
            <a:ext cx="12188952" cy="14630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017520"/>
            <a:ext cx="10725912" cy="822960"/>
          </a:xfrm>
          <a:prstGeom prst="rect">
            <a:avLst/>
          </a:prstGeom>
          <a:noFill/>
        </p:spPr>
        <p:txBody>
          <a:bodyPr wrap="square">
            <a:spAutoFit/>
          </a:bodyPr>
          <a:lstStyle/>
          <a:p>
            <a:pPr algn="ctr"/>
            <a:r>
              <a:rPr sz="3800" b="1" i="0">
                <a:solidFill>
                  <a:srgbClr val="FFFFFF"/>
                </a:solidFill>
                <a:latin typeface="Calibri"/>
              </a:rPr>
              <a:t>07  Tech Stack</a:t>
            </a:r>
          </a:p>
        </p:txBody>
      </p:sp>
      <p:sp>
        <p:nvSpPr>
          <p:cNvPr id="5" name="TextBox 4"/>
          <p:cNvSpPr txBox="1"/>
          <p:nvPr/>
        </p:nvSpPr>
        <p:spPr>
          <a:xfrm>
            <a:off x="731520" y="3931920"/>
            <a:ext cx="10725912" cy="457200"/>
          </a:xfrm>
          <a:prstGeom prst="rect">
            <a:avLst/>
          </a:prstGeom>
          <a:noFill/>
        </p:spPr>
        <p:txBody>
          <a:bodyPr wrap="square">
            <a:spAutoFit/>
          </a:bodyPr>
          <a:lstStyle/>
          <a:p>
            <a:pPr algn="ctr"/>
            <a:r>
              <a:rPr sz="1600" b="0" i="1">
                <a:solidFill>
                  <a:srgbClr val="AECEE8"/>
                </a:solidFill>
                <a:latin typeface="Calibri"/>
              </a:rPr>
              <a:t>Source: HLD Section 2.1.5 + LLD Sections 1.1 Trademarks &amp; 4.8 Software Prerequisites</a:t>
            </a:r>
          </a:p>
        </p:txBody>
      </p:sp>
      <p:sp>
        <p:nvSpPr>
          <p:cNvPr id="6" name="TextBox 5"/>
          <p:cNvSpPr txBox="1"/>
          <p:nvPr/>
        </p:nvSpPr>
        <p:spPr>
          <a:xfrm>
            <a:off x="457200" y="6492240"/>
            <a:ext cx="11274552" cy="274320"/>
          </a:xfrm>
          <a:prstGeom prst="rect">
            <a:avLst/>
          </a:prstGeom>
          <a:noFill/>
        </p:spPr>
        <p:txBody>
          <a:bodyPr wrap="square">
            <a:spAutoFit/>
          </a:bodyPr>
          <a:lstStyle/>
          <a:p>
            <a:pPr algn="ctr"/>
            <a:r>
              <a:rPr sz="1000" b="0" i="0">
                <a:solidFill>
                  <a:srgbClr val="70A0C0"/>
                </a:solidFill>
                <a:latin typeface="Calibri"/>
              </a:rPr>
              <a:t>© 2025–2027 Cognizant | Private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Tech Stack</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Source: HLD Section 2.1.5 Technology View + LLD Section 4.8 Software Prerequisites</a:t>
            </a:r>
          </a:p>
        </p:txBody>
      </p:sp>
      <p:sp>
        <p:nvSpPr>
          <p:cNvPr id="6" name="Rectangle 5"/>
          <p:cNvSpPr/>
          <p:nvPr/>
        </p:nvSpPr>
        <p:spPr>
          <a:xfrm>
            <a:off x="320040" y="1097280"/>
            <a:ext cx="2834640" cy="5532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097280"/>
            <a:ext cx="2834640"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93192" y="1161288"/>
            <a:ext cx="2688336" cy="292608"/>
          </a:xfrm>
          <a:prstGeom prst="rect">
            <a:avLst/>
          </a:prstGeom>
          <a:noFill/>
        </p:spPr>
        <p:txBody>
          <a:bodyPr wrap="square">
            <a:spAutoFit/>
          </a:bodyPr>
          <a:lstStyle/>
          <a:p>
            <a:pPr algn="l"/>
            <a:r>
              <a:rPr sz="1300" b="1" i="0">
                <a:solidFill>
                  <a:srgbClr val="FFFFFF"/>
                </a:solidFill>
                <a:latin typeface="Calibri"/>
              </a:rPr>
              <a:t>FRONTEND</a:t>
            </a:r>
          </a:p>
        </p:txBody>
      </p:sp>
      <p:sp>
        <p:nvSpPr>
          <p:cNvPr id="9" name="TextBox 8"/>
          <p:cNvSpPr txBox="1"/>
          <p:nvPr/>
        </p:nvSpPr>
        <p:spPr>
          <a:xfrm>
            <a:off x="411480" y="1554480"/>
            <a:ext cx="2651760" cy="5029200"/>
          </a:xfrm>
          <a:prstGeom prst="rect">
            <a:avLst/>
          </a:prstGeom>
          <a:noFill/>
        </p:spPr>
        <p:txBody>
          <a:bodyPr wrap="square">
            <a:spAutoFit/>
          </a:bodyPr>
          <a:lstStyle/>
          <a:p>
            <a:pPr>
              <a:spcBef>
                <a:spcPts val="300"/>
              </a:spcBef>
            </a:pPr>
            <a:r>
              <a:rPr sz="1200">
                <a:solidFill>
                  <a:srgbClr val="444444"/>
                </a:solidFill>
                <a:latin typeface="Calibri"/>
              </a:rPr>
              <a:t>•  React 18.3 + TypeScript</a:t>
            </a:r>
          </a:p>
          <a:p>
            <a:pPr>
              <a:spcBef>
                <a:spcPts val="300"/>
              </a:spcBef>
            </a:pPr>
            <a:r>
              <a:rPr sz="1200">
                <a:solidFill>
                  <a:srgbClr val="444444"/>
                </a:solidFill>
                <a:latin typeface="Calibri"/>
              </a:rPr>
              <a:t>•  Webpack 5 Module Federation</a:t>
            </a:r>
          </a:p>
          <a:p>
            <a:pPr>
              <a:spcBef>
                <a:spcPts val="300"/>
              </a:spcBef>
            </a:pPr>
            <a:r>
              <a:rPr sz="1200">
                <a:solidFill>
                  <a:srgbClr val="444444"/>
                </a:solidFill>
                <a:latin typeface="Calibri"/>
              </a:rPr>
              <a:t>•  Material-UI v5 (Cognizant theme)</a:t>
            </a:r>
          </a:p>
          <a:p>
            <a:pPr>
              <a:spcBef>
                <a:spcPts val="300"/>
              </a:spcBef>
            </a:pPr>
            <a:r>
              <a:rPr sz="1200">
                <a:solidFill>
                  <a:srgbClr val="444444"/>
                </a:solidFill>
                <a:latin typeface="Calibri"/>
              </a:rPr>
              <a:t>•  Axios 1.x — Bearer token interceptor</a:t>
            </a:r>
          </a:p>
          <a:p>
            <a:pPr>
              <a:spcBef>
                <a:spcPts val="300"/>
              </a:spcBef>
            </a:pPr>
            <a:r>
              <a:rPr sz="1200">
                <a:solidFill>
                  <a:srgbClr val="444444"/>
                </a:solidFill>
                <a:latin typeface="Calibri"/>
              </a:rPr>
              <a:t>•  MSAL.js — Azure AD OIDC/OAuth 2.0</a:t>
            </a:r>
          </a:p>
          <a:p>
            <a:pPr>
              <a:spcBef>
                <a:spcPts val="300"/>
              </a:spcBef>
            </a:pPr>
            <a:r>
              <a:rPr sz="1200">
                <a:solidFill>
                  <a:srgbClr val="444444"/>
                </a:solidFill>
                <a:latin typeface="Calibri"/>
              </a:rPr>
              <a:t>•  Azure Static Web Apps + CDN</a:t>
            </a:r>
          </a:p>
          <a:p>
            <a:pPr>
              <a:spcBef>
                <a:spcPts val="300"/>
              </a:spcBef>
            </a:pPr>
            <a:r>
              <a:rPr sz="1200">
                <a:solidFill>
                  <a:srgbClr val="444444"/>
                </a:solidFill>
                <a:latin typeface="Calibri"/>
              </a:rPr>
              <a:t>•  Jest + React Testing Library</a:t>
            </a:r>
          </a:p>
          <a:p>
            <a:pPr>
              <a:spcBef>
                <a:spcPts val="300"/>
              </a:spcBef>
            </a:pPr>
            <a:r>
              <a:rPr sz="1200">
                <a:solidFill>
                  <a:srgbClr val="444444"/>
                </a:solidFill>
                <a:latin typeface="Calibri"/>
              </a:rPr>
              <a:t>•  Playwright (E2E testing)</a:t>
            </a:r>
          </a:p>
        </p:txBody>
      </p:sp>
      <p:sp>
        <p:nvSpPr>
          <p:cNvPr id="10" name="Rectangle 9"/>
          <p:cNvSpPr/>
          <p:nvPr/>
        </p:nvSpPr>
        <p:spPr>
          <a:xfrm>
            <a:off x="3291840" y="1097280"/>
            <a:ext cx="2834640" cy="5532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91840" y="1097280"/>
            <a:ext cx="2834640" cy="384048"/>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64992" y="1161288"/>
            <a:ext cx="2688336" cy="292608"/>
          </a:xfrm>
          <a:prstGeom prst="rect">
            <a:avLst/>
          </a:prstGeom>
          <a:noFill/>
        </p:spPr>
        <p:txBody>
          <a:bodyPr wrap="square">
            <a:spAutoFit/>
          </a:bodyPr>
          <a:lstStyle/>
          <a:p>
            <a:pPr algn="l"/>
            <a:r>
              <a:rPr sz="1300" b="1" i="0">
                <a:solidFill>
                  <a:srgbClr val="FFFFFF"/>
                </a:solidFill>
                <a:latin typeface="Calibri"/>
              </a:rPr>
              <a:t>BACKEND</a:t>
            </a:r>
          </a:p>
        </p:txBody>
      </p:sp>
      <p:sp>
        <p:nvSpPr>
          <p:cNvPr id="13" name="TextBox 12"/>
          <p:cNvSpPr txBox="1"/>
          <p:nvPr/>
        </p:nvSpPr>
        <p:spPr>
          <a:xfrm>
            <a:off x="3383280" y="1554480"/>
            <a:ext cx="2651760" cy="5029200"/>
          </a:xfrm>
          <a:prstGeom prst="rect">
            <a:avLst/>
          </a:prstGeom>
          <a:noFill/>
        </p:spPr>
        <p:txBody>
          <a:bodyPr wrap="square">
            <a:spAutoFit/>
          </a:bodyPr>
          <a:lstStyle/>
          <a:p>
            <a:pPr>
              <a:spcBef>
                <a:spcPts val="300"/>
              </a:spcBef>
            </a:pPr>
            <a:r>
              <a:rPr sz="1200">
                <a:solidFill>
                  <a:srgbClr val="444444"/>
                </a:solidFill>
                <a:latin typeface="Calibri"/>
              </a:rPr>
              <a:t>•  ASP.NET Core 8 + C# 12 (.NET 8 LTS)</a:t>
            </a:r>
          </a:p>
          <a:p>
            <a:pPr>
              <a:spcBef>
                <a:spcPts val="300"/>
              </a:spcBef>
            </a:pPr>
            <a:r>
              <a:rPr sz="1200">
                <a:solidFill>
                  <a:srgbClr val="444444"/>
                </a:solidFill>
                <a:latin typeface="Calibri"/>
              </a:rPr>
              <a:t>•  MediatR v12 — CQRS pattern</a:t>
            </a:r>
          </a:p>
          <a:p>
            <a:pPr>
              <a:spcBef>
                <a:spcPts val="300"/>
              </a:spcBef>
            </a:pPr>
            <a:r>
              <a:rPr sz="1200">
                <a:solidFill>
                  <a:srgbClr val="444444"/>
                </a:solidFill>
                <a:latin typeface="Calibri"/>
              </a:rPr>
              <a:t>•  NRules v0.15 — compensation rules engine</a:t>
            </a:r>
          </a:p>
          <a:p>
            <a:pPr>
              <a:spcBef>
                <a:spcPts val="300"/>
              </a:spcBef>
            </a:pPr>
            <a:r>
              <a:rPr sz="1200">
                <a:solidFill>
                  <a:srgbClr val="444444"/>
                </a:solidFill>
                <a:latin typeface="Calibri"/>
              </a:rPr>
              <a:t>•  FluentValidation v11</a:t>
            </a:r>
          </a:p>
          <a:p>
            <a:pPr>
              <a:spcBef>
                <a:spcPts val="300"/>
              </a:spcBef>
            </a:pPr>
            <a:r>
              <a:rPr sz="1200">
                <a:solidFill>
                  <a:srgbClr val="444444"/>
                </a:solidFill>
                <a:latin typeface="Calibri"/>
              </a:rPr>
              <a:t>•  Entity Framework Core 8 (code-first)</a:t>
            </a:r>
          </a:p>
          <a:p>
            <a:pPr>
              <a:spcBef>
                <a:spcPts val="300"/>
              </a:spcBef>
            </a:pPr>
            <a:r>
              <a:rPr sz="1200">
                <a:solidFill>
                  <a:srgbClr val="444444"/>
                </a:solidFill>
                <a:latin typeface="Calibri"/>
              </a:rPr>
              <a:t>•  Polly v8 — retry + circuit breaker</a:t>
            </a:r>
          </a:p>
          <a:p>
            <a:pPr>
              <a:spcBef>
                <a:spcPts val="300"/>
              </a:spcBef>
            </a:pPr>
            <a:r>
              <a:rPr sz="1200">
                <a:solidFill>
                  <a:srgbClr val="444444"/>
                </a:solidFill>
                <a:latin typeface="Calibri"/>
              </a:rPr>
              <a:t>•  Tesseract.Net 2024 (receipt OCR)</a:t>
            </a:r>
          </a:p>
          <a:p>
            <a:pPr>
              <a:spcBef>
                <a:spcPts val="300"/>
              </a:spcBef>
            </a:pPr>
            <a:r>
              <a:rPr sz="1200">
                <a:solidFill>
                  <a:srgbClr val="444444"/>
                </a:solidFill>
                <a:latin typeface="Calibri"/>
              </a:rPr>
              <a:t>•  ClosedXML v0.102 — XLSX/PDF reports</a:t>
            </a:r>
          </a:p>
          <a:p>
            <a:pPr>
              <a:spcBef>
                <a:spcPts val="300"/>
              </a:spcBef>
            </a:pPr>
            <a:r>
              <a:rPr sz="1200">
                <a:solidFill>
                  <a:srgbClr val="444444"/>
                </a:solidFill>
                <a:latin typeface="Calibri"/>
              </a:rPr>
              <a:t>•  Serilog v3 — structured logging</a:t>
            </a:r>
          </a:p>
        </p:txBody>
      </p:sp>
      <p:sp>
        <p:nvSpPr>
          <p:cNvPr id="14" name="Rectangle 13"/>
          <p:cNvSpPr/>
          <p:nvPr/>
        </p:nvSpPr>
        <p:spPr>
          <a:xfrm>
            <a:off x="6263640" y="1097280"/>
            <a:ext cx="2834640" cy="5532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097280"/>
            <a:ext cx="2834640" cy="38404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36792" y="1161288"/>
            <a:ext cx="2688336" cy="292608"/>
          </a:xfrm>
          <a:prstGeom prst="rect">
            <a:avLst/>
          </a:prstGeom>
          <a:noFill/>
        </p:spPr>
        <p:txBody>
          <a:bodyPr wrap="square">
            <a:spAutoFit/>
          </a:bodyPr>
          <a:lstStyle/>
          <a:p>
            <a:pPr algn="l"/>
            <a:r>
              <a:rPr sz="1300" b="1" i="0">
                <a:solidFill>
                  <a:srgbClr val="FFFFFF"/>
                </a:solidFill>
                <a:latin typeface="Calibri"/>
              </a:rPr>
              <a:t>AZURE CLOUD</a:t>
            </a:r>
          </a:p>
        </p:txBody>
      </p:sp>
      <p:sp>
        <p:nvSpPr>
          <p:cNvPr id="17" name="TextBox 16"/>
          <p:cNvSpPr txBox="1"/>
          <p:nvPr/>
        </p:nvSpPr>
        <p:spPr>
          <a:xfrm>
            <a:off x="6355080" y="1554480"/>
            <a:ext cx="2651760" cy="5029200"/>
          </a:xfrm>
          <a:prstGeom prst="rect">
            <a:avLst/>
          </a:prstGeom>
          <a:noFill/>
        </p:spPr>
        <p:txBody>
          <a:bodyPr wrap="square">
            <a:spAutoFit/>
          </a:bodyPr>
          <a:lstStyle/>
          <a:p>
            <a:pPr>
              <a:spcBef>
                <a:spcPts val="300"/>
              </a:spcBef>
            </a:pPr>
            <a:r>
              <a:rPr sz="1200">
                <a:solidFill>
                  <a:srgbClr val="444444"/>
                </a:solidFill>
                <a:latin typeface="Calibri"/>
              </a:rPr>
              <a:t>•  AKS v1.28+ (HPA 2–10 pods per service)</a:t>
            </a:r>
          </a:p>
          <a:p>
            <a:pPr>
              <a:spcBef>
                <a:spcPts val="300"/>
              </a:spcBef>
            </a:pPr>
            <a:r>
              <a:rPr sz="1200">
                <a:solidFill>
                  <a:srgbClr val="444444"/>
                </a:solidFill>
                <a:latin typeface="Calibri"/>
              </a:rPr>
              <a:t>•  Azure APIM Premium</a:t>
            </a:r>
          </a:p>
          <a:p>
            <a:pPr>
              <a:spcBef>
                <a:spcPts val="300"/>
              </a:spcBef>
            </a:pPr>
            <a:r>
              <a:rPr sz="1200">
                <a:solidFill>
                  <a:srgbClr val="444444"/>
                </a:solidFill>
                <a:latin typeface="Calibri"/>
              </a:rPr>
              <a:t>•  Azure Front Door v2 + WAF (OWASP CRS)</a:t>
            </a:r>
          </a:p>
          <a:p>
            <a:pPr>
              <a:spcBef>
                <a:spcPts val="300"/>
              </a:spcBef>
            </a:pPr>
            <a:r>
              <a:rPr sz="1200">
                <a:solidFill>
                  <a:srgbClr val="444444"/>
                </a:solidFill>
                <a:latin typeface="Calibri"/>
              </a:rPr>
              <a:t>•  Azure SQL GP_Gen5_4 (zone-redundant)</a:t>
            </a:r>
          </a:p>
          <a:p>
            <a:pPr>
              <a:spcBef>
                <a:spcPts val="300"/>
              </a:spcBef>
            </a:pPr>
            <a:r>
              <a:rPr sz="1200">
                <a:solidFill>
                  <a:srgbClr val="444444"/>
                </a:solidFill>
                <a:latin typeface="Calibri"/>
              </a:rPr>
              <a:t>•  Azure Cosmos DB (auto-scale, multi-region)</a:t>
            </a:r>
          </a:p>
          <a:p>
            <a:pPr>
              <a:spcBef>
                <a:spcPts val="300"/>
              </a:spcBef>
            </a:pPr>
            <a:r>
              <a:rPr sz="1200">
                <a:solidFill>
                  <a:srgbClr val="444444"/>
                </a:solidFill>
                <a:latin typeface="Calibri"/>
              </a:rPr>
              <a:t>•  Azure Redis Cache P1 (zone-redundant)</a:t>
            </a:r>
          </a:p>
          <a:p>
            <a:pPr>
              <a:spcBef>
                <a:spcPts val="300"/>
              </a:spcBef>
            </a:pPr>
            <a:r>
              <a:rPr sz="1200">
                <a:solidFill>
                  <a:srgbClr val="444444"/>
                </a:solidFill>
                <a:latin typeface="Calibri"/>
              </a:rPr>
              <a:t>•  Azure Blob Storage (GRS)</a:t>
            </a:r>
          </a:p>
          <a:p>
            <a:pPr>
              <a:spcBef>
                <a:spcPts val="300"/>
              </a:spcBef>
            </a:pPr>
            <a:r>
              <a:rPr sz="1200">
                <a:solidFill>
                  <a:srgbClr val="444444"/>
                </a:solidFill>
                <a:latin typeface="Calibri"/>
              </a:rPr>
              <a:t>•  Azure Service Bus Premium</a:t>
            </a:r>
          </a:p>
          <a:p>
            <a:pPr>
              <a:spcBef>
                <a:spcPts val="300"/>
              </a:spcBef>
            </a:pPr>
            <a:r>
              <a:rPr sz="1200">
                <a:solidFill>
                  <a:srgbClr val="444444"/>
                </a:solidFill>
                <a:latin typeface="Calibri"/>
              </a:rPr>
              <a:t>•  Azure Event Hub Standard</a:t>
            </a:r>
          </a:p>
          <a:p>
            <a:pPr>
              <a:spcBef>
                <a:spcPts val="300"/>
              </a:spcBef>
            </a:pPr>
            <a:r>
              <a:rPr sz="1200">
                <a:solidFill>
                  <a:srgbClr val="444444"/>
                </a:solidFill>
                <a:latin typeface="Calibri"/>
              </a:rPr>
              <a:t>•  Azure Functions v4 (.NET 8 isolated)</a:t>
            </a:r>
          </a:p>
          <a:p>
            <a:pPr>
              <a:spcBef>
                <a:spcPts val="300"/>
              </a:spcBef>
            </a:pPr>
            <a:r>
              <a:rPr sz="1200">
                <a:solidFill>
                  <a:srgbClr val="444444"/>
                </a:solidFill>
                <a:latin typeface="Calibri"/>
              </a:rPr>
              <a:t>•  Azure Key Vault (HSM) + Managed Identity</a:t>
            </a:r>
          </a:p>
          <a:p>
            <a:pPr>
              <a:spcBef>
                <a:spcPts val="300"/>
              </a:spcBef>
            </a:pPr>
            <a:r>
              <a:rPr sz="1200">
                <a:solidFill>
                  <a:srgbClr val="444444"/>
                </a:solidFill>
                <a:latin typeface="Calibri"/>
              </a:rPr>
              <a:t>•  Azure AD / Entra ID + MFA</a:t>
            </a:r>
          </a:p>
        </p:txBody>
      </p:sp>
      <p:sp>
        <p:nvSpPr>
          <p:cNvPr id="18" name="Rectangle 17"/>
          <p:cNvSpPr/>
          <p:nvPr/>
        </p:nvSpPr>
        <p:spPr>
          <a:xfrm>
            <a:off x="9235440" y="1097280"/>
            <a:ext cx="2834640" cy="5532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235440" y="1097280"/>
            <a:ext cx="2834640" cy="384048"/>
          </a:xfrm>
          <a:prstGeom prst="rect">
            <a:avLst/>
          </a:prstGeom>
          <a:solidFill>
            <a:srgbClr val="1E7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08592" y="1161288"/>
            <a:ext cx="2688336" cy="292608"/>
          </a:xfrm>
          <a:prstGeom prst="rect">
            <a:avLst/>
          </a:prstGeom>
          <a:noFill/>
        </p:spPr>
        <p:txBody>
          <a:bodyPr wrap="square">
            <a:spAutoFit/>
          </a:bodyPr>
          <a:lstStyle/>
          <a:p>
            <a:pPr algn="l"/>
            <a:r>
              <a:rPr sz="1300" b="1" i="0">
                <a:solidFill>
                  <a:srgbClr val="FFFFFF"/>
                </a:solidFill>
                <a:latin typeface="Calibri"/>
              </a:rPr>
              <a:t>DEVOPS &amp; TESTING</a:t>
            </a:r>
          </a:p>
        </p:txBody>
      </p:sp>
      <p:sp>
        <p:nvSpPr>
          <p:cNvPr id="21" name="TextBox 20"/>
          <p:cNvSpPr txBox="1"/>
          <p:nvPr/>
        </p:nvSpPr>
        <p:spPr>
          <a:xfrm>
            <a:off x="9326880" y="1554480"/>
            <a:ext cx="2651760" cy="5029200"/>
          </a:xfrm>
          <a:prstGeom prst="rect">
            <a:avLst/>
          </a:prstGeom>
          <a:noFill/>
        </p:spPr>
        <p:txBody>
          <a:bodyPr wrap="square">
            <a:spAutoFit/>
          </a:bodyPr>
          <a:lstStyle/>
          <a:p>
            <a:pPr>
              <a:spcBef>
                <a:spcPts val="300"/>
              </a:spcBef>
            </a:pPr>
            <a:r>
              <a:rPr sz="1200">
                <a:solidFill>
                  <a:srgbClr val="444444"/>
                </a:solidFill>
                <a:latin typeface="Calibri"/>
              </a:rPr>
              <a:t>•  GitHub Actions — per-service CI/CD</a:t>
            </a:r>
          </a:p>
          <a:p>
            <a:pPr>
              <a:spcBef>
                <a:spcPts val="300"/>
              </a:spcBef>
            </a:pPr>
            <a:r>
              <a:rPr sz="1200">
                <a:solidFill>
                  <a:srgbClr val="444444"/>
                </a:solidFill>
                <a:latin typeface="Calibri"/>
              </a:rPr>
              <a:t>•  Docker 26 — container builds</a:t>
            </a:r>
          </a:p>
          <a:p>
            <a:pPr>
              <a:spcBef>
                <a:spcPts val="300"/>
              </a:spcBef>
            </a:pPr>
            <a:r>
              <a:rPr sz="1200">
                <a:solidFill>
                  <a:srgbClr val="444444"/>
                </a:solidFill>
                <a:latin typeface="Calibri"/>
              </a:rPr>
              <a:t>•  Helm 3 — Kubernetes deployments</a:t>
            </a:r>
          </a:p>
          <a:p>
            <a:pPr>
              <a:spcBef>
                <a:spcPts val="300"/>
              </a:spcBef>
            </a:pPr>
            <a:r>
              <a:rPr sz="1200">
                <a:solidFill>
                  <a:srgbClr val="444444"/>
                </a:solidFill>
                <a:latin typeface="Calibri"/>
              </a:rPr>
              <a:t>•  Azure Monitor + Application Insights</a:t>
            </a:r>
          </a:p>
          <a:p>
            <a:pPr>
              <a:spcBef>
                <a:spcPts val="300"/>
              </a:spcBef>
            </a:pPr>
            <a:r>
              <a:rPr sz="1200">
                <a:solidFill>
                  <a:srgbClr val="444444"/>
                </a:solidFill>
                <a:latin typeface="Calibri"/>
              </a:rPr>
              <a:t>•  OpenTelemetry (distributed tracing)</a:t>
            </a:r>
          </a:p>
          <a:p>
            <a:pPr>
              <a:spcBef>
                <a:spcPts val="300"/>
              </a:spcBef>
            </a:pPr>
            <a:r>
              <a:rPr sz="1200">
                <a:solidFill>
                  <a:srgbClr val="444444"/>
                </a:solidFill>
                <a:latin typeface="Calibri"/>
              </a:rPr>
              <a:t>•  xUnit + Moq — unit testing</a:t>
            </a:r>
          </a:p>
          <a:p>
            <a:pPr>
              <a:spcBef>
                <a:spcPts val="300"/>
              </a:spcBef>
            </a:pPr>
            <a:r>
              <a:rPr sz="1200">
                <a:solidFill>
                  <a:srgbClr val="444444"/>
                </a:solidFill>
                <a:latin typeface="Calibri"/>
              </a:rPr>
              <a:t>•  WireMock.NET — payroll API mock (dev)</a:t>
            </a:r>
          </a:p>
          <a:p>
            <a:pPr>
              <a:spcBef>
                <a:spcPts val="300"/>
              </a:spcBef>
            </a:pPr>
            <a:r>
              <a:rPr sz="1200">
                <a:solidFill>
                  <a:srgbClr val="444444"/>
                </a:solidFill>
                <a:latin typeface="Calibri"/>
              </a:rPr>
              <a:t>•  smtp4dev — email mock (dev)</a:t>
            </a:r>
          </a:p>
          <a:p>
            <a:pPr>
              <a:spcBef>
                <a:spcPts val="300"/>
              </a:spcBef>
            </a:pPr>
            <a:r>
              <a:rPr sz="1200">
                <a:solidFill>
                  <a:srgbClr val="444444"/>
                </a:solidFill>
                <a:latin typeface="Calibri"/>
              </a:rPr>
              <a:t>•  Azure Container Registry (ACR)</a:t>
            </a:r>
          </a:p>
          <a:p>
            <a:pPr>
              <a:spcBef>
                <a:spcPts val="300"/>
              </a:spcBef>
            </a:pPr>
            <a:r>
              <a:rPr sz="1200">
                <a:solidFill>
                  <a:srgbClr val="444444"/>
                </a:solidFill>
                <a:latin typeface="Calibri"/>
              </a:rPr>
              <a:t>•  GitHub Copilot + Claude Code (AI)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08  AI Usage and Metrics</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GitHub Copilot (code generation) + Claude Code (architecture &amp; docs) — mandatory requirement from spec</a:t>
            </a:r>
          </a:p>
        </p:txBody>
      </p:sp>
      <p:sp>
        <p:nvSpPr>
          <p:cNvPr id="6" name="Rectangle 5"/>
          <p:cNvSpPr/>
          <p:nvPr/>
        </p:nvSpPr>
        <p:spPr>
          <a:xfrm>
            <a:off x="365760" y="1097280"/>
            <a:ext cx="5440680" cy="51206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097280"/>
            <a:ext cx="5440680" cy="4114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152144"/>
            <a:ext cx="5257800" cy="320040"/>
          </a:xfrm>
          <a:prstGeom prst="rect">
            <a:avLst/>
          </a:prstGeom>
          <a:noFill/>
        </p:spPr>
        <p:txBody>
          <a:bodyPr wrap="square">
            <a:spAutoFit/>
          </a:bodyPr>
          <a:lstStyle/>
          <a:p>
            <a:pPr algn="l"/>
            <a:r>
              <a:rPr sz="1500" b="1" i="0">
                <a:solidFill>
                  <a:srgbClr val="FFFFFF"/>
                </a:solidFill>
                <a:latin typeface="Calibri"/>
              </a:rPr>
              <a:t>AI Used to BUILD This Platform</a:t>
            </a:r>
          </a:p>
        </p:txBody>
      </p:sp>
      <p:sp>
        <p:nvSpPr>
          <p:cNvPr id="9" name="TextBox 8"/>
          <p:cNvSpPr txBox="1"/>
          <p:nvPr/>
        </p:nvSpPr>
        <p:spPr>
          <a:xfrm>
            <a:off x="457200" y="1572768"/>
            <a:ext cx="5257800" cy="4480560"/>
          </a:xfrm>
          <a:prstGeom prst="rect">
            <a:avLst/>
          </a:prstGeom>
          <a:noFill/>
        </p:spPr>
        <p:txBody>
          <a:bodyPr wrap="square">
            <a:spAutoFit/>
          </a:bodyPr>
          <a:lstStyle/>
          <a:p>
            <a:pPr>
              <a:spcBef>
                <a:spcPts val="300"/>
              </a:spcBef>
            </a:pPr>
            <a:r>
              <a:rPr sz="1300">
                <a:solidFill>
                  <a:srgbClr val="444444"/>
                </a:solidFill>
                <a:latin typeface="Calibri"/>
              </a:rPr>
              <a:t>  GitHub Copilot — ~40% of code auto-generated</a:t>
            </a:r>
          </a:p>
          <a:p>
            <a:pPr>
              <a:spcBef>
                <a:spcPts val="300"/>
              </a:spcBef>
            </a:pPr>
            <a:r>
              <a:rPr sz="1300">
                <a:solidFill>
                  <a:srgbClr val="444444"/>
                </a:solidFill>
                <a:latin typeface="Calibri"/>
              </a:rPr>
              <a:t>    ASP.NET Core controllers + EF Core entities</a:t>
            </a:r>
          </a:p>
          <a:p>
            <a:pPr>
              <a:spcBef>
                <a:spcPts val="300"/>
              </a:spcBef>
            </a:pPr>
            <a:r>
              <a:rPr sz="1300">
                <a:solidFill>
                  <a:srgbClr val="444444"/>
                </a:solidFill>
                <a:latin typeface="Calibri"/>
              </a:rPr>
              <a:t>    MediatR handlers + FluentValidation rules</a:t>
            </a:r>
          </a:p>
          <a:p>
            <a:pPr>
              <a:spcBef>
                <a:spcPts val="300"/>
              </a:spcBef>
            </a:pPr>
            <a:r>
              <a:rPr sz="1300">
                <a:solidFill>
                  <a:srgbClr val="444444"/>
                </a:solidFill>
                <a:latin typeface="Calibri"/>
              </a:rPr>
              <a:t>    React components + Axios clients</a:t>
            </a:r>
          </a:p>
          <a:p>
            <a:pPr>
              <a:spcBef>
                <a:spcPts val="300"/>
              </a:spcBef>
            </a:pPr>
            <a:r>
              <a:rPr sz="1300">
                <a:solidFill>
                  <a:srgbClr val="444444"/>
                </a:solidFill>
                <a:latin typeface="Calibri"/>
              </a:rPr>
              <a:t>    xUnit tests — &gt;60% test methods generated</a:t>
            </a:r>
          </a:p>
          <a:p>
            <a:pPr>
              <a:spcBef>
                <a:spcPts val="300"/>
              </a:spcBef>
            </a:pPr>
            <a:r>
              <a:rPr sz="1300">
                <a:solidFill>
                  <a:srgbClr val="444444"/>
                </a:solidFill>
                <a:latin typeface="Calibri"/>
              </a:rPr>
              <a:t>    Helm charts + GitHub Actions YAML</a:t>
            </a:r>
          </a:p>
          <a:p>
            <a:pPr>
              <a:spcBef>
                <a:spcPts val="300"/>
              </a:spcBef>
            </a:pPr>
            <a:r>
              <a:rPr sz="1300">
                <a:solidFill>
                  <a:srgbClr val="444444"/>
                </a:solidFill>
                <a:latin typeface="Calibri"/>
              </a:rPr>
              <a:t>  </a:t>
            </a:r>
          </a:p>
          <a:p>
            <a:pPr>
              <a:spcBef>
                <a:spcPts val="300"/>
              </a:spcBef>
            </a:pPr>
            <a:r>
              <a:rPr sz="1300">
                <a:solidFill>
                  <a:srgbClr val="444444"/>
                </a:solidFill>
                <a:latin typeface="Calibri"/>
              </a:rPr>
              <a:t>  Claude Code — architecture &amp; documentation</a:t>
            </a:r>
          </a:p>
          <a:p>
            <a:pPr>
              <a:spcBef>
                <a:spcPts val="300"/>
              </a:spcBef>
            </a:pPr>
            <a:r>
              <a:rPr sz="1300">
                <a:solidFill>
                  <a:srgbClr val="444444"/>
                </a:solidFill>
                <a:latin typeface="Calibri"/>
              </a:rPr>
              <a:t>    HLD (60+ pages, 11 views) in &lt; 1 day</a:t>
            </a:r>
          </a:p>
          <a:p>
            <a:pPr>
              <a:spcBef>
                <a:spcPts val="300"/>
              </a:spcBef>
            </a:pPr>
            <a:r>
              <a:rPr sz="1300">
                <a:solidFill>
                  <a:srgbClr val="444444"/>
                </a:solidFill>
                <a:latin typeface="Calibri"/>
              </a:rPr>
              <a:t>    LLD (full technical specs) in &lt; 1 day</a:t>
            </a:r>
          </a:p>
          <a:p>
            <a:pPr>
              <a:spcBef>
                <a:spcPts val="300"/>
              </a:spcBef>
            </a:pPr>
            <a:r>
              <a:rPr sz="1300">
                <a:solidFill>
                  <a:srgbClr val="444444"/>
                </a:solidFill>
                <a:latin typeface="Calibri"/>
              </a:rPr>
              <a:t>    API Specification — 9 endpoints, OpenAPI 3.0</a:t>
            </a:r>
          </a:p>
          <a:p>
            <a:pPr>
              <a:spcBef>
                <a:spcPts val="300"/>
              </a:spcBef>
            </a:pPr>
            <a:r>
              <a:rPr sz="1300">
                <a:solidFill>
                  <a:srgbClr val="444444"/>
                </a:solidFill>
                <a:latin typeface="Calibri"/>
              </a:rPr>
              <a:t>    Architecture Decision Records (AD-01–AD-10)</a:t>
            </a:r>
          </a:p>
          <a:p>
            <a:pPr>
              <a:spcBef>
                <a:spcPts val="300"/>
              </a:spcBef>
            </a:pPr>
            <a:r>
              <a:rPr sz="1300">
                <a:solidFill>
                  <a:srgbClr val="444444"/>
                </a:solidFill>
                <a:latin typeface="Calibri"/>
              </a:rPr>
              <a:t>    This presentation — structured &amp; formatted</a:t>
            </a:r>
          </a:p>
        </p:txBody>
      </p:sp>
      <p:sp>
        <p:nvSpPr>
          <p:cNvPr id="10" name="Rectangle 9"/>
          <p:cNvSpPr/>
          <p:nvPr/>
        </p:nvSpPr>
        <p:spPr>
          <a:xfrm>
            <a:off x="6172200" y="1097280"/>
            <a:ext cx="5669280" cy="51206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1097280"/>
            <a:ext cx="5669280" cy="411480"/>
          </a:xfrm>
          <a:prstGeom prst="rect">
            <a:avLst/>
          </a:prstGeom>
          <a:solidFill>
            <a:srgbClr val="1E7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152144"/>
            <a:ext cx="5486400" cy="320040"/>
          </a:xfrm>
          <a:prstGeom prst="rect">
            <a:avLst/>
          </a:prstGeom>
          <a:noFill/>
        </p:spPr>
        <p:txBody>
          <a:bodyPr wrap="square">
            <a:spAutoFit/>
          </a:bodyPr>
          <a:lstStyle/>
          <a:p>
            <a:pPr algn="l"/>
            <a:r>
              <a:rPr sz="1500" b="1" i="0">
                <a:solidFill>
                  <a:srgbClr val="FFFFFF"/>
                </a:solidFill>
                <a:latin typeface="Calibri"/>
              </a:rPr>
              <a:t>AI Features Built Into the Product</a:t>
            </a:r>
          </a:p>
        </p:txBody>
      </p:sp>
      <p:sp>
        <p:nvSpPr>
          <p:cNvPr id="13" name="TextBox 12"/>
          <p:cNvSpPr txBox="1"/>
          <p:nvPr/>
        </p:nvSpPr>
        <p:spPr>
          <a:xfrm>
            <a:off x="6263640" y="1572768"/>
            <a:ext cx="5486400" cy="3474720"/>
          </a:xfrm>
          <a:prstGeom prst="rect">
            <a:avLst/>
          </a:prstGeom>
          <a:noFill/>
        </p:spPr>
        <p:txBody>
          <a:bodyPr wrap="square">
            <a:spAutoFit/>
          </a:bodyPr>
          <a:lstStyle/>
          <a:p>
            <a:pPr>
              <a:spcBef>
                <a:spcPts val="300"/>
              </a:spcBef>
            </a:pPr>
            <a:r>
              <a:rPr sz="1300">
                <a:solidFill>
                  <a:srgbClr val="444444"/>
                </a:solidFill>
                <a:latin typeface="Calibri"/>
              </a:rPr>
              <a:t>  Tesseract.Net Receipt Processing:</a:t>
            </a:r>
          </a:p>
          <a:p>
            <a:pPr>
              <a:spcBef>
                <a:spcPts val="300"/>
              </a:spcBef>
            </a:pPr>
            <a:r>
              <a:rPr sz="1300">
                <a:solidFill>
                  <a:srgbClr val="444444"/>
                </a:solidFill>
                <a:latin typeface="Calibri"/>
              </a:rPr>
              <a:t>    Extracts: vendor, date, amount, currency, category</a:t>
            </a:r>
          </a:p>
          <a:p>
            <a:pPr>
              <a:spcBef>
                <a:spcPts val="300"/>
              </a:spcBef>
            </a:pPr>
            <a:r>
              <a:rPr sz="1300">
                <a:solidFill>
                  <a:srgbClr val="444444"/>
                </a:solidFill>
                <a:latin typeface="Calibri"/>
              </a:rPr>
              <a:t>    Score ≥ 0.95 → auto-accept (form pre-filled)</a:t>
            </a:r>
          </a:p>
          <a:p>
            <a:pPr>
              <a:spcBef>
                <a:spcPts val="300"/>
              </a:spcBef>
            </a:pPr>
            <a:r>
              <a:rPr sz="1300">
                <a:solidFill>
                  <a:srgbClr val="444444"/>
                </a:solidFill>
                <a:latin typeface="Calibri"/>
              </a:rPr>
              <a:t>    Score 0.80–0.94 → flag for spot-check</a:t>
            </a:r>
          </a:p>
          <a:p>
            <a:pPr>
              <a:spcBef>
                <a:spcPts val="300"/>
              </a:spcBef>
            </a:pPr>
            <a:r>
              <a:rPr sz="1300">
                <a:solidFill>
                  <a:srgbClr val="444444"/>
                </a:solidFill>
                <a:latin typeface="Calibri"/>
              </a:rPr>
              <a:t>    Score &lt; 0.80 → re-upload prompt</a:t>
            </a:r>
          </a:p>
          <a:p>
            <a:pPr>
              <a:spcBef>
                <a:spcPts val="300"/>
              </a:spcBef>
            </a:pPr>
            <a:r>
              <a:rPr sz="1300">
                <a:solidFill>
                  <a:srgbClr val="444444"/>
                </a:solidFill>
                <a:latin typeface="Calibri"/>
              </a:rPr>
              <a:t>  </a:t>
            </a:r>
          </a:p>
          <a:p>
            <a:pPr>
              <a:spcBef>
                <a:spcPts val="300"/>
              </a:spcBef>
            </a:pPr>
            <a:r>
              <a:rPr sz="1300">
                <a:solidFill>
                  <a:srgbClr val="444444"/>
                </a:solidFill>
                <a:latin typeface="Calibri"/>
              </a:rPr>
              <a:t>  NRules Compensation Engine:</a:t>
            </a:r>
          </a:p>
          <a:p>
            <a:pPr>
              <a:spcBef>
                <a:spcPts val="300"/>
              </a:spcBef>
            </a:pPr>
            <a:r>
              <a:rPr sz="1300">
                <a:solidFill>
                  <a:srgbClr val="444444"/>
                </a:solidFill>
                <a:latin typeface="Calibri"/>
              </a:rPr>
              <a:t>    HR Admin edits rules in browser in 5 minutes</a:t>
            </a:r>
          </a:p>
          <a:p>
            <a:pPr>
              <a:spcBef>
                <a:spcPts val="300"/>
              </a:spcBef>
            </a:pPr>
            <a:r>
              <a:rPr sz="1300">
                <a:solidFill>
                  <a:srgbClr val="444444"/>
                </a:solidFill>
                <a:latin typeface="Calibri"/>
              </a:rPr>
              <a:t>    NRules Rete algorithm: &lt; 100 ms per CTC calc</a:t>
            </a:r>
          </a:p>
          <a:p>
            <a:pPr>
              <a:spcBef>
                <a:spcPts val="300"/>
              </a:spcBef>
            </a:pPr>
            <a:r>
              <a:rPr sz="1300">
                <a:solidFill>
                  <a:srgbClr val="444444"/>
                </a:solidFill>
                <a:latin typeface="Calibri"/>
              </a:rPr>
              <a:t>    Live update — zero code redeployment</a:t>
            </a:r>
          </a:p>
          <a:p>
            <a:pPr>
              <a:spcBef>
                <a:spcPts val="300"/>
              </a:spcBef>
            </a:pPr>
            <a:r>
              <a:rPr sz="1300">
                <a:solidFill>
                  <a:srgbClr val="444444"/>
                </a:solidFill>
                <a:latin typeface="Calibri"/>
              </a:rPr>
              <a:t>  </a:t>
            </a:r>
          </a:p>
          <a:p>
            <a:pPr>
              <a:spcBef>
                <a:spcPts val="300"/>
              </a:spcBef>
            </a:pPr>
            <a:r>
              <a:rPr sz="1300">
                <a:solidFill>
                  <a:srgbClr val="444444"/>
                </a:solidFill>
                <a:latin typeface="Calibri"/>
              </a:rPr>
              <a:t>  Azure Monitor ML Anomaly Detection:</a:t>
            </a:r>
          </a:p>
          <a:p>
            <a:pPr>
              <a:spcBef>
                <a:spcPts val="300"/>
              </a:spcBef>
            </a:pPr>
            <a:r>
              <a:rPr sz="1300">
                <a:solidFill>
                  <a:srgbClr val="444444"/>
                </a:solidFill>
                <a:latin typeface="Calibri"/>
              </a:rPr>
              <a:t>    Dynamic thresholds on 7-day baseline</a:t>
            </a:r>
          </a:p>
          <a:p>
            <a:pPr>
              <a:spcBef>
                <a:spcPts val="300"/>
              </a:spcBef>
            </a:pPr>
            <a:r>
              <a:rPr sz="1300">
                <a:solidFill>
                  <a:srgbClr val="444444"/>
                </a:solidFill>
                <a:latin typeface="Calibri"/>
              </a:rPr>
              <a:t>    PagerDuty P1 alert &lt; 5 minutes</a:t>
            </a:r>
          </a:p>
        </p:txBody>
      </p:sp>
      <p:sp>
        <p:nvSpPr>
          <p:cNvPr id="14" name="Rectangle 13"/>
          <p:cNvSpPr/>
          <p:nvPr/>
        </p:nvSpPr>
        <p:spPr>
          <a:xfrm>
            <a:off x="6172200" y="4828032"/>
            <a:ext cx="5669280" cy="822960"/>
          </a:xfrm>
          <a:prstGeom prst="rect">
            <a:avLst/>
          </a:prstGeom>
          <a:solidFill>
            <a:srgbClr val="E2F0D9"/>
          </a:solidFill>
          <a:ln>
            <a:solidFill>
              <a:srgbClr val="1E7E3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50">
                <a:solidFill>
                  <a:srgbClr val="1A3A1A"/>
                </a:solidFill>
                <a:latin typeface="Calibri"/>
              </a:rPr>
              <a:t>Delivery Metrics: Without AI = 34 weeks (~8.5 months)  |  With AI = 21 weeks (~5.25 months)  |  13 weeks saved  |  38% faster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09  Advantages</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Architecture, Security, Delivery &amp; Operational benefits of the chosen design</a:t>
            </a:r>
          </a:p>
        </p:txBody>
      </p:sp>
      <p:sp>
        <p:nvSpPr>
          <p:cNvPr id="6" name="Rectangle 5"/>
          <p:cNvSpPr/>
          <p:nvPr/>
        </p:nvSpPr>
        <p:spPr>
          <a:xfrm>
            <a:off x="320040" y="1097280"/>
            <a:ext cx="2834640" cy="24688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097280"/>
            <a:ext cx="2834640" cy="38404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93192" y="1161288"/>
            <a:ext cx="2688336" cy="274320"/>
          </a:xfrm>
          <a:prstGeom prst="rect">
            <a:avLst/>
          </a:prstGeom>
          <a:noFill/>
        </p:spPr>
        <p:txBody>
          <a:bodyPr wrap="square">
            <a:spAutoFit/>
          </a:bodyPr>
          <a:lstStyle/>
          <a:p>
            <a:pPr algn="l"/>
            <a:r>
              <a:rPr sz="1400" b="1" i="0">
                <a:solidFill>
                  <a:srgbClr val="FFFFFF"/>
                </a:solidFill>
                <a:latin typeface="Calibri"/>
              </a:rPr>
              <a:t>Independent Scalability</a:t>
            </a:r>
          </a:p>
        </p:txBody>
      </p:sp>
      <p:sp>
        <p:nvSpPr>
          <p:cNvPr id="9" name="TextBox 8"/>
          <p:cNvSpPr txBox="1"/>
          <p:nvPr/>
        </p:nvSpPr>
        <p:spPr>
          <a:xfrm>
            <a:off x="393192" y="1572768"/>
            <a:ext cx="2688336" cy="1874519"/>
          </a:xfrm>
          <a:prstGeom prst="rect">
            <a:avLst/>
          </a:prstGeom>
          <a:noFill/>
        </p:spPr>
        <p:txBody>
          <a:bodyPr wrap="square">
            <a:spAutoFit/>
          </a:bodyPr>
          <a:lstStyle/>
          <a:p>
            <a:pPr algn="l"/>
            <a:r>
              <a:rPr sz="1250" b="0" i="0">
                <a:solidFill>
                  <a:srgbClr val="444444"/>
                </a:solidFill>
                <a:latin typeface="Calibri"/>
              </a:rPr>
              <a:t>Each of 7 services scales autonomously on AKS. Payroll Service scales 10x at month-end without touching other services.</a:t>
            </a:r>
          </a:p>
        </p:txBody>
      </p:sp>
      <p:sp>
        <p:nvSpPr>
          <p:cNvPr id="10" name="Rectangle 9"/>
          <p:cNvSpPr/>
          <p:nvPr/>
        </p:nvSpPr>
        <p:spPr>
          <a:xfrm>
            <a:off x="3291840" y="1097280"/>
            <a:ext cx="2834640" cy="24688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91840" y="1097280"/>
            <a:ext cx="2834640" cy="384048"/>
          </a:xfrm>
          <a:prstGeom prst="rect">
            <a:avLst/>
          </a:prstGeom>
          <a:solidFill>
            <a:srgbClr val="B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64992" y="1161288"/>
            <a:ext cx="2688336" cy="274320"/>
          </a:xfrm>
          <a:prstGeom prst="rect">
            <a:avLst/>
          </a:prstGeom>
          <a:noFill/>
        </p:spPr>
        <p:txBody>
          <a:bodyPr wrap="square">
            <a:spAutoFit/>
          </a:bodyPr>
          <a:lstStyle/>
          <a:p>
            <a:pPr algn="l"/>
            <a:r>
              <a:rPr sz="1400" b="1" i="0">
                <a:solidFill>
                  <a:srgbClr val="FFFFFF"/>
                </a:solidFill>
                <a:latin typeface="Calibri"/>
              </a:rPr>
              <a:t>Rule-Based Compensation</a:t>
            </a:r>
          </a:p>
        </p:txBody>
      </p:sp>
      <p:sp>
        <p:nvSpPr>
          <p:cNvPr id="13" name="TextBox 12"/>
          <p:cNvSpPr txBox="1"/>
          <p:nvPr/>
        </p:nvSpPr>
        <p:spPr>
          <a:xfrm>
            <a:off x="3364992" y="1572768"/>
            <a:ext cx="2688336" cy="1874519"/>
          </a:xfrm>
          <a:prstGeom prst="rect">
            <a:avLst/>
          </a:prstGeom>
          <a:noFill/>
        </p:spPr>
        <p:txBody>
          <a:bodyPr wrap="square">
            <a:spAutoFit/>
          </a:bodyPr>
          <a:lstStyle/>
          <a:p>
            <a:pPr algn="l"/>
            <a:r>
              <a:rPr sz="1250" b="0" i="0">
                <a:solidFill>
                  <a:srgbClr val="444444"/>
                </a:solidFill>
                <a:latin typeface="Calibri"/>
              </a:rPr>
              <a:t>NRules engine: HR Admin changes salary formulas in browser in 5 minutes — replaces 3–6 week IT deployment cycle.</a:t>
            </a:r>
          </a:p>
        </p:txBody>
      </p:sp>
      <p:sp>
        <p:nvSpPr>
          <p:cNvPr id="14" name="Rectangle 13"/>
          <p:cNvSpPr/>
          <p:nvPr/>
        </p:nvSpPr>
        <p:spPr>
          <a:xfrm>
            <a:off x="6263640" y="1097280"/>
            <a:ext cx="2834640" cy="24688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097280"/>
            <a:ext cx="2834640" cy="384048"/>
          </a:xfrm>
          <a:prstGeom prst="rect">
            <a:avLst/>
          </a:prstGeom>
          <a:solidFill>
            <a:srgbClr val="1E7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36792" y="1161288"/>
            <a:ext cx="2688336" cy="274320"/>
          </a:xfrm>
          <a:prstGeom prst="rect">
            <a:avLst/>
          </a:prstGeom>
          <a:noFill/>
        </p:spPr>
        <p:txBody>
          <a:bodyPr wrap="square">
            <a:spAutoFit/>
          </a:bodyPr>
          <a:lstStyle/>
          <a:p>
            <a:pPr algn="l"/>
            <a:r>
              <a:rPr sz="1400" b="1" i="0">
                <a:solidFill>
                  <a:srgbClr val="FFFFFF"/>
                </a:solidFill>
                <a:latin typeface="Calibri"/>
              </a:rPr>
              <a:t>Event-Driven Resilience</a:t>
            </a:r>
          </a:p>
        </p:txBody>
      </p:sp>
      <p:sp>
        <p:nvSpPr>
          <p:cNvPr id="17" name="TextBox 16"/>
          <p:cNvSpPr txBox="1"/>
          <p:nvPr/>
        </p:nvSpPr>
        <p:spPr>
          <a:xfrm>
            <a:off x="6336792" y="1572768"/>
            <a:ext cx="2688336" cy="1874519"/>
          </a:xfrm>
          <a:prstGeom prst="rect">
            <a:avLst/>
          </a:prstGeom>
          <a:noFill/>
        </p:spPr>
        <p:txBody>
          <a:bodyPr wrap="square">
            <a:spAutoFit/>
          </a:bodyPr>
          <a:lstStyle/>
          <a:p>
            <a:pPr algn="l"/>
            <a:r>
              <a:rPr sz="1250" b="0" i="0">
                <a:solidFill>
                  <a:srgbClr val="444444"/>
                </a:solidFill>
                <a:latin typeface="Calibri"/>
              </a:rPr>
              <a:t>Service Bus decouples services. DLQ guarantees zero payroll data loss. Circuit breaker prevents cascade failures.</a:t>
            </a:r>
          </a:p>
        </p:txBody>
      </p:sp>
      <p:sp>
        <p:nvSpPr>
          <p:cNvPr id="18" name="Rectangle 17"/>
          <p:cNvSpPr/>
          <p:nvPr/>
        </p:nvSpPr>
        <p:spPr>
          <a:xfrm>
            <a:off x="9235440" y="1097280"/>
            <a:ext cx="2834640" cy="24688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235440" y="1097280"/>
            <a:ext cx="2834640" cy="38404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08592" y="1161288"/>
            <a:ext cx="2688336" cy="274320"/>
          </a:xfrm>
          <a:prstGeom prst="rect">
            <a:avLst/>
          </a:prstGeom>
          <a:noFill/>
        </p:spPr>
        <p:txBody>
          <a:bodyPr wrap="square">
            <a:spAutoFit/>
          </a:bodyPr>
          <a:lstStyle/>
          <a:p>
            <a:pPr algn="l"/>
            <a:r>
              <a:rPr sz="1400" b="1" i="0">
                <a:solidFill>
                  <a:srgbClr val="FFFFFF"/>
                </a:solidFill>
                <a:latin typeface="Calibri"/>
              </a:rPr>
              <a:t>Zero-Credential Security</a:t>
            </a:r>
          </a:p>
        </p:txBody>
      </p:sp>
      <p:sp>
        <p:nvSpPr>
          <p:cNvPr id="21" name="TextBox 20"/>
          <p:cNvSpPr txBox="1"/>
          <p:nvPr/>
        </p:nvSpPr>
        <p:spPr>
          <a:xfrm>
            <a:off x="9308592" y="1572768"/>
            <a:ext cx="2688336" cy="1874519"/>
          </a:xfrm>
          <a:prstGeom prst="rect">
            <a:avLst/>
          </a:prstGeom>
          <a:noFill/>
        </p:spPr>
        <p:txBody>
          <a:bodyPr wrap="square">
            <a:spAutoFit/>
          </a:bodyPr>
          <a:lstStyle/>
          <a:p>
            <a:pPr algn="l"/>
            <a:r>
              <a:rPr sz="1250" b="0" i="0">
                <a:solidFill>
                  <a:srgbClr val="444444"/>
                </a:solidFill>
                <a:latin typeface="Calibri"/>
              </a:rPr>
              <a:t>Managed Identity everywhere. No passwords in code, config files, pipelines, or databases.</a:t>
            </a:r>
          </a:p>
        </p:txBody>
      </p:sp>
      <p:sp>
        <p:nvSpPr>
          <p:cNvPr id="22" name="Rectangle 21"/>
          <p:cNvSpPr/>
          <p:nvPr/>
        </p:nvSpPr>
        <p:spPr>
          <a:xfrm>
            <a:off x="320040" y="3703320"/>
            <a:ext cx="2834640" cy="24688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20040" y="3703320"/>
            <a:ext cx="2834640" cy="384048"/>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93192" y="3767328"/>
            <a:ext cx="2688336" cy="274320"/>
          </a:xfrm>
          <a:prstGeom prst="rect">
            <a:avLst/>
          </a:prstGeom>
          <a:noFill/>
        </p:spPr>
        <p:txBody>
          <a:bodyPr wrap="square">
            <a:spAutoFit/>
          </a:bodyPr>
          <a:lstStyle/>
          <a:p>
            <a:pPr algn="l"/>
            <a:r>
              <a:rPr sz="1400" b="1" i="0">
                <a:solidFill>
                  <a:srgbClr val="FFFFFF"/>
                </a:solidFill>
                <a:latin typeface="Calibri"/>
              </a:rPr>
              <a:t>Module Federation Portals</a:t>
            </a:r>
          </a:p>
        </p:txBody>
      </p:sp>
      <p:sp>
        <p:nvSpPr>
          <p:cNvPr id="25" name="TextBox 24"/>
          <p:cNvSpPr txBox="1"/>
          <p:nvPr/>
        </p:nvSpPr>
        <p:spPr>
          <a:xfrm>
            <a:off x="393192" y="4178808"/>
            <a:ext cx="2688336" cy="1874519"/>
          </a:xfrm>
          <a:prstGeom prst="rect">
            <a:avLst/>
          </a:prstGeom>
          <a:noFill/>
        </p:spPr>
        <p:txBody>
          <a:bodyPr wrap="square">
            <a:spAutoFit/>
          </a:bodyPr>
          <a:lstStyle/>
          <a:p>
            <a:pPr algn="l"/>
            <a:r>
              <a:rPr sz="1250" b="0" i="0">
                <a:solidFill>
                  <a:srgbClr val="444444"/>
                </a:solidFill>
                <a:latin typeface="Calibri"/>
              </a:rPr>
              <a:t>Each of 4 portals deploys independently. Bug fix in Manager portal does NOT redeploy Employee portal.</a:t>
            </a:r>
          </a:p>
        </p:txBody>
      </p:sp>
      <p:sp>
        <p:nvSpPr>
          <p:cNvPr id="26" name="Rectangle 25"/>
          <p:cNvSpPr/>
          <p:nvPr/>
        </p:nvSpPr>
        <p:spPr>
          <a:xfrm>
            <a:off x="3291840" y="3703320"/>
            <a:ext cx="2834640" cy="24688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291840" y="3703320"/>
            <a:ext cx="2834640" cy="384048"/>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64992" y="3767328"/>
            <a:ext cx="2688336" cy="274320"/>
          </a:xfrm>
          <a:prstGeom prst="rect">
            <a:avLst/>
          </a:prstGeom>
          <a:noFill/>
        </p:spPr>
        <p:txBody>
          <a:bodyPr wrap="square">
            <a:spAutoFit/>
          </a:bodyPr>
          <a:lstStyle/>
          <a:p>
            <a:pPr algn="l"/>
            <a:r>
              <a:rPr sz="1400" b="1" i="0">
                <a:solidFill>
                  <a:srgbClr val="FFFFFF"/>
                </a:solidFill>
                <a:latin typeface="Calibri"/>
              </a:rPr>
              <a:t>AI-Accelerated Delivery</a:t>
            </a:r>
          </a:p>
        </p:txBody>
      </p:sp>
      <p:sp>
        <p:nvSpPr>
          <p:cNvPr id="29" name="TextBox 28"/>
          <p:cNvSpPr txBox="1"/>
          <p:nvPr/>
        </p:nvSpPr>
        <p:spPr>
          <a:xfrm>
            <a:off x="3364992" y="4178808"/>
            <a:ext cx="2688336" cy="1874519"/>
          </a:xfrm>
          <a:prstGeom prst="rect">
            <a:avLst/>
          </a:prstGeom>
          <a:noFill/>
        </p:spPr>
        <p:txBody>
          <a:bodyPr wrap="square">
            <a:spAutoFit/>
          </a:bodyPr>
          <a:lstStyle/>
          <a:p>
            <a:pPr algn="l"/>
            <a:r>
              <a:rPr sz="1250" b="0" i="0">
                <a:solidFill>
                  <a:srgbClr val="444444"/>
                </a:solidFill>
                <a:latin typeface="Calibri"/>
              </a:rPr>
              <a:t>38% faster: 34 weeks → 21 weeks. ~40% boilerplate auto-generated. Full architecture docs in days.</a:t>
            </a:r>
          </a:p>
        </p:txBody>
      </p:sp>
      <p:sp>
        <p:nvSpPr>
          <p:cNvPr id="30" name="Rectangle 29"/>
          <p:cNvSpPr/>
          <p:nvPr/>
        </p:nvSpPr>
        <p:spPr>
          <a:xfrm>
            <a:off x="6263640" y="3703320"/>
            <a:ext cx="2834640" cy="24688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63640" y="3703320"/>
            <a:ext cx="2834640"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36792" y="3767328"/>
            <a:ext cx="2688336" cy="274320"/>
          </a:xfrm>
          <a:prstGeom prst="rect">
            <a:avLst/>
          </a:prstGeom>
          <a:noFill/>
        </p:spPr>
        <p:txBody>
          <a:bodyPr wrap="square">
            <a:spAutoFit/>
          </a:bodyPr>
          <a:lstStyle/>
          <a:p>
            <a:pPr algn="l"/>
            <a:r>
              <a:rPr sz="1400" b="1" i="0">
                <a:solidFill>
                  <a:srgbClr val="FFFFFF"/>
                </a:solidFill>
                <a:latin typeface="Calibri"/>
              </a:rPr>
              <a:t>Compliance by Design</a:t>
            </a:r>
          </a:p>
        </p:txBody>
      </p:sp>
      <p:sp>
        <p:nvSpPr>
          <p:cNvPr id="33" name="TextBox 32"/>
          <p:cNvSpPr txBox="1"/>
          <p:nvPr/>
        </p:nvSpPr>
        <p:spPr>
          <a:xfrm>
            <a:off x="6336792" y="4178808"/>
            <a:ext cx="2688336" cy="1874519"/>
          </a:xfrm>
          <a:prstGeom prst="rect">
            <a:avLst/>
          </a:prstGeom>
          <a:noFill/>
        </p:spPr>
        <p:txBody>
          <a:bodyPr wrap="square">
            <a:spAutoFit/>
          </a:bodyPr>
          <a:lstStyle/>
          <a:p>
            <a:pPr algn="l"/>
            <a:r>
              <a:rPr sz="1250" b="0" i="0">
                <a:solidFill>
                  <a:srgbClr val="444444"/>
                </a:solidFill>
                <a:latin typeface="Calibri"/>
              </a:rPr>
              <a:t>7-year immutable audit trail from Day 1. GDPR-ready. PII masked in logs. Region-pinned East US 2.</a:t>
            </a:r>
          </a:p>
        </p:txBody>
      </p:sp>
      <p:sp>
        <p:nvSpPr>
          <p:cNvPr id="34" name="Rectangle 33"/>
          <p:cNvSpPr/>
          <p:nvPr/>
        </p:nvSpPr>
        <p:spPr>
          <a:xfrm>
            <a:off x="9235440" y="3703320"/>
            <a:ext cx="2834640" cy="24688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235440" y="3703320"/>
            <a:ext cx="2834640" cy="384048"/>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308592" y="3767328"/>
            <a:ext cx="2688336" cy="274320"/>
          </a:xfrm>
          <a:prstGeom prst="rect">
            <a:avLst/>
          </a:prstGeom>
          <a:noFill/>
        </p:spPr>
        <p:txBody>
          <a:bodyPr wrap="square">
            <a:spAutoFit/>
          </a:bodyPr>
          <a:lstStyle/>
          <a:p>
            <a:pPr algn="l"/>
            <a:r>
              <a:rPr sz="1400" b="1" i="0">
                <a:solidFill>
                  <a:srgbClr val="FFFFFF"/>
                </a:solidFill>
                <a:latin typeface="Calibri"/>
              </a:rPr>
              <a:t>Multi-Region DR</a:t>
            </a:r>
          </a:p>
        </p:txBody>
      </p:sp>
      <p:sp>
        <p:nvSpPr>
          <p:cNvPr id="37" name="TextBox 36"/>
          <p:cNvSpPr txBox="1"/>
          <p:nvPr/>
        </p:nvSpPr>
        <p:spPr>
          <a:xfrm>
            <a:off x="9308592" y="4178808"/>
            <a:ext cx="2688336" cy="1874519"/>
          </a:xfrm>
          <a:prstGeom prst="rect">
            <a:avLst/>
          </a:prstGeom>
          <a:noFill/>
        </p:spPr>
        <p:txBody>
          <a:bodyPr wrap="square">
            <a:spAutoFit/>
          </a:bodyPr>
          <a:lstStyle/>
          <a:p>
            <a:pPr algn="l"/>
            <a:r>
              <a:rPr sz="1250" b="0" i="0">
                <a:solidFill>
                  <a:srgbClr val="444444"/>
                </a:solidFill>
                <a:latin typeface="Calibri"/>
              </a:rPr>
              <a:t>RTO &lt; 30 min (app). RPO &lt; 5 min (SQL). Cosmos DB zero RPO. Quarterly validated DR failover drills.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10  Estimations and Implementation Plan</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Source: LLD Section 5.2 (DR/HA) + LLD Section 7.1.9 (Capacity) + Delivery methodology</a:t>
            </a:r>
          </a:p>
        </p:txBody>
      </p:sp>
      <p:sp>
        <p:nvSpPr>
          <p:cNvPr id="6" name="Rectangle 5"/>
          <p:cNvSpPr/>
          <p:nvPr/>
        </p:nvSpPr>
        <p:spPr>
          <a:xfrm>
            <a:off x="320040" y="1115568"/>
            <a:ext cx="1097280" cy="11887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38328" y="1499616"/>
            <a:ext cx="1060704" cy="384048"/>
          </a:xfrm>
          <a:prstGeom prst="rect">
            <a:avLst/>
          </a:prstGeom>
          <a:noFill/>
        </p:spPr>
        <p:txBody>
          <a:bodyPr wrap="square">
            <a:spAutoFit/>
          </a:bodyPr>
          <a:lstStyle/>
          <a:p>
            <a:pPr algn="ctr"/>
            <a:r>
              <a:rPr sz="1500" b="1" i="0">
                <a:solidFill>
                  <a:srgbClr val="FFFFFF"/>
                </a:solidFill>
                <a:latin typeface="Calibri"/>
              </a:rPr>
              <a:t>Phase 1</a:t>
            </a:r>
          </a:p>
        </p:txBody>
      </p:sp>
      <p:sp>
        <p:nvSpPr>
          <p:cNvPr id="8" name="TextBox 7"/>
          <p:cNvSpPr txBox="1"/>
          <p:nvPr/>
        </p:nvSpPr>
        <p:spPr>
          <a:xfrm>
            <a:off x="1536192" y="1170432"/>
            <a:ext cx="3200400" cy="347472"/>
          </a:xfrm>
          <a:prstGeom prst="rect">
            <a:avLst/>
          </a:prstGeom>
          <a:noFill/>
        </p:spPr>
        <p:txBody>
          <a:bodyPr wrap="square">
            <a:spAutoFit/>
          </a:bodyPr>
          <a:lstStyle/>
          <a:p>
            <a:pPr algn="l"/>
            <a:r>
              <a:rPr sz="1350" b="1" i="0">
                <a:solidFill>
                  <a:srgbClr val="1F4E79"/>
                </a:solidFill>
                <a:latin typeface="Calibri"/>
              </a:rPr>
              <a:t>Foundation &amp; Infrastructure</a:t>
            </a:r>
          </a:p>
        </p:txBody>
      </p:sp>
      <p:sp>
        <p:nvSpPr>
          <p:cNvPr id="9" name="TextBox 8"/>
          <p:cNvSpPr txBox="1"/>
          <p:nvPr/>
        </p:nvSpPr>
        <p:spPr>
          <a:xfrm>
            <a:off x="1536192" y="1572768"/>
            <a:ext cx="3200400" cy="292608"/>
          </a:xfrm>
          <a:prstGeom prst="rect">
            <a:avLst/>
          </a:prstGeom>
          <a:noFill/>
        </p:spPr>
        <p:txBody>
          <a:bodyPr wrap="square">
            <a:spAutoFit/>
          </a:bodyPr>
          <a:lstStyle/>
          <a:p>
            <a:pPr algn="l"/>
            <a:r>
              <a:rPr sz="1200" b="0" i="1">
                <a:solidFill>
                  <a:srgbClr val="444444"/>
                </a:solidFill>
                <a:latin typeface="Calibri"/>
              </a:rPr>
              <a:t>Without AI: Wk 1–8  |  With AI: Wk 1–5</a:t>
            </a:r>
          </a:p>
        </p:txBody>
      </p:sp>
      <p:sp>
        <p:nvSpPr>
          <p:cNvPr id="10" name="Rectangle 9"/>
          <p:cNvSpPr/>
          <p:nvPr/>
        </p:nvSpPr>
        <p:spPr>
          <a:xfrm>
            <a:off x="4892040" y="1115568"/>
            <a:ext cx="36576" cy="11887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0" y="1298448"/>
            <a:ext cx="6858000" cy="896112"/>
          </a:xfrm>
          <a:prstGeom prst="rect">
            <a:avLst/>
          </a:prstGeom>
          <a:noFill/>
        </p:spPr>
        <p:txBody>
          <a:bodyPr wrap="square">
            <a:spAutoFit/>
          </a:bodyPr>
          <a:lstStyle/>
          <a:p>
            <a:pPr algn="l"/>
            <a:r>
              <a:rPr sz="1250" b="0" i="0">
                <a:solidFill>
                  <a:srgbClr val="444444"/>
                </a:solidFill>
                <a:latin typeface="Calibri"/>
              </a:rPr>
              <a:t>Azure provisioning (AKS, APIM, SQL, Cosmos, Redis, Service Bus, Event Hub, Key Vault)  ·  Managed Identity + Private VNet + Entra ID SSO + MFA  ·  Employee &amp; Benefits services  ·  CI/CD pipelines</a:t>
            </a:r>
          </a:p>
        </p:txBody>
      </p:sp>
      <p:sp>
        <p:nvSpPr>
          <p:cNvPr id="12" name="Rectangle 11"/>
          <p:cNvSpPr/>
          <p:nvPr/>
        </p:nvSpPr>
        <p:spPr>
          <a:xfrm>
            <a:off x="320040" y="2414016"/>
            <a:ext cx="1097280" cy="1188720"/>
          </a:xfrm>
          <a:prstGeom prst="rect">
            <a:avLst/>
          </a:prstGeom>
          <a:solidFill>
            <a:srgbClr val="1E7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8" y="2798064"/>
            <a:ext cx="1060704" cy="384048"/>
          </a:xfrm>
          <a:prstGeom prst="rect">
            <a:avLst/>
          </a:prstGeom>
          <a:noFill/>
        </p:spPr>
        <p:txBody>
          <a:bodyPr wrap="square">
            <a:spAutoFit/>
          </a:bodyPr>
          <a:lstStyle/>
          <a:p>
            <a:pPr algn="ctr"/>
            <a:r>
              <a:rPr sz="1500" b="1" i="0">
                <a:solidFill>
                  <a:srgbClr val="FFFFFF"/>
                </a:solidFill>
                <a:latin typeface="Calibri"/>
              </a:rPr>
              <a:t>Phase 2</a:t>
            </a:r>
          </a:p>
        </p:txBody>
      </p:sp>
      <p:sp>
        <p:nvSpPr>
          <p:cNvPr id="14" name="TextBox 13"/>
          <p:cNvSpPr txBox="1"/>
          <p:nvPr/>
        </p:nvSpPr>
        <p:spPr>
          <a:xfrm>
            <a:off x="1536192" y="2468880"/>
            <a:ext cx="3200400" cy="347472"/>
          </a:xfrm>
          <a:prstGeom prst="rect">
            <a:avLst/>
          </a:prstGeom>
          <a:noFill/>
        </p:spPr>
        <p:txBody>
          <a:bodyPr wrap="square">
            <a:spAutoFit/>
          </a:bodyPr>
          <a:lstStyle/>
          <a:p>
            <a:pPr algn="l"/>
            <a:r>
              <a:rPr sz="1350" b="1" i="0">
                <a:solidFill>
                  <a:srgbClr val="1F4E79"/>
                </a:solidFill>
                <a:latin typeface="Calibri"/>
              </a:rPr>
              <a:t>Claims, Documents &amp; Approval</a:t>
            </a:r>
          </a:p>
        </p:txBody>
      </p:sp>
      <p:sp>
        <p:nvSpPr>
          <p:cNvPr id="15" name="TextBox 14"/>
          <p:cNvSpPr txBox="1"/>
          <p:nvPr/>
        </p:nvSpPr>
        <p:spPr>
          <a:xfrm>
            <a:off x="1536192" y="2871216"/>
            <a:ext cx="3200400" cy="292608"/>
          </a:xfrm>
          <a:prstGeom prst="rect">
            <a:avLst/>
          </a:prstGeom>
          <a:noFill/>
        </p:spPr>
        <p:txBody>
          <a:bodyPr wrap="square">
            <a:spAutoFit/>
          </a:bodyPr>
          <a:lstStyle/>
          <a:p>
            <a:pPr algn="l"/>
            <a:r>
              <a:rPr sz="1200" b="0" i="1">
                <a:solidFill>
                  <a:srgbClr val="444444"/>
                </a:solidFill>
                <a:latin typeface="Calibri"/>
              </a:rPr>
              <a:t>Without AI: Wk 9–16  |  With AI: Wk 6–10</a:t>
            </a:r>
          </a:p>
        </p:txBody>
      </p:sp>
      <p:sp>
        <p:nvSpPr>
          <p:cNvPr id="16" name="Rectangle 15"/>
          <p:cNvSpPr/>
          <p:nvPr/>
        </p:nvSpPr>
        <p:spPr>
          <a:xfrm>
            <a:off x="4892040" y="2414016"/>
            <a:ext cx="36576" cy="11887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0" y="2596896"/>
            <a:ext cx="6858000" cy="896112"/>
          </a:xfrm>
          <a:prstGeom prst="rect">
            <a:avLst/>
          </a:prstGeom>
          <a:noFill/>
        </p:spPr>
        <p:txBody>
          <a:bodyPr wrap="square">
            <a:spAutoFit/>
          </a:bodyPr>
          <a:lstStyle/>
          <a:p>
            <a:pPr algn="l"/>
            <a:r>
              <a:rPr sz="1250" b="0" i="0">
                <a:solidFill>
                  <a:srgbClr val="444444"/>
                </a:solidFill>
                <a:latin typeface="Calibri"/>
              </a:rPr>
              <a:t>Claims state machine + Documents service + Tesseract.Net pipeline (Azure Functions)  ·  Employee Self-Service Portal + Manager Approval Portal  ·  7-business-day SLA + email reminders</a:t>
            </a:r>
          </a:p>
        </p:txBody>
      </p:sp>
      <p:sp>
        <p:nvSpPr>
          <p:cNvPr id="18" name="Rectangle 17"/>
          <p:cNvSpPr/>
          <p:nvPr/>
        </p:nvSpPr>
        <p:spPr>
          <a:xfrm>
            <a:off x="320040" y="3712464"/>
            <a:ext cx="1097280" cy="118872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8328" y="4096512"/>
            <a:ext cx="1060704" cy="384048"/>
          </a:xfrm>
          <a:prstGeom prst="rect">
            <a:avLst/>
          </a:prstGeom>
          <a:noFill/>
        </p:spPr>
        <p:txBody>
          <a:bodyPr wrap="square">
            <a:spAutoFit/>
          </a:bodyPr>
          <a:lstStyle/>
          <a:p>
            <a:pPr algn="ctr"/>
            <a:r>
              <a:rPr sz="1500" b="1" i="0">
                <a:solidFill>
                  <a:srgbClr val="FFFFFF"/>
                </a:solidFill>
                <a:latin typeface="Calibri"/>
              </a:rPr>
              <a:t>Phase 3</a:t>
            </a:r>
          </a:p>
        </p:txBody>
      </p:sp>
      <p:sp>
        <p:nvSpPr>
          <p:cNvPr id="20" name="TextBox 19"/>
          <p:cNvSpPr txBox="1"/>
          <p:nvPr/>
        </p:nvSpPr>
        <p:spPr>
          <a:xfrm>
            <a:off x="1536192" y="3767328"/>
            <a:ext cx="3200400" cy="347472"/>
          </a:xfrm>
          <a:prstGeom prst="rect">
            <a:avLst/>
          </a:prstGeom>
          <a:noFill/>
        </p:spPr>
        <p:txBody>
          <a:bodyPr wrap="square">
            <a:spAutoFit/>
          </a:bodyPr>
          <a:lstStyle/>
          <a:p>
            <a:pPr algn="l"/>
            <a:r>
              <a:rPr sz="1350" b="1" i="0">
                <a:solidFill>
                  <a:srgbClr val="1F4E79"/>
                </a:solidFill>
                <a:latin typeface="Calibri"/>
              </a:rPr>
              <a:t>Compensation, Payroll &amp; Promotions</a:t>
            </a:r>
          </a:p>
        </p:txBody>
      </p:sp>
      <p:sp>
        <p:nvSpPr>
          <p:cNvPr id="21" name="TextBox 20"/>
          <p:cNvSpPr txBox="1"/>
          <p:nvPr/>
        </p:nvSpPr>
        <p:spPr>
          <a:xfrm>
            <a:off x="1536192" y="4169664"/>
            <a:ext cx="3200400" cy="292608"/>
          </a:xfrm>
          <a:prstGeom prst="rect">
            <a:avLst/>
          </a:prstGeom>
          <a:noFill/>
        </p:spPr>
        <p:txBody>
          <a:bodyPr wrap="square">
            <a:spAutoFit/>
          </a:bodyPr>
          <a:lstStyle/>
          <a:p>
            <a:pPr algn="l"/>
            <a:r>
              <a:rPr sz="1200" b="0" i="1">
                <a:solidFill>
                  <a:srgbClr val="444444"/>
                </a:solidFill>
                <a:latin typeface="Calibri"/>
              </a:rPr>
              <a:t>Without AI: Wk 17–24  |  With AI: Wk 11–15</a:t>
            </a:r>
          </a:p>
        </p:txBody>
      </p:sp>
      <p:sp>
        <p:nvSpPr>
          <p:cNvPr id="22" name="Rectangle 21"/>
          <p:cNvSpPr/>
          <p:nvPr/>
        </p:nvSpPr>
        <p:spPr>
          <a:xfrm>
            <a:off x="4892040" y="3712464"/>
            <a:ext cx="36576" cy="11887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0" y="3895344"/>
            <a:ext cx="6858000" cy="896112"/>
          </a:xfrm>
          <a:prstGeom prst="rect">
            <a:avLst/>
          </a:prstGeom>
          <a:noFill/>
        </p:spPr>
        <p:txBody>
          <a:bodyPr wrap="square">
            <a:spAutoFit/>
          </a:bodyPr>
          <a:lstStyle/>
          <a:p>
            <a:pPr algn="l"/>
            <a:r>
              <a:rPr sz="1250" b="0" i="0">
                <a:solidFill>
                  <a:srgbClr val="444444"/>
                </a:solidFill>
                <a:latin typeface="Calibri"/>
              </a:rPr>
              <a:t>NRules CTC engine + Payroll REST integration (Polly retry + DLQ)  ·  PaySlip PDF (ClosedXML) + Promotions service  ·  HR Admin Portal  ·  End-to-end flow validated</a:t>
            </a:r>
          </a:p>
        </p:txBody>
      </p:sp>
      <p:sp>
        <p:nvSpPr>
          <p:cNvPr id="24" name="Rectangle 23"/>
          <p:cNvSpPr/>
          <p:nvPr/>
        </p:nvSpPr>
        <p:spPr>
          <a:xfrm>
            <a:off x="320040" y="5010912"/>
            <a:ext cx="1097280" cy="11887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8328" y="5394960"/>
            <a:ext cx="1060704" cy="384048"/>
          </a:xfrm>
          <a:prstGeom prst="rect">
            <a:avLst/>
          </a:prstGeom>
          <a:noFill/>
        </p:spPr>
        <p:txBody>
          <a:bodyPr wrap="square">
            <a:spAutoFit/>
          </a:bodyPr>
          <a:lstStyle/>
          <a:p>
            <a:pPr algn="ctr"/>
            <a:r>
              <a:rPr sz="1500" b="1" i="0">
                <a:solidFill>
                  <a:srgbClr val="FFFFFF"/>
                </a:solidFill>
                <a:latin typeface="Calibri"/>
              </a:rPr>
              <a:t>Phase 4</a:t>
            </a:r>
          </a:p>
        </p:txBody>
      </p:sp>
      <p:sp>
        <p:nvSpPr>
          <p:cNvPr id="26" name="TextBox 25"/>
          <p:cNvSpPr txBox="1"/>
          <p:nvPr/>
        </p:nvSpPr>
        <p:spPr>
          <a:xfrm>
            <a:off x="1536192" y="5065776"/>
            <a:ext cx="3200400" cy="347472"/>
          </a:xfrm>
          <a:prstGeom prst="rect">
            <a:avLst/>
          </a:prstGeom>
          <a:noFill/>
        </p:spPr>
        <p:txBody>
          <a:bodyPr wrap="square">
            <a:spAutoFit/>
          </a:bodyPr>
          <a:lstStyle/>
          <a:p>
            <a:pPr algn="l"/>
            <a:r>
              <a:rPr sz="1350" b="1" i="0">
                <a:solidFill>
                  <a:srgbClr val="1F4E79"/>
                </a:solidFill>
                <a:latin typeface="Calibri"/>
              </a:rPr>
              <a:t>Reporting, Audit &amp; Go-Live</a:t>
            </a:r>
          </a:p>
        </p:txBody>
      </p:sp>
      <p:sp>
        <p:nvSpPr>
          <p:cNvPr id="27" name="TextBox 26"/>
          <p:cNvSpPr txBox="1"/>
          <p:nvPr/>
        </p:nvSpPr>
        <p:spPr>
          <a:xfrm>
            <a:off x="1536192" y="5468112"/>
            <a:ext cx="3200400" cy="292608"/>
          </a:xfrm>
          <a:prstGeom prst="rect">
            <a:avLst/>
          </a:prstGeom>
          <a:noFill/>
        </p:spPr>
        <p:txBody>
          <a:bodyPr wrap="square">
            <a:spAutoFit/>
          </a:bodyPr>
          <a:lstStyle/>
          <a:p>
            <a:pPr algn="l"/>
            <a:r>
              <a:rPr sz="1200" b="0" i="1">
                <a:solidFill>
                  <a:srgbClr val="444444"/>
                </a:solidFill>
                <a:latin typeface="Calibri"/>
              </a:rPr>
              <a:t>Without AI: Wk 25–34  |  With AI: Wk 16–21</a:t>
            </a:r>
          </a:p>
        </p:txBody>
      </p:sp>
      <p:sp>
        <p:nvSpPr>
          <p:cNvPr id="28" name="Rectangle 27"/>
          <p:cNvSpPr/>
          <p:nvPr/>
        </p:nvSpPr>
        <p:spPr>
          <a:xfrm>
            <a:off x="4892040" y="5010912"/>
            <a:ext cx="36576" cy="11887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0" y="5193792"/>
            <a:ext cx="6858000" cy="896112"/>
          </a:xfrm>
          <a:prstGeom prst="rect">
            <a:avLst/>
          </a:prstGeom>
          <a:noFill/>
        </p:spPr>
        <p:txBody>
          <a:bodyPr wrap="square">
            <a:spAutoFit/>
          </a:bodyPr>
          <a:lstStyle/>
          <a:p>
            <a:pPr algn="l"/>
            <a:r>
              <a:rPr sz="1250" b="0" i="0">
                <a:solidFill>
                  <a:srgbClr val="444444"/>
                </a:solidFill>
                <a:latin typeface="Calibri"/>
              </a:rPr>
              <a:t>Reporting Service + Finance &amp; Audit Portal  ·  Load test (10K users)  ·  Security review + DR drill  ·  Production go-live: blue-green deployment + rollback verified</a:t>
            </a:r>
          </a:p>
        </p:txBody>
      </p:sp>
      <p:sp>
        <p:nvSpPr>
          <p:cNvPr id="30" name="Rectangle 29"/>
          <p:cNvSpPr/>
          <p:nvPr/>
        </p:nvSpPr>
        <p:spPr>
          <a:xfrm>
            <a:off x="320040" y="6355080"/>
            <a:ext cx="11548872" cy="402336"/>
          </a:xfrm>
          <a:prstGeom prst="rect">
            <a:avLst/>
          </a:prstGeom>
          <a:solidFill>
            <a:srgbClr val="E2F0D9"/>
          </a:solidFill>
          <a:ln>
            <a:solidFill>
              <a:srgbClr val="1E7E3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a:solidFill>
                  <a:srgbClr val="1A3A1A"/>
                </a:solidFill>
                <a:latin typeface="Calibri"/>
              </a:rPr>
              <a:t>WITHOUT AI: ~34 weeks (8.5 months)  ·  Team: 13  ·  ~15,640 person-hours
WITH AI: ~21 weeks (5.25 months)  ·  13 weeks saved  ·  38% faster  ·  ~40% code auto-generated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Estimations and Implementation Plan — Timeline Comparison</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With AI (GitHub Copilot + Claude Code) vs Traditional delivery — 4 phases + UAT</a:t>
            </a:r>
          </a:p>
        </p:txBody>
      </p:sp>
      <p:pic>
        <p:nvPicPr>
          <p:cNvPr id="6" name="Picture 5" descr="gantt_chart.png"/>
          <p:cNvPicPr>
            <a:picLocks noChangeAspect="1"/>
          </p:cNvPicPr>
          <p:nvPr/>
        </p:nvPicPr>
        <p:blipFill>
          <a:blip r:embed="rId3"/>
          <a:stretch>
            <a:fillRect/>
          </a:stretch>
        </p:blipFill>
        <p:spPr>
          <a:xfrm>
            <a:off x="457200" y="1097280"/>
            <a:ext cx="11247120" cy="454072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11  Risks and Mitigations</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Source: LLD Section 5.2 DR + HLD Section 5 + design review</a:t>
            </a:r>
          </a:p>
        </p:txBody>
      </p:sp>
      <p:sp>
        <p:nvSpPr>
          <p:cNvPr id="6" name="Rectangle 5"/>
          <p:cNvSpPr/>
          <p:nvPr/>
        </p:nvSpPr>
        <p:spPr>
          <a:xfrm>
            <a:off x="274320" y="1097280"/>
            <a:ext cx="457200" cy="38404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124712"/>
            <a:ext cx="365760" cy="329184"/>
          </a:xfrm>
          <a:prstGeom prst="rect">
            <a:avLst/>
          </a:prstGeom>
          <a:noFill/>
        </p:spPr>
        <p:txBody>
          <a:bodyPr wrap="square">
            <a:spAutoFit/>
          </a:bodyPr>
          <a:lstStyle/>
          <a:p>
            <a:pPr algn="ctr"/>
            <a:r>
              <a:rPr sz="1200" b="1" i="0">
                <a:solidFill>
                  <a:srgbClr val="FFFFFF"/>
                </a:solidFill>
                <a:latin typeface="Calibri"/>
              </a:rPr>
              <a:t>#</a:t>
            </a:r>
          </a:p>
        </p:txBody>
      </p:sp>
      <p:sp>
        <p:nvSpPr>
          <p:cNvPr id="8" name="Rectangle 7"/>
          <p:cNvSpPr/>
          <p:nvPr/>
        </p:nvSpPr>
        <p:spPr>
          <a:xfrm>
            <a:off x="731520" y="1097280"/>
            <a:ext cx="3474720" cy="38404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124712"/>
            <a:ext cx="3383280" cy="329184"/>
          </a:xfrm>
          <a:prstGeom prst="rect">
            <a:avLst/>
          </a:prstGeom>
          <a:noFill/>
        </p:spPr>
        <p:txBody>
          <a:bodyPr wrap="square">
            <a:spAutoFit/>
          </a:bodyPr>
          <a:lstStyle/>
          <a:p>
            <a:pPr algn="ctr"/>
            <a:r>
              <a:rPr sz="1200" b="1" i="0">
                <a:solidFill>
                  <a:srgbClr val="FFFFFF"/>
                </a:solidFill>
                <a:latin typeface="Calibri"/>
              </a:rPr>
              <a:t>RISK</a:t>
            </a:r>
          </a:p>
        </p:txBody>
      </p:sp>
      <p:sp>
        <p:nvSpPr>
          <p:cNvPr id="10" name="Rectangle 9"/>
          <p:cNvSpPr/>
          <p:nvPr/>
        </p:nvSpPr>
        <p:spPr>
          <a:xfrm>
            <a:off x="4206240" y="1097280"/>
            <a:ext cx="1097280" cy="38404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51960" y="1124712"/>
            <a:ext cx="1005840" cy="329184"/>
          </a:xfrm>
          <a:prstGeom prst="rect">
            <a:avLst/>
          </a:prstGeom>
          <a:noFill/>
        </p:spPr>
        <p:txBody>
          <a:bodyPr wrap="square">
            <a:spAutoFit/>
          </a:bodyPr>
          <a:lstStyle/>
          <a:p>
            <a:pPr algn="ctr"/>
            <a:r>
              <a:rPr sz="1200" b="1" i="0">
                <a:solidFill>
                  <a:srgbClr val="FFFFFF"/>
                </a:solidFill>
                <a:latin typeface="Calibri"/>
              </a:rPr>
              <a:t>IMPACT</a:t>
            </a:r>
          </a:p>
        </p:txBody>
      </p:sp>
      <p:sp>
        <p:nvSpPr>
          <p:cNvPr id="12" name="Rectangle 11"/>
          <p:cNvSpPr/>
          <p:nvPr/>
        </p:nvSpPr>
        <p:spPr>
          <a:xfrm>
            <a:off x="5303520" y="1097280"/>
            <a:ext cx="6949440" cy="38404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49240" y="1124712"/>
            <a:ext cx="6858000" cy="329184"/>
          </a:xfrm>
          <a:prstGeom prst="rect">
            <a:avLst/>
          </a:prstGeom>
          <a:noFill/>
        </p:spPr>
        <p:txBody>
          <a:bodyPr wrap="square">
            <a:spAutoFit/>
          </a:bodyPr>
          <a:lstStyle/>
          <a:p>
            <a:pPr algn="ctr"/>
            <a:r>
              <a:rPr sz="1200" b="1" i="0">
                <a:solidFill>
                  <a:srgbClr val="FFFFFF"/>
                </a:solidFill>
                <a:latin typeface="Calibri"/>
              </a:rPr>
              <a:t>MITIGATION</a:t>
            </a:r>
          </a:p>
        </p:txBody>
      </p:sp>
      <p:sp>
        <p:nvSpPr>
          <p:cNvPr id="14" name="Rectangle 13"/>
          <p:cNvSpPr/>
          <p:nvPr/>
        </p:nvSpPr>
        <p:spPr>
          <a:xfrm>
            <a:off x="274320" y="1481328"/>
            <a:ext cx="45720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1520" y="1481328"/>
            <a:ext cx="347472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06240" y="1481328"/>
            <a:ext cx="109728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303520" y="1481328"/>
            <a:ext cx="694944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040" y="1545336"/>
            <a:ext cx="365760" cy="548640"/>
          </a:xfrm>
          <a:prstGeom prst="rect">
            <a:avLst/>
          </a:prstGeom>
          <a:noFill/>
        </p:spPr>
        <p:txBody>
          <a:bodyPr wrap="square">
            <a:spAutoFit/>
          </a:bodyPr>
          <a:lstStyle/>
          <a:p>
            <a:pPr algn="l"/>
            <a:r>
              <a:rPr sz="1150" b="0" i="0">
                <a:solidFill>
                  <a:srgbClr val="444444"/>
                </a:solidFill>
                <a:latin typeface="Calibri"/>
              </a:rPr>
              <a:t>R-01</a:t>
            </a:r>
          </a:p>
        </p:txBody>
      </p:sp>
      <p:sp>
        <p:nvSpPr>
          <p:cNvPr id="19" name="TextBox 18"/>
          <p:cNvSpPr txBox="1"/>
          <p:nvPr/>
        </p:nvSpPr>
        <p:spPr>
          <a:xfrm>
            <a:off x="777240" y="1545336"/>
            <a:ext cx="3383280" cy="548640"/>
          </a:xfrm>
          <a:prstGeom prst="rect">
            <a:avLst/>
          </a:prstGeom>
          <a:noFill/>
        </p:spPr>
        <p:txBody>
          <a:bodyPr wrap="square">
            <a:spAutoFit/>
          </a:bodyPr>
          <a:lstStyle/>
          <a:p>
            <a:pPr algn="l"/>
            <a:r>
              <a:rPr sz="1150" b="0" i="0">
                <a:solidFill>
                  <a:srgbClr val="444444"/>
                </a:solidFill>
                <a:latin typeface="Calibri"/>
              </a:rPr>
              <a:t>External payroll API failures (SAP/ADP/Workday)</a:t>
            </a:r>
          </a:p>
        </p:txBody>
      </p:sp>
      <p:sp>
        <p:nvSpPr>
          <p:cNvPr id="20" name="TextBox 19"/>
          <p:cNvSpPr txBox="1"/>
          <p:nvPr/>
        </p:nvSpPr>
        <p:spPr>
          <a:xfrm>
            <a:off x="4251960" y="1545336"/>
            <a:ext cx="1005840" cy="548640"/>
          </a:xfrm>
          <a:prstGeom prst="rect">
            <a:avLst/>
          </a:prstGeom>
          <a:noFill/>
        </p:spPr>
        <p:txBody>
          <a:bodyPr wrap="square">
            <a:spAutoFit/>
          </a:bodyPr>
          <a:lstStyle/>
          <a:p>
            <a:pPr algn="l"/>
            <a:r>
              <a:rPr sz="1150" b="0" i="0">
                <a:solidFill>
                  <a:srgbClr val="444444"/>
                </a:solidFill>
                <a:latin typeface="Calibri"/>
              </a:rPr>
              <a:t>High</a:t>
            </a:r>
          </a:p>
        </p:txBody>
      </p:sp>
      <p:sp>
        <p:nvSpPr>
          <p:cNvPr id="21" name="TextBox 20"/>
          <p:cNvSpPr txBox="1"/>
          <p:nvPr/>
        </p:nvSpPr>
        <p:spPr>
          <a:xfrm>
            <a:off x="5349240" y="1545336"/>
            <a:ext cx="6858000" cy="548640"/>
          </a:xfrm>
          <a:prstGeom prst="rect">
            <a:avLst/>
          </a:prstGeom>
          <a:noFill/>
        </p:spPr>
        <p:txBody>
          <a:bodyPr wrap="square">
            <a:spAutoFit/>
          </a:bodyPr>
          <a:lstStyle/>
          <a:p>
            <a:pPr algn="l"/>
            <a:r>
              <a:rPr sz="1150" b="0" i="0">
                <a:solidFill>
                  <a:srgbClr val="444444"/>
                </a:solidFill>
                <a:latin typeface="Calibri"/>
              </a:rPr>
              <a:t>Polly retry 3× + circuit breaker + Dead Letter Queue + WireMock mock adapter in dev/UAT</a:t>
            </a:r>
          </a:p>
        </p:txBody>
      </p:sp>
      <p:sp>
        <p:nvSpPr>
          <p:cNvPr id="22" name="TextBox 21"/>
          <p:cNvSpPr txBox="1"/>
          <p:nvPr/>
        </p:nvSpPr>
        <p:spPr>
          <a:xfrm>
            <a:off x="320040" y="2212848"/>
            <a:ext cx="365760" cy="548640"/>
          </a:xfrm>
          <a:prstGeom prst="rect">
            <a:avLst/>
          </a:prstGeom>
          <a:noFill/>
        </p:spPr>
        <p:txBody>
          <a:bodyPr wrap="square">
            <a:spAutoFit/>
          </a:bodyPr>
          <a:lstStyle/>
          <a:p>
            <a:pPr algn="l"/>
            <a:r>
              <a:rPr sz="1150" b="0" i="0">
                <a:solidFill>
                  <a:srgbClr val="444444"/>
                </a:solidFill>
                <a:latin typeface="Calibri"/>
              </a:rPr>
              <a:t>R-02</a:t>
            </a:r>
          </a:p>
        </p:txBody>
      </p:sp>
      <p:sp>
        <p:nvSpPr>
          <p:cNvPr id="23" name="TextBox 22"/>
          <p:cNvSpPr txBox="1"/>
          <p:nvPr/>
        </p:nvSpPr>
        <p:spPr>
          <a:xfrm>
            <a:off x="777240" y="2212848"/>
            <a:ext cx="3383280" cy="548640"/>
          </a:xfrm>
          <a:prstGeom prst="rect">
            <a:avLst/>
          </a:prstGeom>
          <a:noFill/>
        </p:spPr>
        <p:txBody>
          <a:bodyPr wrap="square">
            <a:spAutoFit/>
          </a:bodyPr>
          <a:lstStyle/>
          <a:p>
            <a:pPr algn="l"/>
            <a:r>
              <a:rPr sz="1150" b="0" i="0">
                <a:solidFill>
                  <a:srgbClr val="444444"/>
                </a:solidFill>
                <a:latin typeface="Calibri"/>
              </a:rPr>
              <a:t>OCR accuracy on blurry / low-DPI receipt images</a:t>
            </a:r>
          </a:p>
        </p:txBody>
      </p:sp>
      <p:sp>
        <p:nvSpPr>
          <p:cNvPr id="24" name="TextBox 23"/>
          <p:cNvSpPr txBox="1"/>
          <p:nvPr/>
        </p:nvSpPr>
        <p:spPr>
          <a:xfrm>
            <a:off x="4251960" y="2212848"/>
            <a:ext cx="1005840" cy="548640"/>
          </a:xfrm>
          <a:prstGeom prst="rect">
            <a:avLst/>
          </a:prstGeom>
          <a:noFill/>
        </p:spPr>
        <p:txBody>
          <a:bodyPr wrap="square">
            <a:spAutoFit/>
          </a:bodyPr>
          <a:lstStyle/>
          <a:p>
            <a:pPr algn="l"/>
            <a:r>
              <a:rPr sz="1150" b="0" i="0">
                <a:solidFill>
                  <a:srgbClr val="444444"/>
                </a:solidFill>
                <a:latin typeface="Calibri"/>
              </a:rPr>
              <a:t>High</a:t>
            </a:r>
          </a:p>
        </p:txBody>
      </p:sp>
      <p:sp>
        <p:nvSpPr>
          <p:cNvPr id="25" name="TextBox 24"/>
          <p:cNvSpPr txBox="1"/>
          <p:nvPr/>
        </p:nvSpPr>
        <p:spPr>
          <a:xfrm>
            <a:off x="5349240" y="2212848"/>
            <a:ext cx="6858000" cy="548640"/>
          </a:xfrm>
          <a:prstGeom prst="rect">
            <a:avLst/>
          </a:prstGeom>
          <a:noFill/>
        </p:spPr>
        <p:txBody>
          <a:bodyPr wrap="square">
            <a:spAutoFit/>
          </a:bodyPr>
          <a:lstStyle/>
          <a:p>
            <a:pPr algn="l"/>
            <a:r>
              <a:rPr sz="1150" b="0" i="0">
                <a:solidFill>
                  <a:srgbClr val="444444"/>
                </a:solidFill>
                <a:latin typeface="Calibri"/>
              </a:rPr>
              <a:t>Confidence threshold: &lt; 0.80 triggers re-upload prompt. Tesseract.NET fallback for handwritten receipts.</a:t>
            </a:r>
          </a:p>
        </p:txBody>
      </p:sp>
      <p:sp>
        <p:nvSpPr>
          <p:cNvPr id="26" name="Rectangle 25"/>
          <p:cNvSpPr/>
          <p:nvPr/>
        </p:nvSpPr>
        <p:spPr>
          <a:xfrm>
            <a:off x="274320" y="2816352"/>
            <a:ext cx="45720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31520" y="2816352"/>
            <a:ext cx="347472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206240" y="2816352"/>
            <a:ext cx="109728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303520" y="2816352"/>
            <a:ext cx="694944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0040" y="2880360"/>
            <a:ext cx="365760" cy="548640"/>
          </a:xfrm>
          <a:prstGeom prst="rect">
            <a:avLst/>
          </a:prstGeom>
          <a:noFill/>
        </p:spPr>
        <p:txBody>
          <a:bodyPr wrap="square">
            <a:spAutoFit/>
          </a:bodyPr>
          <a:lstStyle/>
          <a:p>
            <a:pPr algn="l"/>
            <a:r>
              <a:rPr sz="1150" b="0" i="0">
                <a:solidFill>
                  <a:srgbClr val="444444"/>
                </a:solidFill>
                <a:latin typeface="Calibri"/>
              </a:rPr>
              <a:t>R-03</a:t>
            </a:r>
          </a:p>
        </p:txBody>
      </p:sp>
      <p:sp>
        <p:nvSpPr>
          <p:cNvPr id="31" name="TextBox 30"/>
          <p:cNvSpPr txBox="1"/>
          <p:nvPr/>
        </p:nvSpPr>
        <p:spPr>
          <a:xfrm>
            <a:off x="777240" y="2880360"/>
            <a:ext cx="3383280" cy="548640"/>
          </a:xfrm>
          <a:prstGeom prst="rect">
            <a:avLst/>
          </a:prstGeom>
          <a:noFill/>
        </p:spPr>
        <p:txBody>
          <a:bodyPr wrap="square">
            <a:spAutoFit/>
          </a:bodyPr>
          <a:lstStyle/>
          <a:p>
            <a:pPr algn="l"/>
            <a:r>
              <a:rPr sz="1150" b="0" i="0">
                <a:solidFill>
                  <a:srgbClr val="444444"/>
                </a:solidFill>
                <a:latin typeface="Calibri"/>
              </a:rPr>
              <a:t>NRules performance under high concurrent CTC load</a:t>
            </a:r>
          </a:p>
        </p:txBody>
      </p:sp>
      <p:sp>
        <p:nvSpPr>
          <p:cNvPr id="32" name="TextBox 31"/>
          <p:cNvSpPr txBox="1"/>
          <p:nvPr/>
        </p:nvSpPr>
        <p:spPr>
          <a:xfrm>
            <a:off x="4251960" y="2880360"/>
            <a:ext cx="1005840" cy="548640"/>
          </a:xfrm>
          <a:prstGeom prst="rect">
            <a:avLst/>
          </a:prstGeom>
          <a:noFill/>
        </p:spPr>
        <p:txBody>
          <a:bodyPr wrap="square">
            <a:spAutoFit/>
          </a:bodyPr>
          <a:lstStyle/>
          <a:p>
            <a:pPr algn="l"/>
            <a:r>
              <a:rPr sz="1150" b="0" i="0">
                <a:solidFill>
                  <a:srgbClr val="444444"/>
                </a:solidFill>
                <a:latin typeface="Calibri"/>
              </a:rPr>
              <a:t>High</a:t>
            </a:r>
          </a:p>
        </p:txBody>
      </p:sp>
      <p:sp>
        <p:nvSpPr>
          <p:cNvPr id="33" name="TextBox 32"/>
          <p:cNvSpPr txBox="1"/>
          <p:nvPr/>
        </p:nvSpPr>
        <p:spPr>
          <a:xfrm>
            <a:off x="5349240" y="2880360"/>
            <a:ext cx="6858000" cy="548640"/>
          </a:xfrm>
          <a:prstGeom prst="rect">
            <a:avLst/>
          </a:prstGeom>
          <a:noFill/>
        </p:spPr>
        <p:txBody>
          <a:bodyPr wrap="square">
            <a:spAutoFit/>
          </a:bodyPr>
          <a:lstStyle/>
          <a:p>
            <a:pPr algn="l"/>
            <a:r>
              <a:rPr sz="1150" b="0" i="0">
                <a:solidFill>
                  <a:srgbClr val="444444"/>
                </a:solidFill>
                <a:latin typeface="Calibri"/>
              </a:rPr>
              <a:t>Compiled rule sessions cached in Redis (30 min TTL). Benchmarked at 500+ concurrent before go-live.</a:t>
            </a:r>
          </a:p>
        </p:txBody>
      </p:sp>
      <p:sp>
        <p:nvSpPr>
          <p:cNvPr id="34" name="TextBox 33"/>
          <p:cNvSpPr txBox="1"/>
          <p:nvPr/>
        </p:nvSpPr>
        <p:spPr>
          <a:xfrm>
            <a:off x="320040" y="3547872"/>
            <a:ext cx="365760" cy="548640"/>
          </a:xfrm>
          <a:prstGeom prst="rect">
            <a:avLst/>
          </a:prstGeom>
          <a:noFill/>
        </p:spPr>
        <p:txBody>
          <a:bodyPr wrap="square">
            <a:spAutoFit/>
          </a:bodyPr>
          <a:lstStyle/>
          <a:p>
            <a:pPr algn="l"/>
            <a:r>
              <a:rPr sz="1150" b="0" i="0">
                <a:solidFill>
                  <a:srgbClr val="444444"/>
                </a:solidFill>
                <a:latin typeface="Calibri"/>
              </a:rPr>
              <a:t>R-04</a:t>
            </a:r>
          </a:p>
        </p:txBody>
      </p:sp>
      <p:sp>
        <p:nvSpPr>
          <p:cNvPr id="35" name="TextBox 34"/>
          <p:cNvSpPr txBox="1"/>
          <p:nvPr/>
        </p:nvSpPr>
        <p:spPr>
          <a:xfrm>
            <a:off x="777240" y="3547872"/>
            <a:ext cx="3383280" cy="548640"/>
          </a:xfrm>
          <a:prstGeom prst="rect">
            <a:avLst/>
          </a:prstGeom>
          <a:noFill/>
        </p:spPr>
        <p:txBody>
          <a:bodyPr wrap="square">
            <a:spAutoFit/>
          </a:bodyPr>
          <a:lstStyle/>
          <a:p>
            <a:pPr algn="l"/>
            <a:r>
              <a:rPr sz="1150" b="0" i="0">
                <a:solidFill>
                  <a:srgbClr val="444444"/>
                </a:solidFill>
                <a:latin typeface="Calibri"/>
              </a:rPr>
              <a:t>Multi-region failover misconfiguration (split-brain)</a:t>
            </a:r>
          </a:p>
        </p:txBody>
      </p:sp>
      <p:sp>
        <p:nvSpPr>
          <p:cNvPr id="36" name="TextBox 35"/>
          <p:cNvSpPr txBox="1"/>
          <p:nvPr/>
        </p:nvSpPr>
        <p:spPr>
          <a:xfrm>
            <a:off x="4251960" y="3547872"/>
            <a:ext cx="1005840" cy="548640"/>
          </a:xfrm>
          <a:prstGeom prst="rect">
            <a:avLst/>
          </a:prstGeom>
          <a:noFill/>
        </p:spPr>
        <p:txBody>
          <a:bodyPr wrap="square">
            <a:spAutoFit/>
          </a:bodyPr>
          <a:lstStyle/>
          <a:p>
            <a:pPr algn="l"/>
            <a:r>
              <a:rPr sz="1150" b="0" i="0">
                <a:solidFill>
                  <a:srgbClr val="444444"/>
                </a:solidFill>
                <a:latin typeface="Calibri"/>
              </a:rPr>
              <a:t>High</a:t>
            </a:r>
          </a:p>
        </p:txBody>
      </p:sp>
      <p:sp>
        <p:nvSpPr>
          <p:cNvPr id="37" name="TextBox 36"/>
          <p:cNvSpPr txBox="1"/>
          <p:nvPr/>
        </p:nvSpPr>
        <p:spPr>
          <a:xfrm>
            <a:off x="5349240" y="3547872"/>
            <a:ext cx="6858000" cy="548640"/>
          </a:xfrm>
          <a:prstGeom prst="rect">
            <a:avLst/>
          </a:prstGeom>
          <a:noFill/>
        </p:spPr>
        <p:txBody>
          <a:bodyPr wrap="square">
            <a:spAutoFit/>
          </a:bodyPr>
          <a:lstStyle/>
          <a:p>
            <a:pPr algn="l"/>
            <a:r>
              <a:rPr sz="1150" b="0" i="0">
                <a:solidFill>
                  <a:srgbClr val="444444"/>
                </a:solidFill>
                <a:latin typeface="Calibri"/>
              </a:rPr>
              <a:t>Azure auto-failover groups. Quarterly DR drills with documented runbook. Chaos Engineering tests.</a:t>
            </a:r>
          </a:p>
        </p:txBody>
      </p:sp>
      <p:sp>
        <p:nvSpPr>
          <p:cNvPr id="38" name="Rectangle 37"/>
          <p:cNvSpPr/>
          <p:nvPr/>
        </p:nvSpPr>
        <p:spPr>
          <a:xfrm>
            <a:off x="274320" y="4151376"/>
            <a:ext cx="45720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31520" y="4151376"/>
            <a:ext cx="347472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206240" y="4151376"/>
            <a:ext cx="109728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303520" y="4151376"/>
            <a:ext cx="694944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0040" y="4215384"/>
            <a:ext cx="365760" cy="548640"/>
          </a:xfrm>
          <a:prstGeom prst="rect">
            <a:avLst/>
          </a:prstGeom>
          <a:noFill/>
        </p:spPr>
        <p:txBody>
          <a:bodyPr wrap="square">
            <a:spAutoFit/>
          </a:bodyPr>
          <a:lstStyle/>
          <a:p>
            <a:pPr algn="l"/>
            <a:r>
              <a:rPr sz="1150" b="0" i="0">
                <a:solidFill>
                  <a:srgbClr val="444444"/>
                </a:solidFill>
                <a:latin typeface="Calibri"/>
              </a:rPr>
              <a:t>R-05</a:t>
            </a:r>
          </a:p>
        </p:txBody>
      </p:sp>
      <p:sp>
        <p:nvSpPr>
          <p:cNvPr id="43" name="TextBox 42"/>
          <p:cNvSpPr txBox="1"/>
          <p:nvPr/>
        </p:nvSpPr>
        <p:spPr>
          <a:xfrm>
            <a:off x="777240" y="4215384"/>
            <a:ext cx="3383280" cy="548640"/>
          </a:xfrm>
          <a:prstGeom prst="rect">
            <a:avLst/>
          </a:prstGeom>
          <a:noFill/>
        </p:spPr>
        <p:txBody>
          <a:bodyPr wrap="square">
            <a:spAutoFit/>
          </a:bodyPr>
          <a:lstStyle/>
          <a:p>
            <a:pPr algn="l"/>
            <a:r>
              <a:rPr sz="1150" b="0" i="0">
                <a:solidFill>
                  <a:srgbClr val="444444"/>
                </a:solidFill>
                <a:latin typeface="Calibri"/>
              </a:rPr>
              <a:t>GDPR compliance gap in audit event stream</a:t>
            </a:r>
          </a:p>
        </p:txBody>
      </p:sp>
      <p:sp>
        <p:nvSpPr>
          <p:cNvPr id="44" name="TextBox 43"/>
          <p:cNvSpPr txBox="1"/>
          <p:nvPr/>
        </p:nvSpPr>
        <p:spPr>
          <a:xfrm>
            <a:off x="4251960" y="4215384"/>
            <a:ext cx="1005840" cy="548640"/>
          </a:xfrm>
          <a:prstGeom prst="rect">
            <a:avLst/>
          </a:prstGeom>
          <a:noFill/>
        </p:spPr>
        <p:txBody>
          <a:bodyPr wrap="square">
            <a:spAutoFit/>
          </a:bodyPr>
          <a:lstStyle/>
          <a:p>
            <a:pPr algn="l"/>
            <a:r>
              <a:rPr sz="1150" b="0" i="0">
                <a:solidFill>
                  <a:srgbClr val="444444"/>
                </a:solidFill>
                <a:latin typeface="Calibri"/>
              </a:rPr>
              <a:t>High</a:t>
            </a:r>
          </a:p>
        </p:txBody>
      </p:sp>
      <p:sp>
        <p:nvSpPr>
          <p:cNvPr id="45" name="TextBox 44"/>
          <p:cNvSpPr txBox="1"/>
          <p:nvPr/>
        </p:nvSpPr>
        <p:spPr>
          <a:xfrm>
            <a:off x="5349240" y="4215384"/>
            <a:ext cx="6858000" cy="548640"/>
          </a:xfrm>
          <a:prstGeom prst="rect">
            <a:avLst/>
          </a:prstGeom>
          <a:noFill/>
        </p:spPr>
        <p:txBody>
          <a:bodyPr wrap="square">
            <a:spAutoFit/>
          </a:bodyPr>
          <a:lstStyle/>
          <a:p>
            <a:pPr algn="l"/>
            <a:r>
              <a:rPr sz="1150" b="0" i="0">
                <a:solidFill>
                  <a:srgbClr val="444444"/>
                </a:solidFill>
                <a:latin typeface="Calibri"/>
              </a:rPr>
              <a:t>PII masked in Event Hub events (userId only). East US 2 region-pinned storage. Erasure flow tested.</a:t>
            </a:r>
          </a:p>
        </p:txBody>
      </p:sp>
      <p:sp>
        <p:nvSpPr>
          <p:cNvPr id="46" name="TextBox 45"/>
          <p:cNvSpPr txBox="1"/>
          <p:nvPr/>
        </p:nvSpPr>
        <p:spPr>
          <a:xfrm>
            <a:off x="320040" y="4882896"/>
            <a:ext cx="365760" cy="548640"/>
          </a:xfrm>
          <a:prstGeom prst="rect">
            <a:avLst/>
          </a:prstGeom>
          <a:noFill/>
        </p:spPr>
        <p:txBody>
          <a:bodyPr wrap="square">
            <a:spAutoFit/>
          </a:bodyPr>
          <a:lstStyle/>
          <a:p>
            <a:pPr algn="l"/>
            <a:r>
              <a:rPr sz="1150" b="0" i="0">
                <a:solidFill>
                  <a:srgbClr val="444444"/>
                </a:solidFill>
                <a:latin typeface="Calibri"/>
              </a:rPr>
              <a:t>R-06</a:t>
            </a:r>
          </a:p>
        </p:txBody>
      </p:sp>
      <p:sp>
        <p:nvSpPr>
          <p:cNvPr id="47" name="TextBox 46"/>
          <p:cNvSpPr txBox="1"/>
          <p:nvPr/>
        </p:nvSpPr>
        <p:spPr>
          <a:xfrm>
            <a:off x="777240" y="4882896"/>
            <a:ext cx="3383280" cy="548640"/>
          </a:xfrm>
          <a:prstGeom prst="rect">
            <a:avLst/>
          </a:prstGeom>
          <a:noFill/>
        </p:spPr>
        <p:txBody>
          <a:bodyPr wrap="square">
            <a:spAutoFit/>
          </a:bodyPr>
          <a:lstStyle/>
          <a:p>
            <a:pPr algn="l"/>
            <a:r>
              <a:rPr sz="1150" b="0" i="0">
                <a:solidFill>
                  <a:srgbClr val="444444"/>
                </a:solidFill>
                <a:latin typeface="Calibri"/>
              </a:rPr>
              <a:t>AKS operational complexity across 3 Availability Zones</a:t>
            </a:r>
          </a:p>
        </p:txBody>
      </p:sp>
      <p:sp>
        <p:nvSpPr>
          <p:cNvPr id="48" name="TextBox 47"/>
          <p:cNvSpPr txBox="1"/>
          <p:nvPr/>
        </p:nvSpPr>
        <p:spPr>
          <a:xfrm>
            <a:off x="4251960" y="4882896"/>
            <a:ext cx="1005840" cy="548640"/>
          </a:xfrm>
          <a:prstGeom prst="rect">
            <a:avLst/>
          </a:prstGeom>
          <a:noFill/>
        </p:spPr>
        <p:txBody>
          <a:bodyPr wrap="square">
            <a:spAutoFit/>
          </a:bodyPr>
          <a:lstStyle/>
          <a:p>
            <a:pPr algn="l"/>
            <a:r>
              <a:rPr sz="1150" b="0" i="0">
                <a:solidFill>
                  <a:srgbClr val="444444"/>
                </a:solidFill>
                <a:latin typeface="Calibri"/>
              </a:rPr>
              <a:t>Medium</a:t>
            </a:r>
          </a:p>
        </p:txBody>
      </p:sp>
      <p:sp>
        <p:nvSpPr>
          <p:cNvPr id="49" name="TextBox 48"/>
          <p:cNvSpPr txBox="1"/>
          <p:nvPr/>
        </p:nvSpPr>
        <p:spPr>
          <a:xfrm>
            <a:off x="5349240" y="4882896"/>
            <a:ext cx="6858000" cy="548640"/>
          </a:xfrm>
          <a:prstGeom prst="rect">
            <a:avLst/>
          </a:prstGeom>
          <a:noFill/>
        </p:spPr>
        <p:txBody>
          <a:bodyPr wrap="square">
            <a:spAutoFit/>
          </a:bodyPr>
          <a:lstStyle/>
          <a:p>
            <a:pPr algn="l"/>
            <a:r>
              <a:rPr sz="1150" b="0" i="0">
                <a:solidFill>
                  <a:srgbClr val="444444"/>
                </a:solidFill>
                <a:latin typeface="Calibri"/>
              </a:rPr>
              <a:t>Helm charts + GitOps. Azure Monitor node health alerting. All deployments declarative.</a:t>
            </a:r>
          </a:p>
        </p:txBody>
      </p:sp>
      <p:sp>
        <p:nvSpPr>
          <p:cNvPr id="50" name="Rectangle 49"/>
          <p:cNvSpPr/>
          <p:nvPr/>
        </p:nvSpPr>
        <p:spPr>
          <a:xfrm>
            <a:off x="274320" y="5486400"/>
            <a:ext cx="45720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31520" y="5486400"/>
            <a:ext cx="347472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4206240" y="5486400"/>
            <a:ext cx="109728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303520" y="5486400"/>
            <a:ext cx="6949440" cy="64922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20040" y="5550408"/>
            <a:ext cx="365760" cy="548640"/>
          </a:xfrm>
          <a:prstGeom prst="rect">
            <a:avLst/>
          </a:prstGeom>
          <a:noFill/>
        </p:spPr>
        <p:txBody>
          <a:bodyPr wrap="square">
            <a:spAutoFit/>
          </a:bodyPr>
          <a:lstStyle/>
          <a:p>
            <a:pPr algn="l"/>
            <a:r>
              <a:rPr sz="1150" b="0" i="0">
                <a:solidFill>
                  <a:srgbClr val="444444"/>
                </a:solidFill>
                <a:latin typeface="Calibri"/>
              </a:rPr>
              <a:t>R-07</a:t>
            </a:r>
          </a:p>
        </p:txBody>
      </p:sp>
      <p:sp>
        <p:nvSpPr>
          <p:cNvPr id="55" name="TextBox 54"/>
          <p:cNvSpPr txBox="1"/>
          <p:nvPr/>
        </p:nvSpPr>
        <p:spPr>
          <a:xfrm>
            <a:off x="777240" y="5550408"/>
            <a:ext cx="3383280" cy="548640"/>
          </a:xfrm>
          <a:prstGeom prst="rect">
            <a:avLst/>
          </a:prstGeom>
          <a:noFill/>
        </p:spPr>
        <p:txBody>
          <a:bodyPr wrap="square">
            <a:spAutoFit/>
          </a:bodyPr>
          <a:lstStyle/>
          <a:p>
            <a:pPr algn="l"/>
            <a:r>
              <a:rPr sz="1150" b="0" i="0">
                <a:solidFill>
                  <a:srgbClr val="444444"/>
                </a:solidFill>
                <a:latin typeface="Calibri"/>
              </a:rPr>
              <a:t>Scope creep from stakeholder additions mid-delivery</a:t>
            </a:r>
          </a:p>
        </p:txBody>
      </p:sp>
      <p:sp>
        <p:nvSpPr>
          <p:cNvPr id="56" name="TextBox 55"/>
          <p:cNvSpPr txBox="1"/>
          <p:nvPr/>
        </p:nvSpPr>
        <p:spPr>
          <a:xfrm>
            <a:off x="4251960" y="5550408"/>
            <a:ext cx="1005840" cy="548640"/>
          </a:xfrm>
          <a:prstGeom prst="rect">
            <a:avLst/>
          </a:prstGeom>
          <a:noFill/>
        </p:spPr>
        <p:txBody>
          <a:bodyPr wrap="square">
            <a:spAutoFit/>
          </a:bodyPr>
          <a:lstStyle/>
          <a:p>
            <a:pPr algn="l"/>
            <a:r>
              <a:rPr sz="1150" b="0" i="0">
                <a:solidFill>
                  <a:srgbClr val="444444"/>
                </a:solidFill>
                <a:latin typeface="Calibri"/>
              </a:rPr>
              <a:t>Medium</a:t>
            </a:r>
          </a:p>
        </p:txBody>
      </p:sp>
      <p:sp>
        <p:nvSpPr>
          <p:cNvPr id="57" name="TextBox 56"/>
          <p:cNvSpPr txBox="1"/>
          <p:nvPr/>
        </p:nvSpPr>
        <p:spPr>
          <a:xfrm>
            <a:off x="5349240" y="5550408"/>
            <a:ext cx="6858000" cy="548640"/>
          </a:xfrm>
          <a:prstGeom prst="rect">
            <a:avLst/>
          </a:prstGeom>
          <a:noFill/>
        </p:spPr>
        <p:txBody>
          <a:bodyPr wrap="square">
            <a:spAutoFit/>
          </a:bodyPr>
          <a:lstStyle/>
          <a:p>
            <a:pPr algn="l"/>
            <a:r>
              <a:rPr sz="1150" b="0" i="0">
                <a:solidFill>
                  <a:srgbClr val="444444"/>
                </a:solidFill>
                <a:latin typeface="Calibri"/>
              </a:rPr>
              <a:t>Change Control Board. Phased roadmap agreed up-front. Backlog gate reviews before each phase.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12  Link to LLD and HLD</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All documents on SharePoint  ·  Full technical specifications available for deep-dive review</a:t>
            </a:r>
          </a:p>
        </p:txBody>
      </p:sp>
      <p:sp>
        <p:nvSpPr>
          <p:cNvPr id="6" name="Rectangle 5"/>
          <p:cNvSpPr/>
          <p:nvPr/>
        </p:nvSpPr>
        <p:spPr>
          <a:xfrm>
            <a:off x="365760" y="1143000"/>
            <a:ext cx="11457432" cy="1463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a:xfrm>
            <a:off x="365760" y="1143000"/>
            <a:ext cx="164592" cy="1463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234440"/>
            <a:ext cx="5029200" cy="384048"/>
          </a:xfrm>
          <a:prstGeom prst="rect">
            <a:avLst/>
          </a:prstGeom>
          <a:noFill/>
        </p:spPr>
        <p:txBody>
          <a:bodyPr wrap="square">
            <a:spAutoFit/>
          </a:bodyPr>
          <a:lstStyle/>
          <a:p>
            <a:pPr algn="l"/>
            <a:r>
              <a:rPr sz="1600" b="1" i="0">
                <a:solidFill>
                  <a:srgbClr val="1F4E79"/>
                </a:solidFill>
                <a:latin typeface="Calibri"/>
              </a:rPr>
              <a:t>HLD — High Level Design v1.0</a:t>
            </a:r>
          </a:p>
        </p:txBody>
      </p:sp>
      <p:sp>
        <p:nvSpPr>
          <p:cNvPr id="9" name="TextBox 8"/>
          <p:cNvSpPr txBox="1"/>
          <p:nvPr/>
        </p:nvSpPr>
        <p:spPr>
          <a:xfrm>
            <a:off x="658368" y="1645920"/>
            <a:ext cx="8229600" cy="274320"/>
          </a:xfrm>
          <a:prstGeom prst="rect">
            <a:avLst/>
          </a:prstGeom>
          <a:noFill/>
        </p:spPr>
        <p:txBody>
          <a:bodyPr wrap="square">
            <a:spAutoFit/>
          </a:bodyPr>
          <a:lstStyle/>
          <a:p>
            <a:pPr algn="l"/>
            <a:r>
              <a:rPr sz="1250" b="0" i="1">
                <a:solidFill>
                  <a:srgbClr val="444444"/>
                </a:solidFill>
                <a:latin typeface="Calibri"/>
              </a:rPr>
              <a:t>Cognizant-UnifiedRewardsPlatform-HLD v1.0.docx</a:t>
            </a:r>
          </a:p>
        </p:txBody>
      </p:sp>
      <p:sp>
        <p:nvSpPr>
          <p:cNvPr id="10" name="TextBox 9"/>
          <p:cNvSpPr txBox="1"/>
          <p:nvPr/>
        </p:nvSpPr>
        <p:spPr>
          <a:xfrm>
            <a:off x="658368" y="1947672"/>
            <a:ext cx="8229600" cy="502920"/>
          </a:xfrm>
          <a:prstGeom prst="rect">
            <a:avLst/>
          </a:prstGeom>
          <a:noFill/>
        </p:spPr>
        <p:txBody>
          <a:bodyPr wrap="square">
            <a:spAutoFit/>
          </a:bodyPr>
          <a:lstStyle/>
          <a:p>
            <a:pPr algn="l"/>
            <a:r>
              <a:rPr sz="1250" b="0" i="0" dirty="0">
                <a:solidFill>
                  <a:srgbClr val="444444"/>
                </a:solidFill>
                <a:latin typeface="Calibri"/>
              </a:rPr>
              <a:t>60+ pages  ·  11 architectural views  ·  Functional, Logical, Security, Deployment, Integration views</a:t>
            </a:r>
          </a:p>
        </p:txBody>
      </p:sp>
      <p:sp>
        <p:nvSpPr>
          <p:cNvPr id="11" name="TextBox 10"/>
          <p:cNvSpPr txBox="1"/>
          <p:nvPr/>
        </p:nvSpPr>
        <p:spPr>
          <a:xfrm>
            <a:off x="5549765" y="1430476"/>
            <a:ext cx="6071616" cy="261610"/>
          </a:xfrm>
          <a:prstGeom prst="rect">
            <a:avLst/>
          </a:prstGeom>
          <a:noFill/>
        </p:spPr>
        <p:txBody>
          <a:bodyPr wrap="square">
            <a:spAutoFit/>
          </a:bodyPr>
          <a:lstStyle/>
          <a:p>
            <a:pPr algn="r"/>
            <a:r>
              <a:rPr sz="1100" b="0" i="1" dirty="0">
                <a:solidFill>
                  <a:srgbClr val="1F4E79"/>
                </a:solidFill>
                <a:latin typeface="Calibri"/>
              </a:rPr>
              <a:t>Path: </a:t>
            </a:r>
            <a:r>
              <a:rPr lang="en-US" altLang="en-US" sz="1100" dirty="0">
                <a:latin typeface="Arial" panose="020B0604020202020204" pitchFamily="34" charset="0"/>
                <a:hlinkClick r:id="rId3"/>
              </a:rPr>
              <a:t>Cognizant-</a:t>
            </a:r>
            <a:r>
              <a:rPr lang="en-US" altLang="en-US" sz="1100" dirty="0" err="1">
                <a:latin typeface="Arial" panose="020B0604020202020204" pitchFamily="34" charset="0"/>
                <a:hlinkClick r:id="rId3"/>
              </a:rPr>
              <a:t>UnifiedRewardsPlatform</a:t>
            </a:r>
            <a:r>
              <a:rPr lang="en-US" altLang="en-US" sz="1100" dirty="0">
                <a:latin typeface="Arial" panose="020B0604020202020204" pitchFamily="34" charset="0"/>
                <a:hlinkClick r:id="rId3"/>
              </a:rPr>
              <a:t>-HLD v1.0.docx</a:t>
            </a:r>
            <a:endParaRPr sz="1100" b="0" i="1" dirty="0">
              <a:solidFill>
                <a:srgbClr val="1F4E79"/>
              </a:solidFill>
              <a:latin typeface="Calibri"/>
            </a:endParaRPr>
          </a:p>
        </p:txBody>
      </p:sp>
      <p:sp>
        <p:nvSpPr>
          <p:cNvPr id="12" name="Rectangle 11"/>
          <p:cNvSpPr/>
          <p:nvPr/>
        </p:nvSpPr>
        <p:spPr>
          <a:xfrm>
            <a:off x="365760" y="2715768"/>
            <a:ext cx="11457432" cy="1463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2715768"/>
            <a:ext cx="164592" cy="14630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 y="2807208"/>
            <a:ext cx="5029200" cy="384048"/>
          </a:xfrm>
          <a:prstGeom prst="rect">
            <a:avLst/>
          </a:prstGeom>
          <a:noFill/>
        </p:spPr>
        <p:txBody>
          <a:bodyPr wrap="square">
            <a:spAutoFit/>
          </a:bodyPr>
          <a:lstStyle/>
          <a:p>
            <a:pPr algn="l"/>
            <a:r>
              <a:rPr sz="1600" b="1" i="0">
                <a:solidFill>
                  <a:srgbClr val="2E75B6"/>
                </a:solidFill>
                <a:latin typeface="Calibri"/>
              </a:rPr>
              <a:t>LLD — Low Level Design v1.0</a:t>
            </a:r>
          </a:p>
        </p:txBody>
      </p:sp>
      <p:sp>
        <p:nvSpPr>
          <p:cNvPr id="15" name="TextBox 14"/>
          <p:cNvSpPr txBox="1"/>
          <p:nvPr/>
        </p:nvSpPr>
        <p:spPr>
          <a:xfrm>
            <a:off x="658368" y="3218688"/>
            <a:ext cx="8229600" cy="274320"/>
          </a:xfrm>
          <a:prstGeom prst="rect">
            <a:avLst/>
          </a:prstGeom>
          <a:noFill/>
        </p:spPr>
        <p:txBody>
          <a:bodyPr wrap="square">
            <a:spAutoFit/>
          </a:bodyPr>
          <a:lstStyle/>
          <a:p>
            <a:pPr algn="l"/>
            <a:r>
              <a:rPr sz="1250" b="0" i="1">
                <a:solidFill>
                  <a:srgbClr val="444444"/>
                </a:solidFill>
                <a:latin typeface="Calibri"/>
              </a:rPr>
              <a:t>Cognizant-UnifiedRewardsPlatform-LLD v1.0.docx</a:t>
            </a:r>
          </a:p>
        </p:txBody>
      </p:sp>
      <p:sp>
        <p:nvSpPr>
          <p:cNvPr id="16" name="TextBox 15"/>
          <p:cNvSpPr txBox="1"/>
          <p:nvPr/>
        </p:nvSpPr>
        <p:spPr>
          <a:xfrm>
            <a:off x="658368" y="3520440"/>
            <a:ext cx="8229600" cy="502920"/>
          </a:xfrm>
          <a:prstGeom prst="rect">
            <a:avLst/>
          </a:prstGeom>
          <a:noFill/>
        </p:spPr>
        <p:txBody>
          <a:bodyPr wrap="square">
            <a:spAutoFit/>
          </a:bodyPr>
          <a:lstStyle/>
          <a:p>
            <a:pPr algn="l"/>
            <a:r>
              <a:rPr sz="1250" b="0" i="0">
                <a:solidFill>
                  <a:srgbClr val="444444"/>
                </a:solidFill>
                <a:latin typeface="Calibri"/>
              </a:rPr>
              <a:t>Exact configurations, IP addresses, DB schemas, port matrices, service accounts, HA/DR strategy, capacity planning</a:t>
            </a:r>
          </a:p>
        </p:txBody>
      </p:sp>
      <p:sp>
        <p:nvSpPr>
          <p:cNvPr id="18" name="Rectangle 17"/>
          <p:cNvSpPr/>
          <p:nvPr/>
        </p:nvSpPr>
        <p:spPr>
          <a:xfrm>
            <a:off x="365760" y="4288536"/>
            <a:ext cx="11457432" cy="1463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4288536"/>
            <a:ext cx="164592" cy="146304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4379976"/>
            <a:ext cx="5029200" cy="384048"/>
          </a:xfrm>
          <a:prstGeom prst="rect">
            <a:avLst/>
          </a:prstGeom>
          <a:noFill/>
        </p:spPr>
        <p:txBody>
          <a:bodyPr wrap="square">
            <a:spAutoFit/>
          </a:bodyPr>
          <a:lstStyle/>
          <a:p>
            <a:pPr algn="l"/>
            <a:r>
              <a:rPr sz="1600" b="1" i="0">
                <a:solidFill>
                  <a:srgbClr val="7030A0"/>
                </a:solidFill>
                <a:latin typeface="Calibri"/>
              </a:rPr>
              <a:t>API Specification v1.0</a:t>
            </a:r>
          </a:p>
        </p:txBody>
      </p:sp>
      <p:sp>
        <p:nvSpPr>
          <p:cNvPr id="21" name="TextBox 20"/>
          <p:cNvSpPr txBox="1"/>
          <p:nvPr/>
        </p:nvSpPr>
        <p:spPr>
          <a:xfrm>
            <a:off x="658368" y="4791456"/>
            <a:ext cx="8229600" cy="274320"/>
          </a:xfrm>
          <a:prstGeom prst="rect">
            <a:avLst/>
          </a:prstGeom>
          <a:noFill/>
        </p:spPr>
        <p:txBody>
          <a:bodyPr wrap="square">
            <a:spAutoFit/>
          </a:bodyPr>
          <a:lstStyle/>
          <a:p>
            <a:pPr algn="l"/>
            <a:r>
              <a:rPr sz="1250" b="0" i="1">
                <a:solidFill>
                  <a:srgbClr val="444444"/>
                </a:solidFill>
                <a:latin typeface="Calibri"/>
              </a:rPr>
              <a:t>Cognizant-UnifiedRewardsPlatform-API Specification v1.0.docx</a:t>
            </a:r>
          </a:p>
        </p:txBody>
      </p:sp>
      <p:sp>
        <p:nvSpPr>
          <p:cNvPr id="22" name="TextBox 21"/>
          <p:cNvSpPr txBox="1"/>
          <p:nvPr/>
        </p:nvSpPr>
        <p:spPr>
          <a:xfrm>
            <a:off x="658368" y="5093208"/>
            <a:ext cx="8229600" cy="502920"/>
          </a:xfrm>
          <a:prstGeom prst="rect">
            <a:avLst/>
          </a:prstGeom>
          <a:noFill/>
        </p:spPr>
        <p:txBody>
          <a:bodyPr wrap="square">
            <a:spAutoFit/>
          </a:bodyPr>
          <a:lstStyle/>
          <a:p>
            <a:pPr algn="l"/>
            <a:r>
              <a:rPr sz="1250" b="0" i="0">
                <a:solidFill>
                  <a:srgbClr val="444444"/>
                </a:solidFill>
                <a:latin typeface="Calibri"/>
              </a:rPr>
              <a:t>9 REST API endpoints  ·  OpenAPI 3.0  ·  Request/response schemas  ·  Security framework  ·  Postman collection</a:t>
            </a:r>
          </a:p>
        </p:txBody>
      </p:sp>
      <p:sp>
        <p:nvSpPr>
          <p:cNvPr id="23" name="TextBox 22"/>
          <p:cNvSpPr txBox="1"/>
          <p:nvPr/>
        </p:nvSpPr>
        <p:spPr>
          <a:xfrm>
            <a:off x="7017482" y="4562856"/>
            <a:ext cx="4710223" cy="261610"/>
          </a:xfrm>
          <a:prstGeom prst="rect">
            <a:avLst/>
          </a:prstGeom>
          <a:noFill/>
        </p:spPr>
        <p:txBody>
          <a:bodyPr wrap="square">
            <a:spAutoFit/>
          </a:bodyPr>
          <a:lstStyle/>
          <a:p>
            <a:pPr algn="r"/>
            <a:r>
              <a:rPr sz="1100" b="0" i="1" dirty="0">
                <a:solidFill>
                  <a:srgbClr val="7030A0"/>
                </a:solidFill>
                <a:latin typeface="Calibri"/>
              </a:rPr>
              <a:t>Path: </a:t>
            </a:r>
            <a:r>
              <a:rPr lang="en-US" altLang="en-US" sz="1100" dirty="0">
                <a:latin typeface="Arial" panose="020B0604020202020204" pitchFamily="34" charset="0"/>
                <a:hlinkClick r:id="rId4"/>
              </a:rPr>
              <a:t>Cognizant-</a:t>
            </a:r>
            <a:r>
              <a:rPr lang="en-US" altLang="en-US" sz="1100" dirty="0" err="1">
                <a:latin typeface="Arial" panose="020B0604020202020204" pitchFamily="34" charset="0"/>
                <a:hlinkClick r:id="rId4"/>
              </a:rPr>
              <a:t>UnifiedRewardsPlatform</a:t>
            </a:r>
            <a:r>
              <a:rPr lang="en-US" altLang="en-US" sz="1100" dirty="0">
                <a:latin typeface="Arial" panose="020B0604020202020204" pitchFamily="34" charset="0"/>
                <a:hlinkClick r:id="rId4"/>
              </a:rPr>
              <a:t>-API Specification v1.0.docx</a:t>
            </a:r>
            <a:endParaRPr sz="1100" b="0" i="1" dirty="0">
              <a:solidFill>
                <a:srgbClr val="7030A0"/>
              </a:solidFill>
              <a:latin typeface="Calibri"/>
            </a:endParaRPr>
          </a:p>
        </p:txBody>
      </p:sp>
      <p:sp>
        <p:nvSpPr>
          <p:cNvPr id="24" name="Rectangle 23"/>
          <p:cNvSpPr/>
          <p:nvPr/>
        </p:nvSpPr>
        <p:spPr>
          <a:xfrm>
            <a:off x="365760" y="5989320"/>
            <a:ext cx="11457432" cy="530352"/>
          </a:xfrm>
          <a:prstGeom prst="rect">
            <a:avLst/>
          </a:prstGeom>
          <a:solidFill>
            <a:srgbClr val="F2F2F2"/>
          </a:solidFill>
          <a:ln>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2E75B6"/>
                </a:solidFill>
                <a:latin typeface="Calibri"/>
              </a:rPr>
              <a:t>Diagram Repository:  </a:t>
            </a:r>
            <a:r>
              <a:rPr sz="1300">
                <a:solidFill>
                  <a:srgbClr val="444444"/>
                </a:solidFill>
                <a:latin typeface="Calibri"/>
              </a:rPr>
              <a:t>Supporting Diagrams on SharePoint:  6 Component Diagrams  ·  8 ER Diagrams  ·  6 Sequence Diagrams  ·  8 Class Diagrams  ·  Architecture PDFs  ·  Deployment Architecture PDF</a:t>
            </a:r>
          </a:p>
        </p:txBody>
      </p:sp>
      <p:sp>
        <p:nvSpPr>
          <p:cNvPr id="28" name="TextBox 27">
            <a:extLst>
              <a:ext uri="{FF2B5EF4-FFF2-40B4-BE49-F238E27FC236}">
                <a16:creationId xmlns:a16="http://schemas.microsoft.com/office/drawing/2014/main" id="{F88F2947-3E63-01F7-990E-34ABA05C4129}"/>
              </a:ext>
            </a:extLst>
          </p:cNvPr>
          <p:cNvSpPr txBox="1"/>
          <p:nvPr/>
        </p:nvSpPr>
        <p:spPr>
          <a:xfrm>
            <a:off x="5581451" y="2897642"/>
            <a:ext cx="6071616" cy="261610"/>
          </a:xfrm>
          <a:prstGeom prst="rect">
            <a:avLst/>
          </a:prstGeom>
          <a:noFill/>
        </p:spPr>
        <p:txBody>
          <a:bodyPr wrap="square">
            <a:spAutoFit/>
          </a:bodyPr>
          <a:lstStyle/>
          <a:p>
            <a:pPr algn="r"/>
            <a:r>
              <a:rPr sz="1100" b="0" i="1" dirty="0">
                <a:solidFill>
                  <a:srgbClr val="1F4E79"/>
                </a:solidFill>
                <a:latin typeface="Calibri"/>
              </a:rPr>
              <a:t>Path:</a:t>
            </a:r>
            <a:r>
              <a:rPr lang="en-IN" sz="1100" b="0" i="1" dirty="0">
                <a:solidFill>
                  <a:srgbClr val="1F4E79"/>
                </a:solidFill>
                <a:latin typeface="Calibri"/>
              </a:rPr>
              <a:t> </a:t>
            </a:r>
            <a:r>
              <a:rPr lang="en-US" altLang="en-US" sz="1100" dirty="0">
                <a:latin typeface="Arial" panose="020B0604020202020204" pitchFamily="34" charset="0"/>
                <a:hlinkClick r:id="rId5"/>
              </a:rPr>
              <a:t>Cognizant-</a:t>
            </a:r>
            <a:r>
              <a:rPr lang="en-US" altLang="en-US" sz="1100" dirty="0" err="1">
                <a:latin typeface="Arial" panose="020B0604020202020204" pitchFamily="34" charset="0"/>
                <a:hlinkClick r:id="rId5"/>
              </a:rPr>
              <a:t>UnifiedRewardsPlatform</a:t>
            </a:r>
            <a:r>
              <a:rPr lang="en-US" altLang="en-US" sz="1100" dirty="0">
                <a:latin typeface="Arial" panose="020B0604020202020204" pitchFamily="34" charset="0"/>
                <a:hlinkClick r:id="rId5"/>
              </a:rPr>
              <a:t>-LLD v1.0.docx</a:t>
            </a:r>
            <a:endParaRPr sz="1100" b="0" i="1" dirty="0">
              <a:solidFill>
                <a:srgbClr val="1F4E79"/>
              </a:solidFill>
              <a:latin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4552" cy="640080"/>
          </a:xfrm>
          <a:prstGeom prst="rect">
            <a:avLst/>
          </a:prstGeom>
          <a:noFill/>
        </p:spPr>
        <p:txBody>
          <a:bodyPr wrap="square">
            <a:spAutoFit/>
          </a:bodyPr>
          <a:lstStyle/>
          <a:p>
            <a:pPr algn="l"/>
            <a:r>
              <a:rPr sz="2600" b="1" i="0">
                <a:solidFill>
                  <a:srgbClr val="FFFFFF"/>
                </a:solidFill>
                <a:latin typeface="Calibri"/>
              </a:rPr>
              <a:t>13  Case Studies — Validated Patterns &amp; Reference Architectures</a:t>
            </a:r>
          </a:p>
        </p:txBody>
      </p:sp>
      <p:sp>
        <p:nvSpPr>
          <p:cNvPr id="5" name="TextBox 4"/>
          <p:cNvSpPr txBox="1"/>
          <p:nvPr/>
        </p:nvSpPr>
        <p:spPr>
          <a:xfrm>
            <a:off x="457200" y="658368"/>
            <a:ext cx="11274552" cy="329184"/>
          </a:xfrm>
          <a:prstGeom prst="rect">
            <a:avLst/>
          </a:prstGeom>
          <a:noFill/>
        </p:spPr>
        <p:txBody>
          <a:bodyPr wrap="square">
            <a:spAutoFit/>
          </a:bodyPr>
          <a:lstStyle/>
          <a:p>
            <a:pPr algn="l"/>
            <a:r>
              <a:rPr sz="1200" b="0" i="1">
                <a:solidFill>
                  <a:srgbClr val="AECEE8"/>
                </a:solidFill>
                <a:latin typeface="Calibri"/>
              </a:rPr>
              <a:t>Every major architectural decision is validated by real-world Cognizant client deployments</a:t>
            </a:r>
          </a:p>
        </p:txBody>
      </p:sp>
      <p:sp>
        <p:nvSpPr>
          <p:cNvPr id="6" name="Rectangle 5"/>
          <p:cNvSpPr/>
          <p:nvPr/>
        </p:nvSpPr>
        <p:spPr>
          <a:xfrm>
            <a:off x="365760" y="1115568"/>
            <a:ext cx="3749039" cy="2423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115568"/>
            <a:ext cx="3749039" cy="38404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8912" y="1179576"/>
            <a:ext cx="3602736" cy="292608"/>
          </a:xfrm>
          <a:prstGeom prst="rect">
            <a:avLst/>
          </a:prstGeom>
          <a:noFill/>
        </p:spPr>
        <p:txBody>
          <a:bodyPr wrap="square">
            <a:spAutoFit/>
          </a:bodyPr>
          <a:lstStyle/>
          <a:p>
            <a:pPr algn="l"/>
            <a:r>
              <a:rPr sz="1250" b="1" i="0">
                <a:solidFill>
                  <a:srgbClr val="FFFFFF"/>
                </a:solidFill>
                <a:latin typeface="Calibri"/>
              </a:rPr>
              <a:t>Microservices HR — BFSI Client (50K+ employees)</a:t>
            </a:r>
          </a:p>
        </p:txBody>
      </p:sp>
      <p:sp>
        <p:nvSpPr>
          <p:cNvPr id="9" name="TextBox 8"/>
          <p:cNvSpPr txBox="1"/>
          <p:nvPr/>
        </p:nvSpPr>
        <p:spPr>
          <a:xfrm>
            <a:off x="438912" y="1591056"/>
            <a:ext cx="3602736" cy="502920"/>
          </a:xfrm>
          <a:prstGeom prst="rect">
            <a:avLst/>
          </a:prstGeom>
          <a:noFill/>
        </p:spPr>
        <p:txBody>
          <a:bodyPr wrap="square">
            <a:spAutoFit/>
          </a:bodyPr>
          <a:lstStyle/>
          <a:p>
            <a:pPr algn="l"/>
            <a:r>
              <a:rPr sz="1200" b="1" i="0">
                <a:solidFill>
                  <a:srgbClr val="1F4E79"/>
                </a:solidFill>
                <a:latin typeface="Calibri"/>
              </a:rPr>
              <a:t>Same stack: 7-service AKS + React 18 Module Federation</a:t>
            </a:r>
          </a:p>
        </p:txBody>
      </p:sp>
      <p:sp>
        <p:nvSpPr>
          <p:cNvPr id="10" name="TextBox 9"/>
          <p:cNvSpPr txBox="1"/>
          <p:nvPr/>
        </p:nvSpPr>
        <p:spPr>
          <a:xfrm>
            <a:off x="438912" y="2139696"/>
            <a:ext cx="3602736" cy="1234440"/>
          </a:xfrm>
          <a:prstGeom prst="rect">
            <a:avLst/>
          </a:prstGeom>
          <a:noFill/>
        </p:spPr>
        <p:txBody>
          <a:bodyPr wrap="square">
            <a:spAutoFit/>
          </a:bodyPr>
          <a:lstStyle/>
          <a:p>
            <a:pPr algn="l"/>
            <a:r>
              <a:rPr sz="1250" b="0" i="0">
                <a:solidFill>
                  <a:srgbClr val="444444"/>
                </a:solidFill>
                <a:latin typeface="Calibri"/>
              </a:rPr>
              <a:t>Outcome: 60% deploy-risk reduction  ·  12K concurrent users  ·  Per-domain team ownership</a:t>
            </a:r>
          </a:p>
        </p:txBody>
      </p:sp>
      <p:sp>
        <p:nvSpPr>
          <p:cNvPr id="11" name="Rectangle 10"/>
          <p:cNvSpPr/>
          <p:nvPr/>
        </p:nvSpPr>
        <p:spPr>
          <a:xfrm>
            <a:off x="4297680" y="1115568"/>
            <a:ext cx="3749039" cy="2423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1115568"/>
            <a:ext cx="3749039" cy="384048"/>
          </a:xfrm>
          <a:prstGeom prst="rect">
            <a:avLst/>
          </a:prstGeom>
          <a:solidFill>
            <a:srgbClr val="1E7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70832" y="1179576"/>
            <a:ext cx="3602736" cy="292608"/>
          </a:xfrm>
          <a:prstGeom prst="rect">
            <a:avLst/>
          </a:prstGeom>
          <a:noFill/>
        </p:spPr>
        <p:txBody>
          <a:bodyPr wrap="square">
            <a:spAutoFit/>
          </a:bodyPr>
          <a:lstStyle/>
          <a:p>
            <a:pPr algn="l"/>
            <a:r>
              <a:rPr sz="1250" b="1" i="0">
                <a:solidFill>
                  <a:srgbClr val="FFFFFF"/>
                </a:solidFill>
                <a:latin typeface="Calibri"/>
              </a:rPr>
              <a:t>OCR Expense Management — Financial Services</a:t>
            </a:r>
          </a:p>
        </p:txBody>
      </p:sp>
      <p:sp>
        <p:nvSpPr>
          <p:cNvPr id="14" name="TextBox 13"/>
          <p:cNvSpPr txBox="1"/>
          <p:nvPr/>
        </p:nvSpPr>
        <p:spPr>
          <a:xfrm>
            <a:off x="4370832" y="1591056"/>
            <a:ext cx="3602736" cy="502920"/>
          </a:xfrm>
          <a:prstGeom prst="rect">
            <a:avLst/>
          </a:prstGeom>
          <a:noFill/>
        </p:spPr>
        <p:txBody>
          <a:bodyPr wrap="square">
            <a:spAutoFit/>
          </a:bodyPr>
          <a:lstStyle/>
          <a:p>
            <a:pPr algn="l"/>
            <a:r>
              <a:rPr sz="1200" b="1" i="0">
                <a:solidFill>
                  <a:srgbClr val="1F4E79"/>
                </a:solidFill>
                <a:latin typeface="Calibri"/>
              </a:rPr>
              <a:t>Tesseract.Net pipeline: 50,000+ receipts/month since 2024</a:t>
            </a:r>
          </a:p>
        </p:txBody>
      </p:sp>
      <p:sp>
        <p:nvSpPr>
          <p:cNvPr id="15" name="TextBox 14"/>
          <p:cNvSpPr txBox="1"/>
          <p:nvPr/>
        </p:nvSpPr>
        <p:spPr>
          <a:xfrm>
            <a:off x="4370832" y="2139696"/>
            <a:ext cx="3602736" cy="1234440"/>
          </a:xfrm>
          <a:prstGeom prst="rect">
            <a:avLst/>
          </a:prstGeom>
          <a:noFill/>
        </p:spPr>
        <p:txBody>
          <a:bodyPr wrap="square">
            <a:spAutoFit/>
          </a:bodyPr>
          <a:lstStyle/>
          <a:p>
            <a:pPr algn="l"/>
            <a:r>
              <a:rPr sz="1250" b="0" i="0">
                <a:solidFill>
                  <a:srgbClr val="444444"/>
                </a:solidFill>
                <a:latin typeface="Calibri"/>
              </a:rPr>
              <a:t>Outcome: 94%+ accuracy in production  ·  70% reduction in manual review work</a:t>
            </a:r>
          </a:p>
        </p:txBody>
      </p:sp>
      <p:sp>
        <p:nvSpPr>
          <p:cNvPr id="16" name="Rectangle 15"/>
          <p:cNvSpPr/>
          <p:nvPr/>
        </p:nvSpPr>
        <p:spPr>
          <a:xfrm>
            <a:off x="8229600" y="3675888"/>
            <a:ext cx="3749039" cy="2423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29600" y="3675888"/>
            <a:ext cx="3749039" cy="384048"/>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02752" y="3739896"/>
            <a:ext cx="3602736" cy="292608"/>
          </a:xfrm>
          <a:prstGeom prst="rect">
            <a:avLst/>
          </a:prstGeom>
          <a:noFill/>
        </p:spPr>
        <p:txBody>
          <a:bodyPr wrap="square">
            <a:spAutoFit/>
          </a:bodyPr>
          <a:lstStyle/>
          <a:p>
            <a:pPr algn="l"/>
            <a:r>
              <a:rPr sz="1250" b="1" i="0">
                <a:solidFill>
                  <a:srgbClr val="FFFFFF"/>
                </a:solidFill>
                <a:latin typeface="Calibri"/>
              </a:rPr>
              <a:t>Payroll Integration — Manufacturing</a:t>
            </a:r>
          </a:p>
        </p:txBody>
      </p:sp>
      <p:sp>
        <p:nvSpPr>
          <p:cNvPr id="19" name="TextBox 18"/>
          <p:cNvSpPr txBox="1"/>
          <p:nvPr/>
        </p:nvSpPr>
        <p:spPr>
          <a:xfrm>
            <a:off x="8302752" y="4151376"/>
            <a:ext cx="3602736" cy="502920"/>
          </a:xfrm>
          <a:prstGeom prst="rect">
            <a:avLst/>
          </a:prstGeom>
          <a:noFill/>
        </p:spPr>
        <p:txBody>
          <a:bodyPr wrap="square">
            <a:spAutoFit/>
          </a:bodyPr>
          <a:lstStyle/>
          <a:p>
            <a:pPr algn="l"/>
            <a:r>
              <a:rPr sz="1200" b="1" i="0">
                <a:solidFill>
                  <a:srgbClr val="1F4E79"/>
                </a:solidFill>
                <a:latin typeface="Calibri"/>
              </a:rPr>
              <a:t>SAP REST + Polly retry + Service Bus + Dead Letter Queue</a:t>
            </a:r>
          </a:p>
        </p:txBody>
      </p:sp>
      <p:sp>
        <p:nvSpPr>
          <p:cNvPr id="20" name="TextBox 19"/>
          <p:cNvSpPr txBox="1"/>
          <p:nvPr/>
        </p:nvSpPr>
        <p:spPr>
          <a:xfrm>
            <a:off x="8302752" y="4700016"/>
            <a:ext cx="3602736" cy="1234440"/>
          </a:xfrm>
          <a:prstGeom prst="rect">
            <a:avLst/>
          </a:prstGeom>
          <a:noFill/>
        </p:spPr>
        <p:txBody>
          <a:bodyPr wrap="square">
            <a:spAutoFit/>
          </a:bodyPr>
          <a:lstStyle/>
          <a:p>
            <a:pPr algn="l"/>
            <a:r>
              <a:rPr sz="1250" b="0" i="0">
                <a:solidFill>
                  <a:srgbClr val="444444"/>
                </a:solidFill>
                <a:latin typeface="Calibri"/>
              </a:rPr>
              <a:t>Outcome: Zero data loss over 24 months  ·  &lt; 0.1% DLQ rate</a:t>
            </a:r>
          </a:p>
        </p:txBody>
      </p:sp>
      <p:sp>
        <p:nvSpPr>
          <p:cNvPr id="21" name="Rectangle 20"/>
          <p:cNvSpPr/>
          <p:nvPr/>
        </p:nvSpPr>
        <p:spPr>
          <a:xfrm>
            <a:off x="365760" y="3675888"/>
            <a:ext cx="3749039" cy="2423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3675888"/>
            <a:ext cx="3749039" cy="38404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8912" y="3739896"/>
            <a:ext cx="3602736" cy="292608"/>
          </a:xfrm>
          <a:prstGeom prst="rect">
            <a:avLst/>
          </a:prstGeom>
          <a:noFill/>
        </p:spPr>
        <p:txBody>
          <a:bodyPr wrap="square">
            <a:spAutoFit/>
          </a:bodyPr>
          <a:lstStyle/>
          <a:p>
            <a:pPr algn="l"/>
            <a:r>
              <a:rPr sz="1250" b="1" i="0">
                <a:solidFill>
                  <a:srgbClr val="FFFFFF"/>
                </a:solidFill>
                <a:latin typeface="Calibri"/>
              </a:rPr>
              <a:t>Zero-Credential Architecture — 4 Azure Solutions</a:t>
            </a:r>
          </a:p>
        </p:txBody>
      </p:sp>
      <p:sp>
        <p:nvSpPr>
          <p:cNvPr id="24" name="TextBox 23"/>
          <p:cNvSpPr txBox="1"/>
          <p:nvPr/>
        </p:nvSpPr>
        <p:spPr>
          <a:xfrm>
            <a:off x="438912" y="4151376"/>
            <a:ext cx="3602736" cy="502920"/>
          </a:xfrm>
          <a:prstGeom prst="rect">
            <a:avLst/>
          </a:prstGeom>
          <a:noFill/>
        </p:spPr>
        <p:txBody>
          <a:bodyPr wrap="square">
            <a:spAutoFit/>
          </a:bodyPr>
          <a:lstStyle/>
          <a:p>
            <a:pPr algn="l"/>
            <a:r>
              <a:rPr sz="1200" b="1" i="0">
                <a:solidFill>
                  <a:srgbClr val="1F4E79"/>
                </a:solidFill>
                <a:latin typeface="Calibri"/>
              </a:rPr>
              <a:t>Managed Identity across all services — no stored credentials</a:t>
            </a:r>
          </a:p>
        </p:txBody>
      </p:sp>
      <p:sp>
        <p:nvSpPr>
          <p:cNvPr id="25" name="TextBox 24"/>
          <p:cNvSpPr txBox="1"/>
          <p:nvPr/>
        </p:nvSpPr>
        <p:spPr>
          <a:xfrm>
            <a:off x="438912" y="4700016"/>
            <a:ext cx="3602736" cy="1234440"/>
          </a:xfrm>
          <a:prstGeom prst="rect">
            <a:avLst/>
          </a:prstGeom>
          <a:noFill/>
        </p:spPr>
        <p:txBody>
          <a:bodyPr wrap="square">
            <a:spAutoFit/>
          </a:bodyPr>
          <a:lstStyle/>
          <a:p>
            <a:pPr algn="l"/>
            <a:r>
              <a:rPr sz="1250" b="0" i="0">
                <a:solidFill>
                  <a:srgbClr val="444444"/>
                </a:solidFill>
                <a:latin typeface="Calibri"/>
              </a:rPr>
              <a:t>Outcome: Passed penetration test with zero findings  ·  Adopted as Cognizant Azure standard 2025</a:t>
            </a:r>
          </a:p>
        </p:txBody>
      </p:sp>
      <p:sp>
        <p:nvSpPr>
          <p:cNvPr id="26" name="Rectangle 25"/>
          <p:cNvSpPr/>
          <p:nvPr/>
        </p:nvSpPr>
        <p:spPr>
          <a:xfrm>
            <a:off x="4297680" y="3713339"/>
            <a:ext cx="3749039" cy="2423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297680" y="3735371"/>
            <a:ext cx="3749039" cy="384048"/>
          </a:xfrm>
          <a:prstGeom prst="rect">
            <a:avLst/>
          </a:prstGeom>
          <a:solidFill>
            <a:srgbClr val="B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70832" y="3821412"/>
            <a:ext cx="3602736" cy="292608"/>
          </a:xfrm>
          <a:prstGeom prst="rect">
            <a:avLst/>
          </a:prstGeom>
          <a:noFill/>
        </p:spPr>
        <p:txBody>
          <a:bodyPr wrap="square">
            <a:spAutoFit/>
          </a:bodyPr>
          <a:lstStyle/>
          <a:p>
            <a:pPr algn="l"/>
            <a:r>
              <a:rPr sz="1250" b="1" i="0" dirty="0">
                <a:solidFill>
                  <a:srgbClr val="FFFFFF"/>
                </a:solidFill>
                <a:latin typeface="Calibri"/>
              </a:rPr>
              <a:t>CQRS + </a:t>
            </a:r>
            <a:r>
              <a:rPr sz="1250" b="1" i="0" dirty="0" err="1">
                <a:solidFill>
                  <a:srgbClr val="FFFFFF"/>
                </a:solidFill>
                <a:latin typeface="Calibri"/>
              </a:rPr>
              <a:t>MediatR</a:t>
            </a:r>
            <a:r>
              <a:rPr sz="1250" b="1" i="0" dirty="0">
                <a:solidFill>
                  <a:srgbClr val="FFFFFF"/>
                </a:solidFill>
                <a:latin typeface="Calibri"/>
              </a:rPr>
              <a:t> — 5+ .NET Enterprise Projects</a:t>
            </a:r>
          </a:p>
        </p:txBody>
      </p:sp>
      <p:sp>
        <p:nvSpPr>
          <p:cNvPr id="29" name="TextBox 28"/>
          <p:cNvSpPr txBox="1"/>
          <p:nvPr/>
        </p:nvSpPr>
        <p:spPr>
          <a:xfrm>
            <a:off x="4370832" y="4232892"/>
            <a:ext cx="3602736" cy="502920"/>
          </a:xfrm>
          <a:prstGeom prst="rect">
            <a:avLst/>
          </a:prstGeom>
          <a:noFill/>
        </p:spPr>
        <p:txBody>
          <a:bodyPr wrap="square">
            <a:spAutoFit/>
          </a:bodyPr>
          <a:lstStyle/>
          <a:p>
            <a:pPr algn="l"/>
            <a:r>
              <a:rPr sz="1200" b="1" i="0" dirty="0" err="1">
                <a:solidFill>
                  <a:srgbClr val="1F4E79"/>
                </a:solidFill>
                <a:latin typeface="Calibri"/>
              </a:rPr>
              <a:t>MediatR</a:t>
            </a:r>
            <a:r>
              <a:rPr sz="1200" b="1" i="0" dirty="0">
                <a:solidFill>
                  <a:srgbClr val="1F4E79"/>
                </a:solidFill>
                <a:latin typeface="Calibri"/>
              </a:rPr>
              <a:t> CQRS deployed in 5+ projects with 10,000+ users</a:t>
            </a:r>
          </a:p>
        </p:txBody>
      </p:sp>
      <p:sp>
        <p:nvSpPr>
          <p:cNvPr id="30" name="TextBox 29"/>
          <p:cNvSpPr txBox="1"/>
          <p:nvPr/>
        </p:nvSpPr>
        <p:spPr>
          <a:xfrm>
            <a:off x="4370832" y="4781532"/>
            <a:ext cx="3602736" cy="1234440"/>
          </a:xfrm>
          <a:prstGeom prst="rect">
            <a:avLst/>
          </a:prstGeom>
          <a:noFill/>
        </p:spPr>
        <p:txBody>
          <a:bodyPr wrap="square">
            <a:spAutoFit/>
          </a:bodyPr>
          <a:lstStyle/>
          <a:p>
            <a:pPr algn="l"/>
            <a:r>
              <a:rPr sz="1250" b="0" i="0" dirty="0">
                <a:solidFill>
                  <a:srgbClr val="444444"/>
                </a:solidFill>
                <a:latin typeface="Calibri"/>
              </a:rPr>
              <a:t>Outcome: 40% fewer integration defects vs traditional N-tier architecture</a:t>
            </a:r>
          </a:p>
        </p:txBody>
      </p:sp>
      <p:sp>
        <p:nvSpPr>
          <p:cNvPr id="31" name="Rectangle 30"/>
          <p:cNvSpPr/>
          <p:nvPr/>
        </p:nvSpPr>
        <p:spPr>
          <a:xfrm>
            <a:off x="8229600" y="1124368"/>
            <a:ext cx="3749039" cy="2423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229600" y="1157417"/>
            <a:ext cx="3749039" cy="384048"/>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02752" y="1166342"/>
            <a:ext cx="3602736" cy="292608"/>
          </a:xfrm>
          <a:prstGeom prst="rect">
            <a:avLst/>
          </a:prstGeom>
          <a:noFill/>
        </p:spPr>
        <p:txBody>
          <a:bodyPr wrap="square">
            <a:spAutoFit/>
          </a:bodyPr>
          <a:lstStyle/>
          <a:p>
            <a:pPr algn="l"/>
            <a:r>
              <a:rPr sz="1250" b="1" i="0" dirty="0">
                <a:solidFill>
                  <a:srgbClr val="FFFFFF"/>
                </a:solidFill>
                <a:latin typeface="Calibri"/>
              </a:rPr>
              <a:t>Multi-Region DR — 2 Financial Services Clients</a:t>
            </a:r>
          </a:p>
        </p:txBody>
      </p:sp>
      <p:sp>
        <p:nvSpPr>
          <p:cNvPr id="34" name="TextBox 33"/>
          <p:cNvSpPr txBox="1"/>
          <p:nvPr/>
        </p:nvSpPr>
        <p:spPr>
          <a:xfrm>
            <a:off x="8302752" y="1599856"/>
            <a:ext cx="3602736" cy="502920"/>
          </a:xfrm>
          <a:prstGeom prst="rect">
            <a:avLst/>
          </a:prstGeom>
          <a:noFill/>
        </p:spPr>
        <p:txBody>
          <a:bodyPr wrap="square">
            <a:spAutoFit/>
          </a:bodyPr>
          <a:lstStyle/>
          <a:p>
            <a:pPr algn="l"/>
            <a:r>
              <a:rPr sz="1200" b="1" i="0" dirty="0">
                <a:solidFill>
                  <a:srgbClr val="1F4E79"/>
                </a:solidFill>
                <a:latin typeface="Calibri"/>
              </a:rPr>
              <a:t>East/West US Azure paired regions with auto-failover groups</a:t>
            </a:r>
          </a:p>
        </p:txBody>
      </p:sp>
      <p:sp>
        <p:nvSpPr>
          <p:cNvPr id="35" name="TextBox 34"/>
          <p:cNvSpPr txBox="1"/>
          <p:nvPr/>
        </p:nvSpPr>
        <p:spPr>
          <a:xfrm>
            <a:off x="8302752" y="2148496"/>
            <a:ext cx="3602736" cy="1234440"/>
          </a:xfrm>
          <a:prstGeom prst="rect">
            <a:avLst/>
          </a:prstGeom>
          <a:noFill/>
        </p:spPr>
        <p:txBody>
          <a:bodyPr wrap="square">
            <a:spAutoFit/>
          </a:bodyPr>
          <a:lstStyle/>
          <a:p>
            <a:pPr algn="l"/>
            <a:r>
              <a:rPr sz="1250" b="0" i="0">
                <a:solidFill>
                  <a:srgbClr val="444444"/>
                </a:solidFill>
                <a:latin typeface="Calibri"/>
              </a:rPr>
              <a:t>Outcome: Validated RTO &lt; 30 min, RPO &lt; 5 min in production failover tests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88952" cy="19202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88920"/>
            <a:ext cx="10725912" cy="777240"/>
          </a:xfrm>
          <a:prstGeom prst="rect">
            <a:avLst/>
          </a:prstGeom>
          <a:noFill/>
        </p:spPr>
        <p:txBody>
          <a:bodyPr wrap="square">
            <a:spAutoFit/>
          </a:bodyPr>
          <a:lstStyle/>
          <a:p>
            <a:pPr algn="ctr"/>
            <a:r>
              <a:rPr sz="4800" b="1" i="0">
                <a:solidFill>
                  <a:srgbClr val="FFFFFF"/>
                </a:solidFill>
                <a:latin typeface="Calibri"/>
              </a:rPr>
              <a:t>Thank You</a:t>
            </a:r>
          </a:p>
        </p:txBody>
      </p:sp>
      <p:sp>
        <p:nvSpPr>
          <p:cNvPr id="4" name="TextBox 3"/>
          <p:cNvSpPr txBox="1"/>
          <p:nvPr/>
        </p:nvSpPr>
        <p:spPr>
          <a:xfrm>
            <a:off x="731520" y="3630168"/>
            <a:ext cx="10725912" cy="457200"/>
          </a:xfrm>
          <a:prstGeom prst="rect">
            <a:avLst/>
          </a:prstGeom>
          <a:noFill/>
        </p:spPr>
        <p:txBody>
          <a:bodyPr wrap="square">
            <a:spAutoFit/>
          </a:bodyPr>
          <a:lstStyle/>
          <a:p>
            <a:pPr algn="ctr"/>
            <a:r>
              <a:rPr sz="1800" b="0" i="1">
                <a:solidFill>
                  <a:srgbClr val="AECEE8"/>
                </a:solidFill>
                <a:latin typeface="Calibri"/>
              </a:rPr>
              <a:t>Unified Rewards Platform — U2A Use Case Presentation 2026</a:t>
            </a:r>
          </a:p>
        </p:txBody>
      </p:sp>
      <p:sp>
        <p:nvSpPr>
          <p:cNvPr id="5" name="TextBox 4"/>
          <p:cNvSpPr txBox="1"/>
          <p:nvPr/>
        </p:nvSpPr>
        <p:spPr>
          <a:xfrm>
            <a:off x="731520" y="5833872"/>
            <a:ext cx="10725912" cy="384048"/>
          </a:xfrm>
          <a:prstGeom prst="rect">
            <a:avLst/>
          </a:prstGeom>
          <a:noFill/>
        </p:spPr>
        <p:txBody>
          <a:bodyPr wrap="square">
            <a:spAutoFit/>
          </a:bodyPr>
          <a:lstStyle/>
          <a:p>
            <a:pPr algn="ctr"/>
            <a:r>
              <a:rPr sz="1400" b="0" i="0">
                <a:solidFill>
                  <a:srgbClr val="80B0D0"/>
                </a:solidFill>
                <a:latin typeface="Calibri"/>
              </a:rPr>
              <a:t>266319 — Sandhya S</a:t>
            </a:r>
          </a:p>
        </p:txBody>
      </p:sp>
      <p:sp>
        <p:nvSpPr>
          <p:cNvPr id="6" name="TextBox 5"/>
          <p:cNvSpPr txBox="1"/>
          <p:nvPr/>
        </p:nvSpPr>
        <p:spPr>
          <a:xfrm>
            <a:off x="731520" y="6327648"/>
            <a:ext cx="10725912" cy="320040"/>
          </a:xfrm>
          <a:prstGeom prst="rect">
            <a:avLst/>
          </a:prstGeom>
          <a:noFill/>
        </p:spPr>
        <p:txBody>
          <a:bodyPr wrap="square">
            <a:spAutoFit/>
          </a:bodyPr>
          <a:lstStyle/>
          <a:p>
            <a:pPr algn="ctr"/>
            <a:r>
              <a:rPr sz="1100" b="0" i="0">
                <a:solidFill>
                  <a:srgbClr val="70A0C0"/>
                </a:solidFill>
                <a:latin typeface="Calibri"/>
              </a:rPr>
              <a:t>© 2025–2027 Cognizant | Private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B394A5C-DB8F-4B30-9A40-D577EF7E5911}">
  <we:reference id="f5f369e5-aa35-49d7-ad7b-638152ddb008" version="1.0.0.1" store="EXCatalog" storeType="EXCatalog"/>
  <we:alternateReferences>
    <we:reference id="WA200010001" version="1.0.0.1" store="en-IN" storeType="OMEX"/>
  </we:alternateReferences>
  <we:properties>
    <we:property name="claude.fileId" value="&quot;3507ddca-862a-44f3-88da-ea1844a44ec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329</TotalTime>
  <Words>8158</Words>
  <Application>Microsoft Office PowerPoint</Application>
  <PresentationFormat>Custom</PresentationFormat>
  <Paragraphs>701</Paragraphs>
  <Slides>27</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Arial</vt:lpstr>
      <vt:lpstr>Calibri</vt:lpstr>
      <vt:lpstr>Office Theme</vt:lpstr>
      <vt:lpstr>U2A Use Case Presentation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 Sandhya (Cognizant)</cp:lastModifiedBy>
  <cp:revision>17</cp:revision>
  <dcterms:created xsi:type="dcterms:W3CDTF">2013-01-27T09:14:16Z</dcterms:created>
  <dcterms:modified xsi:type="dcterms:W3CDTF">2026-05-26T23:49:24Z</dcterms:modified>
  <cp:category/>
</cp:coreProperties>
</file>